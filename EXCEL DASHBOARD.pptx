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78" r:id="rId3"/>
    <p:sldId id="258" r:id="rId4"/>
    <p:sldId id="260" r:id="rId5"/>
    <p:sldId id="261" r:id="rId6"/>
    <p:sldId id="262" r:id="rId7"/>
    <p:sldId id="263" r:id="rId8"/>
    <p:sldId id="266" r:id="rId9"/>
    <p:sldId id="268" r:id="rId10"/>
    <p:sldId id="269" r:id="rId11"/>
    <p:sldId id="272" r:id="rId12"/>
    <p:sldId id="273" r:id="rId13"/>
    <p:sldId id="274" r:id="rId14"/>
    <p:sldId id="275" r:id="rId15"/>
    <p:sldId id="276" r:id="rId16"/>
    <p:sldId id="265" r:id="rId17"/>
    <p:sldId id="267" r:id="rId18"/>
    <p:sldId id="271" r:id="rId19"/>
  </p:sldIdLst>
  <p:sldSz cx="18288000" cy="10287000"/>
  <p:notesSz cx="6858000" cy="9144000"/>
  <p:embeddedFontLst>
    <p:embeddedFont>
      <p:font typeface="Aileron" panose="020B0604020202020204" charset="0"/>
      <p:regular r:id="rId21"/>
    </p:embeddedFont>
    <p:embeddedFont>
      <p:font typeface="Aileron Bold" panose="020B0604020202020204" charset="0"/>
      <p:regular r:id="rId22"/>
    </p:embeddedFont>
    <p:embeddedFont>
      <p:font typeface="Calibri" panose="020F0502020204030204" pitchFamily="34" charset="0"/>
      <p:regular r:id="rId23"/>
      <p:bold r:id="rId24"/>
      <p:italic r:id="rId25"/>
      <p:boldItalic r:id="rId26"/>
    </p:embeddedFont>
    <p:embeddedFont>
      <p:font typeface="Glacial Indifference" panose="020B0604020202020204" charset="0"/>
      <p:regular r:id="rId27"/>
    </p:embeddedFont>
    <p:embeddedFont>
      <p:font typeface="Glacial Indifference Bold" panose="020B0604020202020204" charset="0"/>
      <p:regular r:id="rId28"/>
    </p:embeddedFont>
    <p:embeddedFont>
      <p:font typeface="HK Grotesk" panose="020B0604020202020204" charset="0"/>
      <p:regular r:id="rId29"/>
    </p:embeddedFont>
    <p:embeddedFont>
      <p:font typeface="HK Grotesk Light"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C152E0D-83B8-4E23-8A6A-104D1F3990C3}">
          <p14:sldIdLst>
            <p14:sldId id="256"/>
            <p14:sldId id="278"/>
            <p14:sldId id="258"/>
            <p14:sldId id="260"/>
            <p14:sldId id="261"/>
            <p14:sldId id="262"/>
            <p14:sldId id="263"/>
            <p14:sldId id="266"/>
            <p14:sldId id="268"/>
            <p14:sldId id="269"/>
            <p14:sldId id="272"/>
            <p14:sldId id="273"/>
            <p14:sldId id="274"/>
            <p14:sldId id="275"/>
            <p14:sldId id="276"/>
            <p14:sldId id="265"/>
            <p14:sldId id="267"/>
            <p14:sldId id="27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ndi adi saputra" initials="yas" lastIdx="1" clrIdx="0">
    <p:extLst>
      <p:ext uri="{19B8F6BF-5375-455C-9EA6-DF929625EA0E}">
        <p15:presenceInfo xmlns:p15="http://schemas.microsoft.com/office/powerpoint/2012/main" userId="4cc0f52c50ad214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521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4" d="100"/>
          <a:sy n="44" d="100"/>
        </p:scale>
        <p:origin x="3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ableStyles" Target="tableStyles.xml"/><Relationship Id="rId8" Type="http://schemas.openxmlformats.org/officeDocument/2006/relationships/slide" Target="slides/slide7.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1-13T08:05:23.501" idx="1">
    <p:pos x="2922" y="1265"/>
    <p:text>INSERT &gt; CHART GROUPS (MAP CHART)</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43E6FC-5F58-48D6-B1D3-B5C36BB98AE8}" type="datetimeFigureOut">
              <a:rPr lang="id-ID" smtClean="0"/>
              <a:t>13/01/2025</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F0F2DE-0C5B-4321-8ACF-B1DF34EE07C1}" type="slidenum">
              <a:rPr lang="id-ID" smtClean="0"/>
              <a:t>‹#›</a:t>
            </a:fld>
            <a:endParaRPr lang="id-ID"/>
          </a:p>
        </p:txBody>
      </p:sp>
    </p:spTree>
    <p:extLst>
      <p:ext uri="{BB962C8B-B14F-4D97-AF65-F5344CB8AC3E}">
        <p14:creationId xmlns:p14="http://schemas.microsoft.com/office/powerpoint/2010/main" val="2345490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slide" Target="slide18.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hyperlink" Target="https://github.com/Yandias1/Excel-Analysis/blob/main/~%24SUPERSTORE%20SALES%20ANALYSIS.xlxs" TargetMode="Externa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hyperlink" Target="https://www.kaggle.com/datasets/rohitsahoo/sales-forecasting" TargetMode="Externa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svg"/></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sv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47.jpeg"/><Relationship Id="rId4" Type="http://schemas.openxmlformats.org/officeDocument/2006/relationships/image" Target="../media/image46.jpeg"/></Relationships>
</file>

<file path=ppt/slides/_rels/slide14.xml.rels><?xml version="1.0" encoding="UTF-8" standalone="yes"?>
<Relationships xmlns="http://schemas.openxmlformats.org/package/2006/relationships"><Relationship Id="rId8" Type="http://schemas.openxmlformats.org/officeDocument/2006/relationships/image" Target="../media/image52.jpeg"/><Relationship Id="rId3" Type="http://schemas.openxmlformats.org/officeDocument/2006/relationships/image" Target="../media/image25.svg"/><Relationship Id="rId7" Type="http://schemas.openxmlformats.org/officeDocument/2006/relationships/image" Target="../media/image51.jpe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50.jpeg"/><Relationship Id="rId5" Type="http://schemas.openxmlformats.org/officeDocument/2006/relationships/image" Target="../media/image49.jpeg"/><Relationship Id="rId4" Type="http://schemas.openxmlformats.org/officeDocument/2006/relationships/image" Target="../media/image48.jpeg"/><Relationship Id="rId9" Type="http://schemas.openxmlformats.org/officeDocument/2006/relationships/image" Target="../media/image53.jpeg"/></Relationships>
</file>

<file path=ppt/slides/_rels/slide15.xml.rels><?xml version="1.0" encoding="UTF-8" standalone="yes"?>
<Relationships xmlns="http://schemas.openxmlformats.org/package/2006/relationships"><Relationship Id="rId3" Type="http://schemas.openxmlformats.org/officeDocument/2006/relationships/image" Target="../media/image55.jpeg"/><Relationship Id="rId7" Type="http://schemas.openxmlformats.org/officeDocument/2006/relationships/comments" Target="../comments/comment1.xml"/><Relationship Id="rId2" Type="http://schemas.openxmlformats.org/officeDocument/2006/relationships/image" Target="../media/image54.jpe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56.jpeg"/></Relationships>
</file>

<file path=ppt/slides/_rels/slide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svg"/><Relationship Id="rId3" Type="http://schemas.openxmlformats.org/officeDocument/2006/relationships/image" Target="../media/image59.svg"/><Relationship Id="rId7" Type="http://schemas.openxmlformats.org/officeDocument/2006/relationships/image" Target="../media/image63.svg"/><Relationship Id="rId12" Type="http://schemas.openxmlformats.org/officeDocument/2006/relationships/image" Target="../media/image68.png"/><Relationship Id="rId2" Type="http://schemas.openxmlformats.org/officeDocument/2006/relationships/image" Target="../media/image58.png"/><Relationship Id="rId16" Type="http://schemas.openxmlformats.org/officeDocument/2006/relationships/image" Target="../media/image70.png"/><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67.svg"/><Relationship Id="rId5" Type="http://schemas.openxmlformats.org/officeDocument/2006/relationships/image" Target="../media/image61.svg"/><Relationship Id="rId15" Type="http://schemas.openxmlformats.org/officeDocument/2006/relationships/hyperlink" Target="mailto:yandiadisaputra11@gmail.com" TargetMode="External"/><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svg"/><Relationship Id="rId14" Type="http://schemas.openxmlformats.org/officeDocument/2006/relationships/hyperlink" Target="https://www.linkedin.com/in/yandi-adi-saputra-90183a27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H="1">
            <a:off x="1846222" y="3546647"/>
            <a:ext cx="0" cy="3212756"/>
          </a:xfrm>
          <a:prstGeom prst="line">
            <a:avLst/>
          </a:prstGeom>
          <a:ln w="133350" cap="flat">
            <a:solidFill>
              <a:srgbClr val="6E9277"/>
            </a:solidFill>
            <a:prstDash val="solid"/>
            <a:headEnd type="none" w="sm" len="sm"/>
            <a:tailEnd type="none" w="sm" len="sm"/>
          </a:ln>
        </p:spPr>
      </p:sp>
      <p:sp>
        <p:nvSpPr>
          <p:cNvPr id="3" name="Freeform 3"/>
          <p:cNvSpPr/>
          <p:nvPr/>
        </p:nvSpPr>
        <p:spPr>
          <a:xfrm rot="6681127" flipV="1">
            <a:off x="5640036" y="2158128"/>
            <a:ext cx="19549414" cy="11658559"/>
          </a:xfrm>
          <a:custGeom>
            <a:avLst/>
            <a:gdLst/>
            <a:ahLst/>
            <a:cxnLst/>
            <a:rect l="l" t="t" r="r" b="b"/>
            <a:pathLst>
              <a:path w="19549414" h="11658559">
                <a:moveTo>
                  <a:pt x="0" y="11658559"/>
                </a:moveTo>
                <a:lnTo>
                  <a:pt x="19549414" y="11658559"/>
                </a:lnTo>
                <a:lnTo>
                  <a:pt x="19549414" y="0"/>
                </a:lnTo>
                <a:lnTo>
                  <a:pt x="0" y="0"/>
                </a:lnTo>
                <a:lnTo>
                  <a:pt x="0" y="1165855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529812" y="1220689"/>
            <a:ext cx="655063" cy="609208"/>
          </a:xfrm>
          <a:custGeom>
            <a:avLst/>
            <a:gdLst/>
            <a:ahLst/>
            <a:cxnLst/>
            <a:rect l="l" t="t" r="r" b="b"/>
            <a:pathLst>
              <a:path w="655063" h="609208">
                <a:moveTo>
                  <a:pt x="0" y="0"/>
                </a:moveTo>
                <a:lnTo>
                  <a:pt x="655063" y="0"/>
                </a:lnTo>
                <a:lnTo>
                  <a:pt x="655063" y="609209"/>
                </a:lnTo>
                <a:lnTo>
                  <a:pt x="0" y="609209"/>
                </a:lnTo>
                <a:lnTo>
                  <a:pt x="0" y="0"/>
                </a:lnTo>
                <a:close/>
              </a:path>
            </a:pathLst>
          </a:custGeom>
          <a:blipFill>
            <a:blip r:embed="rId4"/>
            <a:stretch>
              <a:fillRect/>
            </a:stretch>
          </a:blipFill>
        </p:spPr>
      </p:sp>
      <p:sp>
        <p:nvSpPr>
          <p:cNvPr id="7" name="TextBox 7"/>
          <p:cNvSpPr txBox="1"/>
          <p:nvPr/>
        </p:nvSpPr>
        <p:spPr>
          <a:xfrm>
            <a:off x="2171257" y="3632372"/>
            <a:ext cx="8166341" cy="1302437"/>
          </a:xfrm>
          <a:prstGeom prst="rect">
            <a:avLst/>
          </a:prstGeom>
        </p:spPr>
        <p:txBody>
          <a:bodyPr lIns="0" tIns="0" rIns="0" bIns="0" rtlCol="0" anchor="t">
            <a:spAutoFit/>
          </a:bodyPr>
          <a:lstStyle/>
          <a:p>
            <a:pPr marL="0" lvl="0" indent="0" algn="just">
              <a:lnSpc>
                <a:spcPts val="10062"/>
              </a:lnSpc>
            </a:pPr>
            <a:r>
              <a:rPr lang="en-US" sz="9147">
                <a:solidFill>
                  <a:srgbClr val="253439"/>
                </a:solidFill>
                <a:latin typeface="HK Grotesk"/>
                <a:ea typeface="HK Grotesk"/>
                <a:cs typeface="HK Grotesk"/>
                <a:sym typeface="HK Grotesk"/>
              </a:rPr>
              <a:t>SUPERSTORE</a:t>
            </a:r>
          </a:p>
        </p:txBody>
      </p:sp>
      <p:sp>
        <p:nvSpPr>
          <p:cNvPr id="8" name="TextBox 8"/>
          <p:cNvSpPr txBox="1"/>
          <p:nvPr/>
        </p:nvSpPr>
        <p:spPr>
          <a:xfrm>
            <a:off x="2171257" y="5341499"/>
            <a:ext cx="11310509" cy="1446529"/>
          </a:xfrm>
          <a:prstGeom prst="rect">
            <a:avLst/>
          </a:prstGeom>
        </p:spPr>
        <p:txBody>
          <a:bodyPr lIns="0" tIns="0" rIns="0" bIns="0" rtlCol="0" anchor="t">
            <a:spAutoFit/>
          </a:bodyPr>
          <a:lstStyle/>
          <a:p>
            <a:pPr marL="0" lvl="0" indent="0" algn="just">
              <a:lnSpc>
                <a:spcPts val="11135"/>
              </a:lnSpc>
            </a:pPr>
            <a:r>
              <a:rPr lang="en-US" sz="10122" b="1">
                <a:solidFill>
                  <a:srgbClr val="253439"/>
                </a:solidFill>
                <a:latin typeface="Glacial Indifference Bold"/>
                <a:ea typeface="Glacial Indifference Bold"/>
                <a:cs typeface="Glacial Indifference Bold"/>
                <a:sym typeface="Glacial Indifference Bold"/>
              </a:rPr>
              <a:t>SALES ANALYSIS </a:t>
            </a:r>
          </a:p>
        </p:txBody>
      </p:sp>
      <p:sp>
        <p:nvSpPr>
          <p:cNvPr id="9" name="TextBox 9"/>
          <p:cNvSpPr txBox="1"/>
          <p:nvPr/>
        </p:nvSpPr>
        <p:spPr>
          <a:xfrm>
            <a:off x="2363107" y="1344738"/>
            <a:ext cx="3406676" cy="323010"/>
          </a:xfrm>
          <a:prstGeom prst="rect">
            <a:avLst/>
          </a:prstGeom>
        </p:spPr>
        <p:txBody>
          <a:bodyPr lIns="0" tIns="0" rIns="0" bIns="0" rtlCol="0" anchor="t">
            <a:spAutoFit/>
          </a:bodyPr>
          <a:lstStyle/>
          <a:p>
            <a:pPr marL="0" lvl="0" indent="0" algn="just">
              <a:lnSpc>
                <a:spcPts val="2671"/>
              </a:lnSpc>
              <a:spcBef>
                <a:spcPct val="0"/>
              </a:spcBef>
            </a:pPr>
            <a:r>
              <a:rPr lang="en-US" sz="1908">
                <a:solidFill>
                  <a:srgbClr val="253439"/>
                </a:solidFill>
                <a:latin typeface="HK Grotesk"/>
                <a:ea typeface="HK Grotesk"/>
                <a:cs typeface="HK Grotesk"/>
                <a:sym typeface="HK Grotesk"/>
              </a:rPr>
              <a:t>MICROSOFT EXCEL</a:t>
            </a:r>
          </a:p>
        </p:txBody>
      </p:sp>
      <p:grpSp>
        <p:nvGrpSpPr>
          <p:cNvPr id="11" name="Group 10">
            <a:extLst>
              <a:ext uri="{FF2B5EF4-FFF2-40B4-BE49-F238E27FC236}">
                <a16:creationId xmlns:a16="http://schemas.microsoft.com/office/drawing/2014/main" id="{49744F12-10AD-4687-8272-F814B761BE66}"/>
              </a:ext>
            </a:extLst>
          </p:cNvPr>
          <p:cNvGrpSpPr/>
          <p:nvPr/>
        </p:nvGrpSpPr>
        <p:grpSpPr>
          <a:xfrm>
            <a:off x="1529812" y="8621987"/>
            <a:ext cx="4765209" cy="464741"/>
            <a:chOff x="1529812" y="8621987"/>
            <a:chExt cx="4765209" cy="464741"/>
          </a:xfrm>
        </p:grpSpPr>
        <p:sp>
          <p:nvSpPr>
            <p:cNvPr id="4" name="AutoShape 4">
              <a:hlinkClick r:id="rId5" action="ppaction://hlinksldjump"/>
            </p:cNvPr>
            <p:cNvSpPr/>
            <p:nvPr/>
          </p:nvSpPr>
          <p:spPr>
            <a:xfrm flipV="1">
              <a:off x="1714629" y="9072441"/>
              <a:ext cx="4055161" cy="14287"/>
            </a:xfrm>
            <a:prstGeom prst="line">
              <a:avLst/>
            </a:prstGeom>
            <a:ln w="9525" cap="flat">
              <a:solidFill>
                <a:srgbClr val="253439"/>
              </a:solidFill>
              <a:prstDash val="solid"/>
              <a:headEnd type="none" w="sm" len="sm"/>
              <a:tailEnd type="none" w="sm" len="sm"/>
            </a:ln>
          </p:spPr>
        </p:sp>
        <p:sp>
          <p:nvSpPr>
            <p:cNvPr id="5" name="Freeform 5">
              <a:hlinkClick r:id="rId5" action="ppaction://hlinksldjump"/>
            </p:cNvPr>
            <p:cNvSpPr/>
            <p:nvPr/>
          </p:nvSpPr>
          <p:spPr>
            <a:xfrm>
              <a:off x="5891478" y="8621987"/>
              <a:ext cx="403543" cy="403543"/>
            </a:xfrm>
            <a:custGeom>
              <a:avLst/>
              <a:gdLst/>
              <a:ahLst/>
              <a:cxnLst/>
              <a:rect l="l" t="t" r="r" b="b"/>
              <a:pathLst>
                <a:path w="403543" h="403543">
                  <a:moveTo>
                    <a:pt x="0" y="0"/>
                  </a:moveTo>
                  <a:lnTo>
                    <a:pt x="403543" y="0"/>
                  </a:lnTo>
                  <a:lnTo>
                    <a:pt x="403543" y="403542"/>
                  </a:lnTo>
                  <a:lnTo>
                    <a:pt x="0" y="40354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TextBox 10"/>
            <p:cNvSpPr txBox="1"/>
            <p:nvPr/>
          </p:nvSpPr>
          <p:spPr>
            <a:xfrm>
              <a:off x="1529812" y="8672071"/>
              <a:ext cx="4424794" cy="312899"/>
            </a:xfrm>
            <a:prstGeom prst="rect">
              <a:avLst/>
            </a:prstGeom>
          </p:spPr>
          <p:txBody>
            <a:bodyPr lIns="0" tIns="0" rIns="0" bIns="0" rtlCol="0" anchor="t">
              <a:spAutoFit/>
            </a:bodyPr>
            <a:lstStyle/>
            <a:p>
              <a:pPr algn="ctr">
                <a:lnSpc>
                  <a:spcPts val="2351"/>
                </a:lnSpc>
              </a:pPr>
              <a:r>
                <a:rPr lang="en-US" sz="2137" spc="181" dirty="0">
                  <a:solidFill>
                    <a:srgbClr val="253439"/>
                  </a:solidFill>
                  <a:latin typeface="Aileron"/>
                  <a:ea typeface="Aileron"/>
                  <a:cs typeface="Aileron"/>
                  <a:sym typeface="Aileron"/>
                  <a:hlinkClick r:id="rId5" action="ppaction://hlinksldjump"/>
                </a:rPr>
                <a:t>By Yandi Adi Saputra</a:t>
              </a:r>
              <a:endParaRPr lang="en-US" sz="2137" spc="181" dirty="0">
                <a:solidFill>
                  <a:srgbClr val="253439"/>
                </a:solidFill>
                <a:latin typeface="Aileron"/>
                <a:ea typeface="Aileron"/>
                <a:cs typeface="Aileron"/>
                <a:sym typeface="Aileron"/>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7F20CEF1-006D-4431-B540-D2F6819A8678}"/>
              </a:ext>
            </a:extLst>
          </p:cNvPr>
          <p:cNvSpPr/>
          <p:nvPr/>
        </p:nvSpPr>
        <p:spPr>
          <a:xfrm rot="7273542">
            <a:off x="11290298" y="4944637"/>
            <a:ext cx="10337804" cy="6840496"/>
          </a:xfrm>
          <a:custGeom>
            <a:avLst/>
            <a:gdLst/>
            <a:ahLst/>
            <a:cxnLst/>
            <a:rect l="l" t="t" r="r" b="b"/>
            <a:pathLst>
              <a:path w="10337804" h="6840496">
                <a:moveTo>
                  <a:pt x="0" y="0"/>
                </a:moveTo>
                <a:lnTo>
                  <a:pt x="10337804" y="0"/>
                </a:lnTo>
                <a:lnTo>
                  <a:pt x="10337804" y="6840496"/>
                </a:lnTo>
                <a:lnTo>
                  <a:pt x="0" y="68404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7273542">
            <a:off x="-2536325" y="-1684763"/>
            <a:ext cx="10337804" cy="6840496"/>
          </a:xfrm>
          <a:custGeom>
            <a:avLst/>
            <a:gdLst/>
            <a:ahLst/>
            <a:cxnLst/>
            <a:rect l="l" t="t" r="r" b="b"/>
            <a:pathLst>
              <a:path w="10337804" h="6840496">
                <a:moveTo>
                  <a:pt x="0" y="0"/>
                </a:moveTo>
                <a:lnTo>
                  <a:pt x="10337804" y="0"/>
                </a:lnTo>
                <a:lnTo>
                  <a:pt x="10337804" y="6840496"/>
                </a:lnTo>
                <a:lnTo>
                  <a:pt x="0" y="68404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22" name="Picture 21">
            <a:extLst>
              <a:ext uri="{FF2B5EF4-FFF2-40B4-BE49-F238E27FC236}">
                <a16:creationId xmlns:a16="http://schemas.microsoft.com/office/drawing/2014/main" id="{7B80B718-AEB2-4BCF-8575-DF08EDAAF3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6400" y="495300"/>
            <a:ext cx="14935200" cy="8716472"/>
          </a:xfrm>
          <a:prstGeom prst="rect">
            <a:avLst/>
          </a:prstGeom>
          <a:ln w="28575">
            <a:solidFill>
              <a:schemeClr val="accent3">
                <a:lumMod val="50000"/>
              </a:schemeClr>
            </a:solidFill>
          </a:ln>
        </p:spPr>
      </p:pic>
      <p:sp>
        <p:nvSpPr>
          <p:cNvPr id="4" name="TextBox 3">
            <a:extLst>
              <a:ext uri="{FF2B5EF4-FFF2-40B4-BE49-F238E27FC236}">
                <a16:creationId xmlns:a16="http://schemas.microsoft.com/office/drawing/2014/main" id="{56C1FC4F-5640-4BD4-9670-B0808976F6FD}"/>
              </a:ext>
            </a:extLst>
          </p:cNvPr>
          <p:cNvSpPr txBox="1"/>
          <p:nvPr/>
        </p:nvSpPr>
        <p:spPr>
          <a:xfrm>
            <a:off x="1709057" y="9410700"/>
            <a:ext cx="13335000" cy="400110"/>
          </a:xfrm>
          <a:prstGeom prst="rect">
            <a:avLst/>
          </a:prstGeom>
          <a:noFill/>
        </p:spPr>
        <p:txBody>
          <a:bodyPr wrap="square" rtlCol="0">
            <a:spAutoFit/>
          </a:bodyPr>
          <a:lstStyle/>
          <a:p>
            <a:r>
              <a:rPr lang="en-US" sz="2000" i="1" dirty="0">
                <a:hlinkClick r:id="rId5"/>
              </a:rPr>
              <a:t>https://github.com/Yandias1/Excel-Analysis/blob/main/~%24SUPERSTORE%20SALES%20ANALYSIS.xlxs</a:t>
            </a:r>
            <a:endParaRPr lang="id-ID" sz="2000" i="1" dirty="0"/>
          </a:p>
        </p:txBody>
      </p:sp>
    </p:spTree>
    <p:extLst>
      <p:ext uri="{BB962C8B-B14F-4D97-AF65-F5344CB8AC3E}">
        <p14:creationId xmlns:p14="http://schemas.microsoft.com/office/powerpoint/2010/main" val="519369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9367890" y="4748644"/>
            <a:ext cx="5691693" cy="4691106"/>
            <a:chOff x="0" y="0"/>
            <a:chExt cx="1499047" cy="1235518"/>
          </a:xfrm>
          <a:solidFill>
            <a:schemeClr val="accent3">
              <a:lumMod val="60000"/>
              <a:lumOff val="40000"/>
            </a:schemeClr>
          </a:solidFill>
        </p:grpSpPr>
        <p:sp>
          <p:nvSpPr>
            <p:cNvPr id="3" name="Freeform 3"/>
            <p:cNvSpPr/>
            <p:nvPr/>
          </p:nvSpPr>
          <p:spPr>
            <a:xfrm>
              <a:off x="0" y="0"/>
              <a:ext cx="1499047" cy="1235518"/>
            </a:xfrm>
            <a:custGeom>
              <a:avLst/>
              <a:gdLst/>
              <a:ahLst/>
              <a:cxnLst/>
              <a:rect l="l" t="t" r="r" b="b"/>
              <a:pathLst>
                <a:path w="1499047" h="1235518">
                  <a:moveTo>
                    <a:pt x="0" y="0"/>
                  </a:moveTo>
                  <a:lnTo>
                    <a:pt x="1499047" y="0"/>
                  </a:lnTo>
                  <a:lnTo>
                    <a:pt x="1499047" y="1235518"/>
                  </a:lnTo>
                  <a:lnTo>
                    <a:pt x="0" y="1235518"/>
                  </a:lnTo>
                  <a:close/>
                </a:path>
              </a:pathLst>
            </a:custGeom>
            <a:grpFill/>
          </p:spPr>
        </p:sp>
        <p:sp>
          <p:nvSpPr>
            <p:cNvPr id="4" name="TextBox 4"/>
            <p:cNvSpPr txBox="1"/>
            <p:nvPr/>
          </p:nvSpPr>
          <p:spPr>
            <a:xfrm>
              <a:off x="0" y="-47625"/>
              <a:ext cx="1499047" cy="1283143"/>
            </a:xfrm>
            <a:prstGeom prst="rect">
              <a:avLst/>
            </a:prstGeom>
            <a:grpFill/>
          </p:spPr>
          <p:txBody>
            <a:bodyPr lIns="50800" tIns="50800" rIns="50800" bIns="50800" rtlCol="0" anchor="ctr"/>
            <a:lstStyle/>
            <a:p>
              <a:pPr algn="ctr">
                <a:lnSpc>
                  <a:spcPts val="3244"/>
                </a:lnSpc>
              </a:pPr>
              <a:endParaRPr/>
            </a:p>
          </p:txBody>
        </p:sp>
      </p:grpSp>
      <p:sp>
        <p:nvSpPr>
          <p:cNvPr id="5" name="Freeform 5"/>
          <p:cNvSpPr/>
          <p:nvPr/>
        </p:nvSpPr>
        <p:spPr>
          <a:xfrm rot="6979616">
            <a:off x="-3090913" y="-1753798"/>
            <a:ext cx="11173984" cy="7393795"/>
          </a:xfrm>
          <a:custGeom>
            <a:avLst/>
            <a:gdLst/>
            <a:ahLst/>
            <a:cxnLst/>
            <a:rect l="l" t="t" r="r" b="b"/>
            <a:pathLst>
              <a:path w="11173984" h="7393795">
                <a:moveTo>
                  <a:pt x="0" y="0"/>
                </a:moveTo>
                <a:lnTo>
                  <a:pt x="11173984" y="0"/>
                </a:lnTo>
                <a:lnTo>
                  <a:pt x="11173984" y="7393795"/>
                </a:lnTo>
                <a:lnTo>
                  <a:pt x="0" y="7393795"/>
                </a:lnTo>
                <a:lnTo>
                  <a:pt x="0" y="0"/>
                </a:lnTo>
                <a:close/>
              </a:path>
            </a:pathLst>
          </a:custGeom>
          <a:blipFill>
            <a:blip r:embed="rId2">
              <a:extLst>
                <a:ext uri="{96DAC541-7B7A-43D3-8B79-37D633B846F1}">
                  <asvg:svgBlip xmlns:asvg="http://schemas.microsoft.com/office/drawing/2016/SVG/main" r:embed="rId3"/>
                </a:ext>
              </a:extLst>
            </a:blip>
            <a:stretch>
              <a:fillRect/>
            </a:stretch>
          </a:blipFill>
          <a:ln>
            <a:noFill/>
          </a:ln>
        </p:spPr>
      </p:sp>
      <p:sp>
        <p:nvSpPr>
          <p:cNvPr id="6" name="AutoShape 6"/>
          <p:cNvSpPr/>
          <p:nvPr/>
        </p:nvSpPr>
        <p:spPr>
          <a:xfrm>
            <a:off x="1066800" y="1943100"/>
            <a:ext cx="0" cy="1247775"/>
          </a:xfrm>
          <a:prstGeom prst="line">
            <a:avLst/>
          </a:prstGeom>
          <a:ln w="133350" cap="flat">
            <a:solidFill>
              <a:schemeClr val="accent3">
                <a:lumMod val="50000"/>
              </a:schemeClr>
            </a:solidFill>
            <a:prstDash val="solid"/>
            <a:headEnd type="none" w="sm" len="sm"/>
            <a:tailEnd type="none" w="sm" len="sm"/>
          </a:ln>
        </p:spPr>
      </p:sp>
      <p:sp>
        <p:nvSpPr>
          <p:cNvPr id="8" name="Freeform 8"/>
          <p:cNvSpPr/>
          <p:nvPr/>
        </p:nvSpPr>
        <p:spPr>
          <a:xfrm>
            <a:off x="9978815" y="751669"/>
            <a:ext cx="948477" cy="434093"/>
          </a:xfrm>
          <a:custGeom>
            <a:avLst/>
            <a:gdLst/>
            <a:ahLst/>
            <a:cxnLst/>
            <a:rect l="l" t="t" r="r" b="b"/>
            <a:pathLst>
              <a:path w="2997777" h="1157824">
                <a:moveTo>
                  <a:pt x="0" y="0"/>
                </a:moveTo>
                <a:lnTo>
                  <a:pt x="2997777" y="0"/>
                </a:lnTo>
                <a:lnTo>
                  <a:pt x="2997777" y="1157824"/>
                </a:lnTo>
                <a:lnTo>
                  <a:pt x="0" y="1157824"/>
                </a:lnTo>
                <a:lnTo>
                  <a:pt x="0" y="0"/>
                </a:lnTo>
                <a:close/>
              </a:path>
            </a:pathLst>
          </a:custGeom>
          <a:blipFill>
            <a:blip r:embed="rId4"/>
            <a:stretch>
              <a:fillRect/>
            </a:stretch>
          </a:blipFill>
        </p:spPr>
      </p:sp>
      <p:sp>
        <p:nvSpPr>
          <p:cNvPr id="9" name="TextBox 9"/>
          <p:cNvSpPr txBox="1"/>
          <p:nvPr/>
        </p:nvSpPr>
        <p:spPr>
          <a:xfrm>
            <a:off x="1539064" y="2009142"/>
            <a:ext cx="8192767" cy="1115690"/>
          </a:xfrm>
          <a:prstGeom prst="rect">
            <a:avLst/>
          </a:prstGeom>
        </p:spPr>
        <p:txBody>
          <a:bodyPr wrap="square" lIns="0" tIns="0" rIns="0" bIns="0" rtlCol="0" anchor="t">
            <a:spAutoFit/>
          </a:bodyPr>
          <a:lstStyle/>
          <a:p>
            <a:pPr marL="0" lvl="0" indent="0" algn="l">
              <a:lnSpc>
                <a:spcPts val="9240"/>
              </a:lnSpc>
              <a:spcBef>
                <a:spcPct val="0"/>
              </a:spcBef>
            </a:pPr>
            <a:r>
              <a:rPr lang="en-US" sz="6000" b="1" dirty="0">
                <a:solidFill>
                  <a:srgbClr val="253439"/>
                </a:solidFill>
                <a:latin typeface="Glacial Indifference Bold"/>
                <a:ea typeface="Glacial Indifference Bold"/>
                <a:cs typeface="Glacial Indifference Bold"/>
                <a:sym typeface="Glacial Indifference Bold"/>
              </a:rPr>
              <a:t>ABOUT DATASET</a:t>
            </a:r>
          </a:p>
        </p:txBody>
      </p:sp>
      <p:sp>
        <p:nvSpPr>
          <p:cNvPr id="10" name="TextBox 10"/>
          <p:cNvSpPr txBox="1"/>
          <p:nvPr/>
        </p:nvSpPr>
        <p:spPr>
          <a:xfrm>
            <a:off x="9978815" y="1074552"/>
            <a:ext cx="7820287" cy="434093"/>
          </a:xfrm>
          <a:prstGeom prst="rect">
            <a:avLst/>
          </a:prstGeom>
        </p:spPr>
        <p:txBody>
          <a:bodyPr wrap="square" lIns="0" tIns="0" rIns="0" bIns="0" rtlCol="0" anchor="t">
            <a:spAutoFit/>
          </a:bodyPr>
          <a:lstStyle/>
          <a:p>
            <a:pPr marL="0" lvl="0" indent="0" algn="l">
              <a:lnSpc>
                <a:spcPts val="3900"/>
              </a:lnSpc>
              <a:spcBef>
                <a:spcPct val="0"/>
              </a:spcBef>
            </a:pPr>
            <a:r>
              <a:rPr lang="en-US" sz="2000" i="1" dirty="0">
                <a:solidFill>
                  <a:srgbClr val="253439"/>
                </a:solidFill>
                <a:latin typeface="Aileron"/>
                <a:ea typeface="Aileron"/>
                <a:cs typeface="Aileron"/>
                <a:sym typeface="Aileron"/>
                <a:hlinkClick r:id="rId5"/>
              </a:rPr>
              <a:t>https://www.kaggle.com/datasets/rohitsahoo/sales-forecasting</a:t>
            </a:r>
            <a:endParaRPr lang="en-US" sz="2000" i="1" dirty="0">
              <a:solidFill>
                <a:srgbClr val="253439"/>
              </a:solidFill>
              <a:latin typeface="Aileron"/>
              <a:ea typeface="Aileron"/>
              <a:cs typeface="Aileron"/>
              <a:sym typeface="Aileron"/>
            </a:endParaRPr>
          </a:p>
        </p:txBody>
      </p:sp>
      <p:sp>
        <p:nvSpPr>
          <p:cNvPr id="11" name="TextBox 11"/>
          <p:cNvSpPr txBox="1"/>
          <p:nvPr/>
        </p:nvSpPr>
        <p:spPr>
          <a:xfrm>
            <a:off x="537333" y="3550730"/>
            <a:ext cx="9108806" cy="5947397"/>
          </a:xfrm>
          <a:prstGeom prst="rect">
            <a:avLst/>
          </a:prstGeom>
        </p:spPr>
        <p:txBody>
          <a:bodyPr wrap="square" lIns="0" tIns="0" rIns="0" bIns="0" rtlCol="0" anchor="t">
            <a:spAutoFit/>
          </a:bodyPr>
          <a:lstStyle/>
          <a:p>
            <a:pPr algn="l">
              <a:lnSpc>
                <a:spcPts val="3900"/>
              </a:lnSpc>
            </a:pPr>
            <a:r>
              <a:rPr lang="en-US" sz="2400" b="1" dirty="0">
                <a:solidFill>
                  <a:srgbClr val="253439"/>
                </a:solidFill>
                <a:latin typeface="Aileron"/>
                <a:ea typeface="Aileron"/>
                <a:cs typeface="Aileron"/>
                <a:sym typeface="Aileron"/>
              </a:rPr>
              <a:t>Context</a:t>
            </a:r>
          </a:p>
          <a:p>
            <a:pPr algn="l">
              <a:lnSpc>
                <a:spcPts val="3900"/>
              </a:lnSpc>
            </a:pPr>
            <a:r>
              <a:rPr lang="en-US" sz="2400" dirty="0">
                <a:solidFill>
                  <a:srgbClr val="253439"/>
                </a:solidFill>
                <a:latin typeface="Aileron"/>
                <a:ea typeface="Aileron"/>
                <a:cs typeface="Aileron"/>
                <a:sym typeface="Aileron"/>
              </a:rPr>
              <a:t>This dataset contains 4 years of sales data from a global superstore, designed for analysis using Pivot Tables and dashboard creation in Excel.</a:t>
            </a:r>
          </a:p>
          <a:p>
            <a:pPr algn="l">
              <a:lnSpc>
                <a:spcPts val="3900"/>
              </a:lnSpc>
            </a:pPr>
            <a:endParaRPr lang="en-US" sz="2400" dirty="0">
              <a:solidFill>
                <a:srgbClr val="253439"/>
              </a:solidFill>
              <a:latin typeface="Aileron"/>
              <a:ea typeface="Aileron"/>
              <a:cs typeface="Aileron"/>
              <a:sym typeface="Aileron"/>
            </a:endParaRPr>
          </a:p>
          <a:p>
            <a:pPr algn="l">
              <a:lnSpc>
                <a:spcPts val="3900"/>
              </a:lnSpc>
            </a:pPr>
            <a:r>
              <a:rPr lang="en-US" sz="2400" b="1" dirty="0">
                <a:solidFill>
                  <a:srgbClr val="253439"/>
                </a:solidFill>
                <a:latin typeface="Aileron"/>
                <a:ea typeface="Aileron"/>
                <a:cs typeface="Aileron"/>
                <a:sym typeface="Aileron"/>
              </a:rPr>
              <a:t>Content</a:t>
            </a:r>
          </a:p>
          <a:p>
            <a:pPr algn="l">
              <a:lnSpc>
                <a:spcPts val="3900"/>
              </a:lnSpc>
            </a:pPr>
            <a:r>
              <a:rPr lang="en-US" sz="2400" dirty="0">
                <a:solidFill>
                  <a:srgbClr val="253439"/>
                </a:solidFill>
                <a:latin typeface="Aileron"/>
                <a:ea typeface="Aileron"/>
                <a:cs typeface="Aileron"/>
                <a:sym typeface="Aileron"/>
              </a:rPr>
              <a:t>The dataset can be used to analyze sales trends by time, region, or </a:t>
            </a:r>
            <a:r>
              <a:rPr lang="en-US" sz="2400" dirty="0" err="1">
                <a:solidFill>
                  <a:srgbClr val="253439"/>
                </a:solidFill>
                <a:latin typeface="Aileron"/>
                <a:ea typeface="Aileron"/>
                <a:cs typeface="Aileron"/>
                <a:sym typeface="Aileron"/>
              </a:rPr>
              <a:t>segmen</a:t>
            </a:r>
            <a:r>
              <a:rPr lang="en-US" sz="2400" dirty="0">
                <a:solidFill>
                  <a:srgbClr val="253439"/>
                </a:solidFill>
                <a:latin typeface="Aileron"/>
                <a:ea typeface="Aileron"/>
                <a:cs typeface="Aileron"/>
                <a:sym typeface="Aileron"/>
              </a:rPr>
              <a:t>. Identify top performing product by category</a:t>
            </a:r>
          </a:p>
          <a:p>
            <a:pPr algn="l">
              <a:lnSpc>
                <a:spcPts val="3900"/>
              </a:lnSpc>
            </a:pPr>
            <a:endParaRPr lang="en-US" sz="2400" dirty="0">
              <a:solidFill>
                <a:srgbClr val="253439"/>
              </a:solidFill>
              <a:latin typeface="Aileron"/>
              <a:ea typeface="Aileron"/>
              <a:cs typeface="Aileron"/>
              <a:sym typeface="Aileron"/>
            </a:endParaRPr>
          </a:p>
          <a:p>
            <a:pPr algn="l">
              <a:lnSpc>
                <a:spcPts val="3900"/>
              </a:lnSpc>
            </a:pPr>
            <a:r>
              <a:rPr lang="en-US" sz="2400" b="1" dirty="0">
                <a:solidFill>
                  <a:srgbClr val="253439"/>
                </a:solidFill>
                <a:latin typeface="Aileron"/>
                <a:ea typeface="Aileron"/>
                <a:cs typeface="Aileron"/>
                <a:sym typeface="Aileron"/>
              </a:rPr>
              <a:t>Purpose</a:t>
            </a:r>
          </a:p>
          <a:p>
            <a:pPr algn="l">
              <a:lnSpc>
                <a:spcPts val="3900"/>
              </a:lnSpc>
            </a:pPr>
            <a:r>
              <a:rPr lang="en-US" sz="2400" dirty="0">
                <a:solidFill>
                  <a:srgbClr val="253439"/>
                </a:solidFill>
                <a:latin typeface="Aileron"/>
                <a:ea typeface="Aileron"/>
                <a:cs typeface="Aileron"/>
                <a:sym typeface="Aileron"/>
              </a:rPr>
              <a:t>To visualize data through interactive dashboards without prediction, focusing on sales patterns and performance.</a:t>
            </a:r>
          </a:p>
        </p:txBody>
      </p:sp>
      <p:pic>
        <p:nvPicPr>
          <p:cNvPr id="13" name="Picture 12">
            <a:extLst>
              <a:ext uri="{FF2B5EF4-FFF2-40B4-BE49-F238E27FC236}">
                <a16:creationId xmlns:a16="http://schemas.microsoft.com/office/drawing/2014/main" id="{B6C91BFA-A312-47E1-9E4F-AC51E332FF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24387" y="1614481"/>
            <a:ext cx="8364117" cy="62683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Freeform 2"/>
          <p:cNvSpPr/>
          <p:nvPr/>
        </p:nvSpPr>
        <p:spPr>
          <a:xfrm rot="3791821">
            <a:off x="-4090527" y="1974085"/>
            <a:ext cx="14579653" cy="8694775"/>
          </a:xfrm>
          <a:custGeom>
            <a:avLst/>
            <a:gdLst/>
            <a:ahLst/>
            <a:cxnLst/>
            <a:rect l="l" t="t" r="r" b="b"/>
            <a:pathLst>
              <a:path w="14579653" h="8694775">
                <a:moveTo>
                  <a:pt x="0" y="0"/>
                </a:moveTo>
                <a:lnTo>
                  <a:pt x="14579652" y="0"/>
                </a:lnTo>
                <a:lnTo>
                  <a:pt x="14579652" y="8694775"/>
                </a:lnTo>
                <a:lnTo>
                  <a:pt x="0" y="8694775"/>
                </a:lnTo>
                <a:lnTo>
                  <a:pt x="0" y="0"/>
                </a:lnTo>
                <a:close/>
              </a:path>
            </a:pathLst>
          </a:custGeom>
          <a:blipFill>
            <a:blip r:embed="rId2">
              <a:extLst>
                <a:ext uri="{96DAC541-7B7A-43D3-8B79-37D633B846F1}">
                  <asvg:svgBlip xmlns:asvg="http://schemas.microsoft.com/office/drawing/2016/SVG/main" r:embed="rId3"/>
                </a:ext>
              </a:extLst>
            </a:blip>
            <a:stretch>
              <a:fillRect/>
            </a:stretch>
          </a:blipFill>
          <a:ln>
            <a:noFill/>
          </a:ln>
        </p:spPr>
      </p:sp>
      <p:grpSp>
        <p:nvGrpSpPr>
          <p:cNvPr id="3" name="Group 3"/>
          <p:cNvGrpSpPr/>
          <p:nvPr/>
        </p:nvGrpSpPr>
        <p:grpSpPr>
          <a:xfrm>
            <a:off x="-1041036" y="2134404"/>
            <a:ext cx="20370072" cy="7149942"/>
            <a:chOff x="0" y="0"/>
            <a:chExt cx="5364957" cy="1585039"/>
          </a:xfrm>
        </p:grpSpPr>
        <p:sp>
          <p:nvSpPr>
            <p:cNvPr id="4" name="Freeform 4"/>
            <p:cNvSpPr/>
            <p:nvPr/>
          </p:nvSpPr>
          <p:spPr>
            <a:xfrm>
              <a:off x="0" y="0"/>
              <a:ext cx="5364957" cy="1585039"/>
            </a:xfrm>
            <a:custGeom>
              <a:avLst/>
              <a:gdLst/>
              <a:ahLst/>
              <a:cxnLst/>
              <a:rect l="l" t="t" r="r" b="b"/>
              <a:pathLst>
                <a:path w="5364957" h="1585039">
                  <a:moveTo>
                    <a:pt x="0" y="0"/>
                  </a:moveTo>
                  <a:lnTo>
                    <a:pt x="5364957" y="0"/>
                  </a:lnTo>
                  <a:lnTo>
                    <a:pt x="5364957" y="1585039"/>
                  </a:lnTo>
                  <a:lnTo>
                    <a:pt x="0" y="1585039"/>
                  </a:lnTo>
                  <a:close/>
                </a:path>
              </a:pathLst>
            </a:custGeom>
            <a:gradFill rotWithShape="1">
              <a:gsLst>
                <a:gs pos="0">
                  <a:srgbClr val="FDF7EF">
                    <a:alpha val="100000"/>
                  </a:srgbClr>
                </a:gs>
                <a:gs pos="100000">
                  <a:srgbClr val="FFFFFF">
                    <a:alpha val="100000"/>
                  </a:srgbClr>
                </a:gs>
              </a:gsLst>
              <a:lin ang="0"/>
            </a:gradFill>
          </p:spPr>
        </p:sp>
        <p:sp>
          <p:nvSpPr>
            <p:cNvPr id="5" name="TextBox 5"/>
            <p:cNvSpPr txBox="1"/>
            <p:nvPr/>
          </p:nvSpPr>
          <p:spPr>
            <a:xfrm>
              <a:off x="0" y="9525"/>
              <a:ext cx="5364957" cy="1575514"/>
            </a:xfrm>
            <a:prstGeom prst="rect">
              <a:avLst/>
            </a:prstGeom>
          </p:spPr>
          <p:txBody>
            <a:bodyPr lIns="50800" tIns="50800" rIns="50800" bIns="50800" rtlCol="0" anchor="ctr"/>
            <a:lstStyle/>
            <a:p>
              <a:pPr algn="ctr">
                <a:lnSpc>
                  <a:spcPts val="1869"/>
                </a:lnSpc>
              </a:pPr>
              <a:endParaRPr/>
            </a:p>
          </p:txBody>
        </p:sp>
      </p:grpSp>
      <p:sp>
        <p:nvSpPr>
          <p:cNvPr id="6" name="TextBox 6"/>
          <p:cNvSpPr txBox="1"/>
          <p:nvPr/>
        </p:nvSpPr>
        <p:spPr>
          <a:xfrm>
            <a:off x="4668746" y="718727"/>
            <a:ext cx="8950508" cy="955839"/>
          </a:xfrm>
          <a:prstGeom prst="rect">
            <a:avLst/>
          </a:prstGeom>
        </p:spPr>
        <p:txBody>
          <a:bodyPr wrap="square" lIns="0" tIns="0" rIns="0" bIns="0" rtlCol="0" anchor="t">
            <a:spAutoFit/>
          </a:bodyPr>
          <a:lstStyle/>
          <a:p>
            <a:pPr>
              <a:lnSpc>
                <a:spcPts val="7260"/>
              </a:lnSpc>
            </a:pPr>
            <a:r>
              <a:rPr lang="en-US" sz="6600" dirty="0">
                <a:solidFill>
                  <a:srgbClr val="000000"/>
                </a:solidFill>
                <a:latin typeface="HK Grotesk Light"/>
                <a:ea typeface="HK Grotesk Light"/>
                <a:cs typeface="HK Grotesk Light"/>
                <a:sym typeface="HK Grotesk Light"/>
              </a:rPr>
              <a:t>TRANSFORM </a:t>
            </a:r>
            <a:r>
              <a:rPr lang="en-US" sz="6600" b="1" dirty="0">
                <a:solidFill>
                  <a:srgbClr val="000000"/>
                </a:solidFill>
                <a:latin typeface="HK Grotesk Light"/>
                <a:ea typeface="HK Grotesk Light"/>
                <a:cs typeface="HK Grotesk Light"/>
                <a:sym typeface="HK Grotesk Light"/>
              </a:rPr>
              <a:t>DATA</a:t>
            </a:r>
            <a:endParaRPr lang="en-US" sz="6600" dirty="0">
              <a:solidFill>
                <a:srgbClr val="000000"/>
              </a:solidFill>
              <a:latin typeface="HK Grotesk Light"/>
              <a:ea typeface="HK Grotesk Light"/>
              <a:cs typeface="HK Grotesk Light"/>
              <a:sym typeface="HK Grotesk Light"/>
            </a:endParaRPr>
          </a:p>
        </p:txBody>
      </p:sp>
      <p:sp>
        <p:nvSpPr>
          <p:cNvPr id="7" name="TextBox 7"/>
          <p:cNvSpPr txBox="1"/>
          <p:nvPr/>
        </p:nvSpPr>
        <p:spPr>
          <a:xfrm>
            <a:off x="228599" y="2573050"/>
            <a:ext cx="6197547" cy="5315301"/>
          </a:xfrm>
          <a:prstGeom prst="rect">
            <a:avLst/>
          </a:prstGeom>
        </p:spPr>
        <p:txBody>
          <a:bodyPr wrap="square" lIns="0" tIns="0" rIns="0" bIns="0" rtlCol="0" anchor="t">
            <a:spAutoFit/>
          </a:bodyPr>
          <a:lstStyle/>
          <a:p>
            <a:pPr algn="just">
              <a:lnSpc>
                <a:spcPts val="3822"/>
              </a:lnSpc>
            </a:pPr>
            <a:r>
              <a:rPr lang="en-US" sz="2800" b="1" u="sng" dirty="0">
                <a:solidFill>
                  <a:srgbClr val="000000"/>
                </a:solidFill>
                <a:latin typeface="Aileron"/>
                <a:ea typeface="Aileron"/>
                <a:cs typeface="Aileron"/>
                <a:sym typeface="Aileron"/>
              </a:rPr>
              <a:t>Identifying Initial Data Format</a:t>
            </a:r>
          </a:p>
          <a:p>
            <a:pPr algn="just">
              <a:lnSpc>
                <a:spcPts val="3822"/>
              </a:lnSpc>
            </a:pPr>
            <a:r>
              <a:rPr lang="en-US" sz="2600" dirty="0">
                <a:solidFill>
                  <a:srgbClr val="000000"/>
                </a:solidFill>
                <a:latin typeface="Aileron"/>
                <a:ea typeface="Aileron"/>
                <a:cs typeface="Aileron"/>
                <a:sym typeface="Aileron"/>
              </a:rPr>
              <a:t>The “Order Date” and “Ship Date” columns were in general text format.</a:t>
            </a:r>
          </a:p>
          <a:p>
            <a:pPr algn="just">
              <a:lnSpc>
                <a:spcPts val="3822"/>
              </a:lnSpc>
            </a:pPr>
            <a:r>
              <a:rPr lang="en-US" sz="2800" b="1" u="sng" dirty="0">
                <a:solidFill>
                  <a:srgbClr val="000000"/>
                </a:solidFill>
                <a:latin typeface="Aileron"/>
                <a:ea typeface="Aileron"/>
                <a:cs typeface="Aileron"/>
                <a:sym typeface="Aileron"/>
              </a:rPr>
              <a:t>Convert to Date Format</a:t>
            </a:r>
          </a:p>
          <a:p>
            <a:pPr algn="just">
              <a:lnSpc>
                <a:spcPts val="3822"/>
              </a:lnSpc>
            </a:pPr>
            <a:r>
              <a:rPr lang="en-US" sz="2600" dirty="0">
                <a:solidFill>
                  <a:srgbClr val="000000"/>
                </a:solidFill>
                <a:latin typeface="Aileron"/>
                <a:ea typeface="Aileron"/>
                <a:cs typeface="Aileron"/>
                <a:sym typeface="Aileron"/>
              </a:rPr>
              <a:t>Convert the columns to a proper </a:t>
            </a:r>
            <a:r>
              <a:rPr lang="en-US" sz="2600" u="sng" dirty="0">
                <a:solidFill>
                  <a:srgbClr val="000000"/>
                </a:solidFill>
                <a:latin typeface="Aileron"/>
                <a:ea typeface="Aileron"/>
                <a:cs typeface="Aileron"/>
                <a:sym typeface="Aileron"/>
              </a:rPr>
              <a:t>Date</a:t>
            </a:r>
            <a:r>
              <a:rPr lang="en-US" sz="2600" dirty="0">
                <a:solidFill>
                  <a:srgbClr val="000000"/>
                </a:solidFill>
                <a:latin typeface="Aileron"/>
                <a:ea typeface="Aileron"/>
                <a:cs typeface="Aileron"/>
                <a:sym typeface="Aileron"/>
              </a:rPr>
              <a:t> format to enable time based analysis.</a:t>
            </a:r>
          </a:p>
          <a:p>
            <a:pPr algn="just">
              <a:lnSpc>
                <a:spcPts val="3822"/>
              </a:lnSpc>
            </a:pPr>
            <a:r>
              <a:rPr lang="en-US" sz="2600" dirty="0">
                <a:solidFill>
                  <a:srgbClr val="000000"/>
                </a:solidFill>
                <a:latin typeface="Aileron"/>
                <a:ea typeface="Aileron"/>
                <a:cs typeface="Aileron"/>
                <a:sym typeface="Aileron"/>
              </a:rPr>
              <a:t>All dates in the dataset are in the format </a:t>
            </a:r>
            <a:r>
              <a:rPr lang="en-US" sz="2600" b="1" dirty="0">
                <a:solidFill>
                  <a:srgbClr val="000000"/>
                </a:solidFill>
                <a:latin typeface="Aileron"/>
                <a:ea typeface="Aileron"/>
                <a:cs typeface="Aileron"/>
                <a:sym typeface="Aileron"/>
              </a:rPr>
              <a:t>MM/DD/YYYY </a:t>
            </a:r>
            <a:r>
              <a:rPr lang="en-US" sz="2600" dirty="0">
                <a:solidFill>
                  <a:srgbClr val="000000"/>
                </a:solidFill>
                <a:latin typeface="Aileron"/>
                <a:ea typeface="Aileron"/>
                <a:cs typeface="Aileron"/>
                <a:sym typeface="Aileron"/>
              </a:rPr>
              <a:t>(e.g., 08/11/2017 represent August 11, 2017).</a:t>
            </a:r>
          </a:p>
          <a:p>
            <a:pPr algn="just">
              <a:lnSpc>
                <a:spcPts val="3822"/>
              </a:lnSpc>
            </a:pPr>
            <a:r>
              <a:rPr lang="en-US" sz="2800" b="1" u="sng" dirty="0">
                <a:solidFill>
                  <a:srgbClr val="000000"/>
                </a:solidFill>
                <a:latin typeface="Aileron"/>
                <a:ea typeface="Aileron"/>
                <a:cs typeface="Aileron"/>
                <a:sym typeface="Aileron"/>
              </a:rPr>
              <a:t>Close and Load Data</a:t>
            </a:r>
          </a:p>
          <a:p>
            <a:pPr algn="just">
              <a:lnSpc>
                <a:spcPts val="3822"/>
              </a:lnSpc>
            </a:pPr>
            <a:endParaRPr lang="en-US" sz="2600" b="1" u="sng" dirty="0">
              <a:solidFill>
                <a:srgbClr val="000000"/>
              </a:solidFill>
              <a:latin typeface="Aileron"/>
              <a:ea typeface="Aileron"/>
              <a:cs typeface="Aileron"/>
              <a:sym typeface="Aileron"/>
            </a:endParaRPr>
          </a:p>
        </p:txBody>
      </p:sp>
      <p:sp>
        <p:nvSpPr>
          <p:cNvPr id="9" name="AutoShape 9"/>
          <p:cNvSpPr/>
          <p:nvPr/>
        </p:nvSpPr>
        <p:spPr>
          <a:xfrm>
            <a:off x="4343400" y="342900"/>
            <a:ext cx="0" cy="1420170"/>
          </a:xfrm>
          <a:prstGeom prst="line">
            <a:avLst/>
          </a:prstGeom>
          <a:ln w="133350" cap="flat">
            <a:solidFill>
              <a:schemeClr val="accent3">
                <a:lumMod val="50000"/>
              </a:schemeClr>
            </a:solidFill>
            <a:prstDash val="solid"/>
            <a:headEnd type="none" w="sm" len="sm"/>
            <a:tailEnd type="none" w="sm" len="sm"/>
          </a:ln>
        </p:spPr>
      </p:sp>
      <p:pic>
        <p:nvPicPr>
          <p:cNvPr id="11" name="Picture 10">
            <a:extLst>
              <a:ext uri="{FF2B5EF4-FFF2-40B4-BE49-F238E27FC236}">
                <a16:creationId xmlns:a16="http://schemas.microsoft.com/office/drawing/2014/main" id="{1B3D259F-F459-47D7-8A3B-AFD303432383}"/>
              </a:ext>
            </a:extLst>
          </p:cNvPr>
          <p:cNvPicPr>
            <a:picLocks noChangeAspect="1"/>
          </p:cNvPicPr>
          <p:nvPr/>
        </p:nvPicPr>
        <p:blipFill rotWithShape="1">
          <a:blip r:embed="rId4">
            <a:extLst>
              <a:ext uri="{28A0092B-C50C-407E-A947-70E740481C1C}">
                <a14:useLocalDpi xmlns:a14="http://schemas.microsoft.com/office/drawing/2010/main" val="0"/>
              </a:ext>
            </a:extLst>
          </a:blip>
          <a:srcRect l="15073" t="26207" r="21922" b="2617"/>
          <a:stretch/>
        </p:blipFill>
        <p:spPr>
          <a:xfrm>
            <a:off x="6839804" y="2206733"/>
            <a:ext cx="11448196" cy="5945863"/>
          </a:xfrm>
          <a:prstGeom prst="rect">
            <a:avLst/>
          </a:prstGeom>
        </p:spPr>
      </p:pic>
      <p:sp>
        <p:nvSpPr>
          <p:cNvPr id="12" name="Rectangle 11">
            <a:extLst>
              <a:ext uri="{FF2B5EF4-FFF2-40B4-BE49-F238E27FC236}">
                <a16:creationId xmlns:a16="http://schemas.microsoft.com/office/drawing/2014/main" id="{F8A57F83-E98B-4D9C-AE50-F171BC3B046D}"/>
              </a:ext>
            </a:extLst>
          </p:cNvPr>
          <p:cNvSpPr/>
          <p:nvPr/>
        </p:nvSpPr>
        <p:spPr>
          <a:xfrm>
            <a:off x="14902543" y="5068842"/>
            <a:ext cx="2971800" cy="339423"/>
          </a:xfrm>
          <a:prstGeom prst="rect">
            <a:avLst/>
          </a:prstGeom>
          <a:noFill/>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id-ID"/>
          </a:p>
        </p:txBody>
      </p:sp>
      <p:sp>
        <p:nvSpPr>
          <p:cNvPr id="13" name="Rectangle 12">
            <a:extLst>
              <a:ext uri="{FF2B5EF4-FFF2-40B4-BE49-F238E27FC236}">
                <a16:creationId xmlns:a16="http://schemas.microsoft.com/office/drawing/2014/main" id="{BC61504E-56ED-44D7-B9DB-763A9DB79BBC}"/>
              </a:ext>
            </a:extLst>
          </p:cNvPr>
          <p:cNvSpPr/>
          <p:nvPr/>
        </p:nvSpPr>
        <p:spPr>
          <a:xfrm>
            <a:off x="12398443" y="2935838"/>
            <a:ext cx="497086" cy="339423"/>
          </a:xfrm>
          <a:prstGeom prst="rect">
            <a:avLst/>
          </a:prstGeom>
          <a:noFill/>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id-ID"/>
          </a:p>
        </p:txBody>
      </p:sp>
      <p:sp>
        <p:nvSpPr>
          <p:cNvPr id="14" name="Rectangle 13">
            <a:extLst>
              <a:ext uri="{FF2B5EF4-FFF2-40B4-BE49-F238E27FC236}">
                <a16:creationId xmlns:a16="http://schemas.microsoft.com/office/drawing/2014/main" id="{43B7B783-5D83-4923-85CB-3A9F84E7539A}"/>
              </a:ext>
            </a:extLst>
          </p:cNvPr>
          <p:cNvSpPr/>
          <p:nvPr/>
        </p:nvSpPr>
        <p:spPr>
          <a:xfrm>
            <a:off x="14902543" y="2935837"/>
            <a:ext cx="497086" cy="339423"/>
          </a:xfrm>
          <a:prstGeom prst="rect">
            <a:avLst/>
          </a:prstGeom>
          <a:noFill/>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id-ID"/>
          </a:p>
        </p:txBody>
      </p:sp>
      <p:pic>
        <p:nvPicPr>
          <p:cNvPr id="15" name="Picture 14">
            <a:extLst>
              <a:ext uri="{FF2B5EF4-FFF2-40B4-BE49-F238E27FC236}">
                <a16:creationId xmlns:a16="http://schemas.microsoft.com/office/drawing/2014/main" id="{607722B6-ABA1-4244-96AE-84DDA39BAB8C}"/>
              </a:ext>
            </a:extLst>
          </p:cNvPr>
          <p:cNvPicPr>
            <a:picLocks noChangeAspect="1"/>
          </p:cNvPicPr>
          <p:nvPr/>
        </p:nvPicPr>
        <p:blipFill rotWithShape="1">
          <a:blip r:embed="rId4">
            <a:extLst>
              <a:ext uri="{28A0092B-C50C-407E-A947-70E740481C1C}">
                <a14:useLocalDpi xmlns:a14="http://schemas.microsoft.com/office/drawing/2010/main" val="0"/>
              </a:ext>
            </a:extLst>
          </a:blip>
          <a:srcRect l="-2096" t="9554" r="95084" b="72343"/>
          <a:stretch/>
        </p:blipFill>
        <p:spPr>
          <a:xfrm>
            <a:off x="-185059" y="7371742"/>
            <a:ext cx="1600200" cy="1775885"/>
          </a:xfrm>
          <a:prstGeom prst="rect">
            <a:avLst/>
          </a:prstGeom>
        </p:spPr>
      </p:pic>
      <p:sp>
        <p:nvSpPr>
          <p:cNvPr id="18" name="TextBox 17">
            <a:extLst>
              <a:ext uri="{FF2B5EF4-FFF2-40B4-BE49-F238E27FC236}">
                <a16:creationId xmlns:a16="http://schemas.microsoft.com/office/drawing/2014/main" id="{539C0DE6-0B73-4909-A0E5-F2A94BF072AA}"/>
              </a:ext>
            </a:extLst>
          </p:cNvPr>
          <p:cNvSpPr txBox="1"/>
          <p:nvPr/>
        </p:nvSpPr>
        <p:spPr>
          <a:xfrm>
            <a:off x="1509755" y="7619266"/>
            <a:ext cx="5769009" cy="1554272"/>
          </a:xfrm>
          <a:prstGeom prst="rect">
            <a:avLst/>
          </a:prstGeom>
          <a:noFill/>
        </p:spPr>
        <p:txBody>
          <a:bodyPr wrap="square">
            <a:spAutoFit/>
          </a:bodyPr>
          <a:lstStyle/>
          <a:p>
            <a:pPr algn="just">
              <a:lnSpc>
                <a:spcPts val="3822"/>
              </a:lnSpc>
            </a:pPr>
            <a:r>
              <a:rPr lang="en-US" sz="2600" dirty="0">
                <a:solidFill>
                  <a:srgbClr val="000000"/>
                </a:solidFill>
                <a:latin typeface="Aileron"/>
                <a:ea typeface="Aileron"/>
                <a:cs typeface="Aileron"/>
                <a:sym typeface="Aileron"/>
              </a:rPr>
              <a:t>After transforming    the date </a:t>
            </a:r>
          </a:p>
          <a:p>
            <a:pPr algn="just">
              <a:lnSpc>
                <a:spcPts val="3822"/>
              </a:lnSpc>
            </a:pPr>
            <a:r>
              <a:rPr lang="en-US" sz="2600" dirty="0">
                <a:solidFill>
                  <a:srgbClr val="000000"/>
                </a:solidFill>
                <a:latin typeface="Aileron"/>
                <a:ea typeface="Aileron"/>
                <a:cs typeface="Aileron"/>
                <a:sym typeface="Aileron"/>
              </a:rPr>
              <a:t>format, close the query editor and load the cleaned dataset.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8" name="TextBox 8"/>
          <p:cNvSpPr txBox="1"/>
          <p:nvPr/>
        </p:nvSpPr>
        <p:spPr>
          <a:xfrm>
            <a:off x="729332" y="2654909"/>
            <a:ext cx="7765415" cy="1952201"/>
          </a:xfrm>
          <a:prstGeom prst="rect">
            <a:avLst/>
          </a:prstGeom>
        </p:spPr>
        <p:txBody>
          <a:bodyPr wrap="square" lIns="0" tIns="0" rIns="0" bIns="0" rtlCol="0" anchor="t">
            <a:spAutoFit/>
          </a:bodyPr>
          <a:lstStyle/>
          <a:p>
            <a:pPr marL="0" lvl="1" indent="0" algn="l">
              <a:lnSpc>
                <a:spcPts val="3900"/>
              </a:lnSpc>
              <a:spcBef>
                <a:spcPct val="0"/>
              </a:spcBef>
            </a:pPr>
            <a:r>
              <a:rPr lang="en-US" sz="2600" dirty="0">
                <a:solidFill>
                  <a:srgbClr val="253439"/>
                </a:solidFill>
                <a:latin typeface="Aileron"/>
                <a:ea typeface="Aileron"/>
                <a:cs typeface="Aileron"/>
                <a:sym typeface="Aileron"/>
              </a:rPr>
              <a:t>After transforming the date columns, the cleaned dataset is loaded into Excel for analysis. This dataset is already clean, so no additional data cleaning steps are required for this analysis.</a:t>
            </a:r>
          </a:p>
        </p:txBody>
      </p:sp>
      <p:grpSp>
        <p:nvGrpSpPr>
          <p:cNvPr id="13" name="Group 12">
            <a:extLst>
              <a:ext uri="{FF2B5EF4-FFF2-40B4-BE49-F238E27FC236}">
                <a16:creationId xmlns:a16="http://schemas.microsoft.com/office/drawing/2014/main" id="{7932F431-AE9C-4420-8C1E-6ACACC0BF68C}"/>
              </a:ext>
            </a:extLst>
          </p:cNvPr>
          <p:cNvGrpSpPr/>
          <p:nvPr/>
        </p:nvGrpSpPr>
        <p:grpSpPr>
          <a:xfrm>
            <a:off x="761989" y="263710"/>
            <a:ext cx="6842848" cy="2146671"/>
            <a:chOff x="2219000" y="2656165"/>
            <a:chExt cx="6842848" cy="2146671"/>
          </a:xfrm>
        </p:grpSpPr>
        <p:sp>
          <p:nvSpPr>
            <p:cNvPr id="7" name="TextBox 7"/>
            <p:cNvSpPr txBox="1"/>
            <p:nvPr/>
          </p:nvSpPr>
          <p:spPr>
            <a:xfrm>
              <a:off x="2219000" y="3631261"/>
              <a:ext cx="6842848" cy="1171575"/>
            </a:xfrm>
            <a:prstGeom prst="rect">
              <a:avLst/>
            </a:prstGeom>
          </p:spPr>
          <p:txBody>
            <a:bodyPr lIns="0" tIns="0" rIns="0" bIns="0" rtlCol="0" anchor="t">
              <a:spAutoFit/>
            </a:bodyPr>
            <a:lstStyle/>
            <a:p>
              <a:pPr marL="0" lvl="0" indent="0" algn="l">
                <a:lnSpc>
                  <a:spcPts val="9240"/>
                </a:lnSpc>
                <a:spcBef>
                  <a:spcPct val="0"/>
                </a:spcBef>
              </a:pPr>
              <a:r>
                <a:rPr lang="en-US" sz="7700" b="1" dirty="0">
                  <a:solidFill>
                    <a:srgbClr val="253439"/>
                  </a:solidFill>
                  <a:latin typeface="Glacial Indifference Bold"/>
                  <a:ea typeface="Glacial Indifference Bold"/>
                  <a:cs typeface="Glacial Indifference Bold"/>
                  <a:sym typeface="Glacial Indifference Bold"/>
                </a:rPr>
                <a:t>DATASET</a:t>
              </a:r>
            </a:p>
          </p:txBody>
        </p:sp>
        <p:sp>
          <p:nvSpPr>
            <p:cNvPr id="9" name="TextBox 9"/>
            <p:cNvSpPr txBox="1"/>
            <p:nvPr/>
          </p:nvSpPr>
          <p:spPr>
            <a:xfrm>
              <a:off x="2219000" y="2656165"/>
              <a:ext cx="6842848" cy="1009650"/>
            </a:xfrm>
            <a:prstGeom prst="rect">
              <a:avLst/>
            </a:prstGeom>
          </p:spPr>
          <p:txBody>
            <a:bodyPr lIns="0" tIns="0" rIns="0" bIns="0" rtlCol="0" anchor="t">
              <a:spAutoFit/>
            </a:bodyPr>
            <a:lstStyle/>
            <a:p>
              <a:pPr marL="0" lvl="0" indent="0" algn="l">
                <a:lnSpc>
                  <a:spcPts val="7920"/>
                </a:lnSpc>
                <a:spcBef>
                  <a:spcPct val="0"/>
                </a:spcBef>
              </a:pPr>
              <a:r>
                <a:rPr lang="en-US" sz="6600" dirty="0">
                  <a:solidFill>
                    <a:srgbClr val="253439"/>
                  </a:solidFill>
                  <a:latin typeface="HK Grotesk"/>
                  <a:ea typeface="HK Grotesk"/>
                  <a:cs typeface="HK Grotesk"/>
                  <a:sym typeface="HK Grotesk"/>
                </a:rPr>
                <a:t>LOADED</a:t>
              </a:r>
            </a:p>
          </p:txBody>
        </p:sp>
      </p:grpSp>
      <p:sp>
        <p:nvSpPr>
          <p:cNvPr id="10" name="AutoShape 10"/>
          <p:cNvSpPr/>
          <p:nvPr/>
        </p:nvSpPr>
        <p:spPr>
          <a:xfrm flipV="1">
            <a:off x="457200" y="190500"/>
            <a:ext cx="0" cy="2293092"/>
          </a:xfrm>
          <a:prstGeom prst="line">
            <a:avLst/>
          </a:prstGeom>
          <a:ln w="133350" cap="flat">
            <a:solidFill>
              <a:schemeClr val="accent3">
                <a:lumMod val="50000"/>
              </a:schemeClr>
            </a:solidFill>
            <a:prstDash val="solid"/>
            <a:headEnd type="none" w="sm" len="sm"/>
            <a:tailEnd type="none" w="sm" len="sm"/>
          </a:ln>
        </p:spPr>
      </p:sp>
      <p:pic>
        <p:nvPicPr>
          <p:cNvPr id="15" name="Picture 14">
            <a:extLst>
              <a:ext uri="{FF2B5EF4-FFF2-40B4-BE49-F238E27FC236}">
                <a16:creationId xmlns:a16="http://schemas.microsoft.com/office/drawing/2014/main" id="{A8C35CDD-815E-4436-9A16-2C4B3678A247}"/>
              </a:ext>
            </a:extLst>
          </p:cNvPr>
          <p:cNvPicPr>
            <a:picLocks noChangeAspect="1"/>
          </p:cNvPicPr>
          <p:nvPr/>
        </p:nvPicPr>
        <p:blipFill rotWithShape="1">
          <a:blip r:embed="rId2">
            <a:extLst>
              <a:ext uri="{28A0092B-C50C-407E-A947-70E740481C1C}">
                <a14:useLocalDpi xmlns:a14="http://schemas.microsoft.com/office/drawing/2010/main" val="0"/>
              </a:ext>
            </a:extLst>
          </a:blip>
          <a:srcRect l="2495" t="29694" r="27646" b="8358"/>
          <a:stretch/>
        </p:blipFill>
        <p:spPr>
          <a:xfrm>
            <a:off x="8675903" y="263710"/>
            <a:ext cx="9144011" cy="4343400"/>
          </a:xfrm>
          <a:prstGeom prst="rect">
            <a:avLst/>
          </a:prstGeom>
          <a:solidFill>
            <a:srgbClr val="FFFFFF">
              <a:shade val="85000"/>
            </a:srgbClr>
          </a:solidFill>
          <a:ln w="3175" cap="sq">
            <a:solidFill>
              <a:schemeClr val="accent3">
                <a:lumMod val="60000"/>
                <a:lumOff val="40000"/>
              </a:schemeClr>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Freeform 2"/>
          <p:cNvSpPr/>
          <p:nvPr/>
        </p:nvSpPr>
        <p:spPr>
          <a:xfrm rot="6979616">
            <a:off x="7809082" y="6024590"/>
            <a:ext cx="11173984" cy="7393795"/>
          </a:xfrm>
          <a:custGeom>
            <a:avLst/>
            <a:gdLst/>
            <a:ahLst/>
            <a:cxnLst/>
            <a:rect l="l" t="t" r="r" b="b"/>
            <a:pathLst>
              <a:path w="11173984" h="7393795">
                <a:moveTo>
                  <a:pt x="0" y="0"/>
                </a:moveTo>
                <a:lnTo>
                  <a:pt x="11173984" y="0"/>
                </a:lnTo>
                <a:lnTo>
                  <a:pt x="11173984" y="7393794"/>
                </a:lnTo>
                <a:lnTo>
                  <a:pt x="0" y="739379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pic>
        <p:nvPicPr>
          <p:cNvPr id="17" name="Picture 16">
            <a:extLst>
              <a:ext uri="{FF2B5EF4-FFF2-40B4-BE49-F238E27FC236}">
                <a16:creationId xmlns:a16="http://schemas.microsoft.com/office/drawing/2014/main" id="{17E5B69F-39B0-4042-AA77-66305821AB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7561" y="4735771"/>
            <a:ext cx="5998039" cy="5348767"/>
          </a:xfrm>
          <a:prstGeom prst="rect">
            <a:avLst/>
          </a:prstGeom>
        </p:spPr>
      </p:pic>
      <p:sp>
        <p:nvSpPr>
          <p:cNvPr id="19" name="TextBox 18">
            <a:extLst>
              <a:ext uri="{FF2B5EF4-FFF2-40B4-BE49-F238E27FC236}">
                <a16:creationId xmlns:a16="http://schemas.microsoft.com/office/drawing/2014/main" id="{1BF9250E-6BC5-4285-A5E8-B4F86552B477}"/>
              </a:ext>
            </a:extLst>
          </p:cNvPr>
          <p:cNvSpPr txBox="1"/>
          <p:nvPr/>
        </p:nvSpPr>
        <p:spPr>
          <a:xfrm>
            <a:off x="7010400" y="4846914"/>
            <a:ext cx="10809514" cy="2044534"/>
          </a:xfrm>
          <a:prstGeom prst="rect">
            <a:avLst/>
          </a:prstGeom>
          <a:noFill/>
        </p:spPr>
        <p:txBody>
          <a:bodyPr wrap="square">
            <a:spAutoFit/>
          </a:bodyPr>
          <a:lstStyle/>
          <a:p>
            <a:pPr marL="0" lvl="1" indent="0" algn="l">
              <a:lnSpc>
                <a:spcPts val="3900"/>
              </a:lnSpc>
              <a:spcBef>
                <a:spcPct val="0"/>
              </a:spcBef>
            </a:pPr>
            <a:r>
              <a:rPr lang="en-US" sz="2600" dirty="0">
                <a:solidFill>
                  <a:srgbClr val="253439"/>
                </a:solidFill>
                <a:latin typeface="Aileron"/>
                <a:ea typeface="Aileron"/>
                <a:cs typeface="Aileron"/>
                <a:sym typeface="Aileron"/>
              </a:rPr>
              <a:t>The dataset  is now fully prepared for further exploration to uncover patterns and trends. It will be analyzed using </a:t>
            </a:r>
            <a:r>
              <a:rPr lang="en-US" sz="2600" b="1" dirty="0">
                <a:solidFill>
                  <a:srgbClr val="253439"/>
                </a:solidFill>
                <a:latin typeface="Aileron"/>
                <a:ea typeface="Aileron"/>
                <a:cs typeface="Aileron"/>
                <a:sym typeface="Aileron"/>
              </a:rPr>
              <a:t>Pivot Tables </a:t>
            </a:r>
            <a:r>
              <a:rPr lang="en-US" sz="2600" dirty="0">
                <a:solidFill>
                  <a:srgbClr val="253439"/>
                </a:solidFill>
                <a:latin typeface="Aileron"/>
                <a:ea typeface="Aileron"/>
                <a:cs typeface="Aileron"/>
                <a:sym typeface="Aileron"/>
              </a:rPr>
              <a:t>to create interactive summaries based on different dimensions such as sales trends, product categories, regions, and customer segments. </a:t>
            </a:r>
            <a:endParaRPr lang="en-US" sz="2600" b="1" dirty="0">
              <a:solidFill>
                <a:srgbClr val="253439"/>
              </a:solidFill>
              <a:latin typeface="Aileron"/>
              <a:ea typeface="Aileron"/>
              <a:cs typeface="Aileron"/>
              <a:sym typeface="Ailero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Freeform 2"/>
          <p:cNvSpPr/>
          <p:nvPr/>
        </p:nvSpPr>
        <p:spPr>
          <a:xfrm rot="7107145">
            <a:off x="7549656" y="904985"/>
            <a:ext cx="15422517" cy="9197428"/>
          </a:xfrm>
          <a:custGeom>
            <a:avLst/>
            <a:gdLst/>
            <a:ahLst/>
            <a:cxnLst/>
            <a:rect l="l" t="t" r="r" b="b"/>
            <a:pathLst>
              <a:path w="15422517" h="9197428">
                <a:moveTo>
                  <a:pt x="0" y="0"/>
                </a:moveTo>
                <a:lnTo>
                  <a:pt x="15422516" y="0"/>
                </a:lnTo>
                <a:lnTo>
                  <a:pt x="15422516" y="9197428"/>
                </a:lnTo>
                <a:lnTo>
                  <a:pt x="0" y="91974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778716" y="2076504"/>
            <a:ext cx="19845431" cy="6575386"/>
            <a:chOff x="0" y="0"/>
            <a:chExt cx="5226780" cy="1731789"/>
          </a:xfrm>
        </p:grpSpPr>
        <p:sp>
          <p:nvSpPr>
            <p:cNvPr id="4" name="Freeform 4"/>
            <p:cNvSpPr/>
            <p:nvPr/>
          </p:nvSpPr>
          <p:spPr>
            <a:xfrm>
              <a:off x="0" y="0"/>
              <a:ext cx="5226780" cy="1731789"/>
            </a:xfrm>
            <a:custGeom>
              <a:avLst/>
              <a:gdLst/>
              <a:ahLst/>
              <a:cxnLst/>
              <a:rect l="l" t="t" r="r" b="b"/>
              <a:pathLst>
                <a:path w="5226780" h="1731789">
                  <a:moveTo>
                    <a:pt x="0" y="0"/>
                  </a:moveTo>
                  <a:lnTo>
                    <a:pt x="5226780" y="0"/>
                  </a:lnTo>
                  <a:lnTo>
                    <a:pt x="5226780" y="1731789"/>
                  </a:lnTo>
                  <a:lnTo>
                    <a:pt x="0" y="1731789"/>
                  </a:lnTo>
                  <a:close/>
                </a:path>
              </a:pathLst>
            </a:custGeom>
            <a:gradFill rotWithShape="1">
              <a:gsLst>
                <a:gs pos="0">
                  <a:srgbClr val="FDF7EF">
                    <a:alpha val="100000"/>
                  </a:srgbClr>
                </a:gs>
                <a:gs pos="100000">
                  <a:srgbClr val="FFFFFF">
                    <a:alpha val="100000"/>
                  </a:srgbClr>
                </a:gs>
              </a:gsLst>
              <a:lin ang="0"/>
            </a:gradFill>
            <a:ln cap="sq">
              <a:noFill/>
              <a:prstDash val="solid"/>
              <a:miter/>
            </a:ln>
          </p:spPr>
        </p:sp>
        <p:sp>
          <p:nvSpPr>
            <p:cNvPr id="5" name="TextBox 5"/>
            <p:cNvSpPr txBox="1"/>
            <p:nvPr/>
          </p:nvSpPr>
          <p:spPr>
            <a:xfrm>
              <a:off x="0" y="9525"/>
              <a:ext cx="5226780" cy="1722264"/>
            </a:xfrm>
            <a:prstGeom prst="rect">
              <a:avLst/>
            </a:prstGeom>
          </p:spPr>
          <p:txBody>
            <a:bodyPr lIns="50800" tIns="50800" rIns="50800" bIns="50800" rtlCol="0" anchor="ctr"/>
            <a:lstStyle/>
            <a:p>
              <a:pPr algn="ctr">
                <a:lnSpc>
                  <a:spcPts val="1869"/>
                </a:lnSpc>
              </a:pPr>
              <a:endParaRPr/>
            </a:p>
          </p:txBody>
        </p:sp>
      </p:grpSp>
      <p:grpSp>
        <p:nvGrpSpPr>
          <p:cNvPr id="6" name="Group 6"/>
          <p:cNvGrpSpPr/>
          <p:nvPr/>
        </p:nvGrpSpPr>
        <p:grpSpPr>
          <a:xfrm>
            <a:off x="283396" y="5207850"/>
            <a:ext cx="4660796" cy="4559502"/>
            <a:chOff x="0" y="0"/>
            <a:chExt cx="1227535" cy="1200856"/>
          </a:xfrm>
          <a:solidFill>
            <a:schemeClr val="accent3">
              <a:lumMod val="75000"/>
            </a:schemeClr>
          </a:solidFill>
        </p:grpSpPr>
        <p:sp>
          <p:nvSpPr>
            <p:cNvPr id="7" name="Freeform 7"/>
            <p:cNvSpPr/>
            <p:nvPr/>
          </p:nvSpPr>
          <p:spPr>
            <a:xfrm>
              <a:off x="0" y="0"/>
              <a:ext cx="1227535" cy="1200856"/>
            </a:xfrm>
            <a:custGeom>
              <a:avLst/>
              <a:gdLst/>
              <a:ahLst/>
              <a:cxnLst/>
              <a:rect l="l" t="t" r="r" b="b"/>
              <a:pathLst>
                <a:path w="1227535" h="1200856">
                  <a:moveTo>
                    <a:pt x="0" y="0"/>
                  </a:moveTo>
                  <a:lnTo>
                    <a:pt x="1227535" y="0"/>
                  </a:lnTo>
                  <a:lnTo>
                    <a:pt x="1227535" y="1200856"/>
                  </a:lnTo>
                  <a:lnTo>
                    <a:pt x="0" y="1200856"/>
                  </a:lnTo>
                  <a:close/>
                </a:path>
              </a:pathLst>
            </a:custGeom>
            <a:grpFill/>
          </p:spPr>
        </p:sp>
        <p:sp>
          <p:nvSpPr>
            <p:cNvPr id="8" name="TextBox 8"/>
            <p:cNvSpPr txBox="1"/>
            <p:nvPr/>
          </p:nvSpPr>
          <p:spPr>
            <a:xfrm>
              <a:off x="0" y="-47625"/>
              <a:ext cx="1227535" cy="1248481"/>
            </a:xfrm>
            <a:prstGeom prst="rect">
              <a:avLst/>
            </a:prstGeom>
            <a:grpFill/>
          </p:spPr>
          <p:txBody>
            <a:bodyPr lIns="50800" tIns="50800" rIns="50800" bIns="50800" rtlCol="0" anchor="ctr"/>
            <a:lstStyle/>
            <a:p>
              <a:pPr algn="ctr">
                <a:lnSpc>
                  <a:spcPts val="3244"/>
                </a:lnSpc>
              </a:pPr>
              <a:endParaRPr/>
            </a:p>
          </p:txBody>
        </p:sp>
      </p:grpSp>
      <p:grpSp>
        <p:nvGrpSpPr>
          <p:cNvPr id="9" name="Group 9"/>
          <p:cNvGrpSpPr/>
          <p:nvPr/>
        </p:nvGrpSpPr>
        <p:grpSpPr>
          <a:xfrm>
            <a:off x="4500827" y="1313741"/>
            <a:ext cx="2373131" cy="2411751"/>
            <a:chOff x="0" y="0"/>
            <a:chExt cx="625022" cy="635194"/>
          </a:xfrm>
          <a:solidFill>
            <a:schemeClr val="accent3">
              <a:lumMod val="75000"/>
            </a:schemeClr>
          </a:solidFill>
        </p:grpSpPr>
        <p:sp>
          <p:nvSpPr>
            <p:cNvPr id="10" name="Freeform 10"/>
            <p:cNvSpPr/>
            <p:nvPr/>
          </p:nvSpPr>
          <p:spPr>
            <a:xfrm>
              <a:off x="0" y="0"/>
              <a:ext cx="625022" cy="635194"/>
            </a:xfrm>
            <a:custGeom>
              <a:avLst/>
              <a:gdLst/>
              <a:ahLst/>
              <a:cxnLst/>
              <a:rect l="l" t="t" r="r" b="b"/>
              <a:pathLst>
                <a:path w="625022" h="635194">
                  <a:moveTo>
                    <a:pt x="0" y="0"/>
                  </a:moveTo>
                  <a:lnTo>
                    <a:pt x="625022" y="0"/>
                  </a:lnTo>
                  <a:lnTo>
                    <a:pt x="625022" y="635194"/>
                  </a:lnTo>
                  <a:lnTo>
                    <a:pt x="0" y="635194"/>
                  </a:lnTo>
                  <a:close/>
                </a:path>
              </a:pathLst>
            </a:custGeom>
            <a:grpFill/>
            <a:ln>
              <a:noFill/>
            </a:ln>
          </p:spPr>
        </p:sp>
        <p:sp>
          <p:nvSpPr>
            <p:cNvPr id="11" name="TextBox 11"/>
            <p:cNvSpPr txBox="1"/>
            <p:nvPr/>
          </p:nvSpPr>
          <p:spPr>
            <a:xfrm>
              <a:off x="0" y="-47625"/>
              <a:ext cx="625022" cy="682819"/>
            </a:xfrm>
            <a:prstGeom prst="rect">
              <a:avLst/>
            </a:prstGeom>
            <a:grpFill/>
            <a:ln>
              <a:noFill/>
            </a:ln>
          </p:spPr>
          <p:txBody>
            <a:bodyPr lIns="50800" tIns="50800" rIns="50800" bIns="50800" rtlCol="0" anchor="ctr"/>
            <a:lstStyle/>
            <a:p>
              <a:pPr algn="ctr">
                <a:lnSpc>
                  <a:spcPts val="3244"/>
                </a:lnSpc>
              </a:pPr>
              <a:endParaRPr/>
            </a:p>
          </p:txBody>
        </p:sp>
      </p:grpSp>
      <p:sp>
        <p:nvSpPr>
          <p:cNvPr id="14" name="AutoShape 14"/>
          <p:cNvSpPr/>
          <p:nvPr/>
        </p:nvSpPr>
        <p:spPr>
          <a:xfrm flipH="1" flipV="1">
            <a:off x="15971321" y="225269"/>
            <a:ext cx="33959" cy="1478654"/>
          </a:xfrm>
          <a:prstGeom prst="line">
            <a:avLst/>
          </a:prstGeom>
          <a:ln w="133350" cap="flat">
            <a:solidFill>
              <a:schemeClr val="accent3">
                <a:lumMod val="50000"/>
              </a:schemeClr>
            </a:solidFill>
            <a:prstDash val="solid"/>
            <a:headEnd type="none" w="sm" len="sm"/>
            <a:tailEnd type="none" w="sm" len="sm"/>
          </a:ln>
        </p:spPr>
      </p:sp>
      <p:sp>
        <p:nvSpPr>
          <p:cNvPr id="15" name="TextBox 15"/>
          <p:cNvSpPr txBox="1"/>
          <p:nvPr/>
        </p:nvSpPr>
        <p:spPr>
          <a:xfrm>
            <a:off x="10723983" y="-41027"/>
            <a:ext cx="4912418" cy="1002069"/>
          </a:xfrm>
          <a:prstGeom prst="rect">
            <a:avLst/>
          </a:prstGeom>
        </p:spPr>
        <p:txBody>
          <a:bodyPr wrap="square" lIns="0" tIns="0" rIns="0" bIns="0" rtlCol="0" anchor="t">
            <a:spAutoFit/>
          </a:bodyPr>
          <a:lstStyle/>
          <a:p>
            <a:pPr algn="r">
              <a:lnSpc>
                <a:spcPts val="8470"/>
              </a:lnSpc>
            </a:pPr>
            <a:r>
              <a:rPr lang="id-ID" sz="4800" b="1" spc="246" dirty="0">
                <a:solidFill>
                  <a:srgbClr val="000000"/>
                </a:solidFill>
                <a:latin typeface="HK Grotesk Light" panose="020B0604020202020204" charset="0"/>
                <a:ea typeface="Glacial Indifference Bold"/>
                <a:cs typeface="Glacial Indifference Bold"/>
                <a:sym typeface="Glacial Indifference Bold"/>
              </a:rPr>
              <a:t>PIVOT TABLE</a:t>
            </a:r>
            <a:endParaRPr lang="en-US" sz="4800" b="1" spc="246" dirty="0">
              <a:solidFill>
                <a:srgbClr val="000000"/>
              </a:solidFill>
              <a:latin typeface="HK Grotesk Light" panose="020B0604020202020204" charset="0"/>
              <a:ea typeface="Glacial Indifference Bold"/>
              <a:cs typeface="Glacial Indifference Bold"/>
              <a:sym typeface="Glacial Indifference Bold"/>
            </a:endParaRPr>
          </a:p>
        </p:txBody>
      </p:sp>
      <p:sp>
        <p:nvSpPr>
          <p:cNvPr id="16" name="TextBox 16"/>
          <p:cNvSpPr txBox="1"/>
          <p:nvPr/>
        </p:nvSpPr>
        <p:spPr>
          <a:xfrm>
            <a:off x="7315200" y="2635938"/>
            <a:ext cx="5664323" cy="4334776"/>
          </a:xfrm>
          <a:prstGeom prst="rect">
            <a:avLst/>
          </a:prstGeom>
        </p:spPr>
        <p:txBody>
          <a:bodyPr wrap="square" lIns="0" tIns="0" rIns="0" bIns="0" rtlCol="0" anchor="t">
            <a:spAutoFit/>
          </a:bodyPr>
          <a:lstStyle/>
          <a:p>
            <a:pPr algn="just">
              <a:lnSpc>
                <a:spcPts val="3822"/>
              </a:lnSpc>
            </a:pPr>
            <a:r>
              <a:rPr lang="en-US" sz="2400" b="1" dirty="0">
                <a:solidFill>
                  <a:srgbClr val="000000"/>
                </a:solidFill>
                <a:latin typeface="Aileron"/>
                <a:ea typeface="Aileron"/>
                <a:cs typeface="Aileron"/>
                <a:sym typeface="Aileron"/>
              </a:rPr>
              <a:t>Create Pivot Table</a:t>
            </a:r>
          </a:p>
          <a:p>
            <a:pPr algn="just">
              <a:lnSpc>
                <a:spcPts val="3822"/>
              </a:lnSpc>
            </a:pPr>
            <a:r>
              <a:rPr lang="en-US" sz="2400" dirty="0">
                <a:solidFill>
                  <a:srgbClr val="000000"/>
                </a:solidFill>
                <a:latin typeface="Aileron"/>
                <a:ea typeface="Aileron"/>
                <a:cs typeface="Aileron"/>
                <a:sym typeface="Aileron"/>
              </a:rPr>
              <a:t>A new Pivot Table is created in a separate sheet to analyze the sales data effectively.</a:t>
            </a:r>
          </a:p>
          <a:p>
            <a:pPr algn="just">
              <a:lnSpc>
                <a:spcPts val="3822"/>
              </a:lnSpc>
            </a:pPr>
            <a:endParaRPr lang="en-US" sz="2400" dirty="0">
              <a:solidFill>
                <a:srgbClr val="000000"/>
              </a:solidFill>
              <a:latin typeface="Aileron"/>
              <a:ea typeface="Aileron"/>
              <a:cs typeface="Aileron"/>
              <a:sym typeface="Aileron"/>
            </a:endParaRPr>
          </a:p>
          <a:p>
            <a:pPr algn="just">
              <a:lnSpc>
                <a:spcPts val="3822"/>
              </a:lnSpc>
            </a:pPr>
            <a:r>
              <a:rPr lang="en-US" sz="2400" b="1" dirty="0">
                <a:solidFill>
                  <a:srgbClr val="000000"/>
                </a:solidFill>
                <a:latin typeface="Aileron"/>
                <a:ea typeface="Aileron"/>
                <a:cs typeface="Aileron"/>
                <a:sym typeface="Aileron"/>
              </a:rPr>
              <a:t>Drag Fields into Pivot Table</a:t>
            </a:r>
          </a:p>
          <a:p>
            <a:pPr algn="just">
              <a:lnSpc>
                <a:spcPts val="3822"/>
              </a:lnSpc>
            </a:pPr>
            <a:r>
              <a:rPr lang="en-US" sz="2400" dirty="0">
                <a:solidFill>
                  <a:srgbClr val="000000"/>
                </a:solidFill>
                <a:latin typeface="Aileron"/>
                <a:ea typeface="Aileron"/>
                <a:cs typeface="Aileron"/>
                <a:sym typeface="Aileron"/>
              </a:rPr>
              <a:t>The </a:t>
            </a:r>
            <a:r>
              <a:rPr lang="en-US" sz="2400" b="1" dirty="0">
                <a:solidFill>
                  <a:srgbClr val="000000"/>
                </a:solidFill>
                <a:latin typeface="Aileron"/>
                <a:ea typeface="Aileron"/>
                <a:cs typeface="Aileron"/>
                <a:sym typeface="Aileron"/>
              </a:rPr>
              <a:t>“Order Date” </a:t>
            </a:r>
            <a:r>
              <a:rPr lang="en-US" sz="2400" dirty="0">
                <a:solidFill>
                  <a:srgbClr val="000000"/>
                </a:solidFill>
                <a:latin typeface="Aileron"/>
                <a:ea typeface="Aileron"/>
                <a:cs typeface="Aileron"/>
                <a:sym typeface="Aileron"/>
              </a:rPr>
              <a:t>field is dragged to the </a:t>
            </a:r>
            <a:r>
              <a:rPr lang="en-US" sz="2400" b="1" dirty="0">
                <a:solidFill>
                  <a:srgbClr val="000000"/>
                </a:solidFill>
                <a:latin typeface="Aileron"/>
                <a:ea typeface="Aileron"/>
                <a:cs typeface="Aileron"/>
                <a:sym typeface="Aileron"/>
              </a:rPr>
              <a:t>Rows</a:t>
            </a:r>
            <a:r>
              <a:rPr lang="en-US" sz="2400" dirty="0">
                <a:solidFill>
                  <a:srgbClr val="000000"/>
                </a:solidFill>
                <a:latin typeface="Aileron"/>
                <a:ea typeface="Aileron"/>
                <a:cs typeface="Aileron"/>
                <a:sym typeface="Aileron"/>
              </a:rPr>
              <a:t> area to organize the data by date</a:t>
            </a:r>
            <a:r>
              <a:rPr lang="en-US" sz="2400" b="1" dirty="0">
                <a:solidFill>
                  <a:srgbClr val="000000"/>
                </a:solidFill>
                <a:latin typeface="Aileron"/>
                <a:ea typeface="Aileron"/>
                <a:cs typeface="Aileron"/>
                <a:sym typeface="Aileron"/>
              </a:rPr>
              <a:t>.</a:t>
            </a:r>
          </a:p>
          <a:p>
            <a:pPr algn="just">
              <a:lnSpc>
                <a:spcPts val="3822"/>
              </a:lnSpc>
            </a:pPr>
            <a:r>
              <a:rPr lang="en-US" sz="2400" dirty="0">
                <a:solidFill>
                  <a:srgbClr val="000000"/>
                </a:solidFill>
                <a:latin typeface="Aileron"/>
                <a:ea typeface="Aileron"/>
                <a:cs typeface="Aileron"/>
                <a:sym typeface="Aileron"/>
              </a:rPr>
              <a:t>The </a:t>
            </a:r>
            <a:r>
              <a:rPr lang="en-US" sz="2400" b="1" dirty="0">
                <a:solidFill>
                  <a:srgbClr val="000000"/>
                </a:solidFill>
                <a:latin typeface="Aileron"/>
                <a:ea typeface="Aileron"/>
                <a:cs typeface="Aileron"/>
                <a:sym typeface="Aileron"/>
              </a:rPr>
              <a:t>“Sales” </a:t>
            </a:r>
            <a:r>
              <a:rPr lang="en-US" sz="2400" dirty="0">
                <a:solidFill>
                  <a:srgbClr val="000000"/>
                </a:solidFill>
                <a:latin typeface="Aileron"/>
                <a:ea typeface="Aileron"/>
                <a:cs typeface="Aileron"/>
                <a:sym typeface="Aileron"/>
              </a:rPr>
              <a:t>field is dragged to the </a:t>
            </a:r>
            <a:r>
              <a:rPr lang="en-US" sz="2400" b="1" dirty="0">
                <a:solidFill>
                  <a:srgbClr val="000000"/>
                </a:solidFill>
                <a:latin typeface="Aileron"/>
                <a:ea typeface="Aileron"/>
                <a:cs typeface="Aileron"/>
                <a:sym typeface="Aileron"/>
              </a:rPr>
              <a:t>Values</a:t>
            </a:r>
            <a:r>
              <a:rPr lang="en-US" sz="2400" dirty="0">
                <a:solidFill>
                  <a:srgbClr val="000000"/>
                </a:solidFill>
                <a:latin typeface="Aileron"/>
                <a:ea typeface="Aileron"/>
                <a:cs typeface="Aileron"/>
                <a:sym typeface="Aileron"/>
              </a:rPr>
              <a:t> area to summarize the sales data.</a:t>
            </a:r>
          </a:p>
        </p:txBody>
      </p:sp>
      <p:pic>
        <p:nvPicPr>
          <p:cNvPr id="18" name="Picture 17">
            <a:extLst>
              <a:ext uri="{FF2B5EF4-FFF2-40B4-BE49-F238E27FC236}">
                <a16:creationId xmlns:a16="http://schemas.microsoft.com/office/drawing/2014/main" id="{D87F1C0B-6666-4D94-ACFC-F6B36DE06B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4761" y="2076505"/>
            <a:ext cx="5410886" cy="6539222"/>
          </a:xfrm>
          <a:prstGeom prst="rect">
            <a:avLst/>
          </a:prstGeom>
        </p:spPr>
      </p:pic>
      <p:sp>
        <p:nvSpPr>
          <p:cNvPr id="22" name="TextBox 21">
            <a:extLst>
              <a:ext uri="{FF2B5EF4-FFF2-40B4-BE49-F238E27FC236}">
                <a16:creationId xmlns:a16="http://schemas.microsoft.com/office/drawing/2014/main" id="{1DF6374A-78B4-4356-BCCB-85E291DD2015}"/>
              </a:ext>
            </a:extLst>
          </p:cNvPr>
          <p:cNvSpPr txBox="1"/>
          <p:nvPr/>
        </p:nvSpPr>
        <p:spPr>
          <a:xfrm>
            <a:off x="8998571" y="636047"/>
            <a:ext cx="6725492" cy="1094402"/>
          </a:xfrm>
          <a:prstGeom prst="rect">
            <a:avLst/>
          </a:prstGeom>
          <a:noFill/>
        </p:spPr>
        <p:txBody>
          <a:bodyPr wrap="square">
            <a:spAutoFit/>
          </a:bodyPr>
          <a:lstStyle/>
          <a:p>
            <a:pPr algn="r">
              <a:lnSpc>
                <a:spcPts val="8470"/>
              </a:lnSpc>
            </a:pPr>
            <a:r>
              <a:rPr lang="id-ID" sz="4400" spc="246" dirty="0">
                <a:solidFill>
                  <a:srgbClr val="15210D"/>
                </a:solidFill>
                <a:latin typeface="HK Grotesk Light" panose="020B0604020202020204" charset="0"/>
                <a:ea typeface="Glacial Indifference Bold"/>
                <a:cs typeface="Glacial Indifference Bold"/>
                <a:sym typeface="Glacial Indifference Bold"/>
              </a:rPr>
              <a:t>FOR SALES ANALYSIS </a:t>
            </a:r>
            <a:endParaRPr lang="en-US" sz="4400" spc="246" dirty="0">
              <a:solidFill>
                <a:srgbClr val="15210D"/>
              </a:solidFill>
              <a:latin typeface="HK Grotesk Light" panose="020B0604020202020204" charset="0"/>
              <a:ea typeface="Glacial Indifference Bold"/>
              <a:cs typeface="Glacial Indifference Bold"/>
              <a:sym typeface="Glacial Indifference Bold"/>
            </a:endParaRPr>
          </a:p>
        </p:txBody>
      </p:sp>
      <p:sp>
        <p:nvSpPr>
          <p:cNvPr id="23" name="AutoShape 14">
            <a:extLst>
              <a:ext uri="{FF2B5EF4-FFF2-40B4-BE49-F238E27FC236}">
                <a16:creationId xmlns:a16="http://schemas.microsoft.com/office/drawing/2014/main" id="{F192C6BB-DEAA-4688-B911-2E453F8A5379}"/>
              </a:ext>
            </a:extLst>
          </p:cNvPr>
          <p:cNvSpPr/>
          <p:nvPr/>
        </p:nvSpPr>
        <p:spPr>
          <a:xfrm flipH="1" flipV="1">
            <a:off x="13208122" y="2635938"/>
            <a:ext cx="33959" cy="5365062"/>
          </a:xfrm>
          <a:prstGeom prst="line">
            <a:avLst/>
          </a:prstGeom>
          <a:ln w="6350" cap="flat">
            <a:solidFill>
              <a:schemeClr val="accent3">
                <a:lumMod val="50000"/>
              </a:schemeClr>
            </a:solidFill>
            <a:prstDash val="solid"/>
            <a:headEnd type="none" w="sm" len="sm"/>
            <a:tailEnd type="none" w="sm" len="sm"/>
          </a:ln>
        </p:spPr>
      </p:sp>
      <p:sp>
        <p:nvSpPr>
          <p:cNvPr id="26" name="TextBox 16">
            <a:extLst>
              <a:ext uri="{FF2B5EF4-FFF2-40B4-BE49-F238E27FC236}">
                <a16:creationId xmlns:a16="http://schemas.microsoft.com/office/drawing/2014/main" id="{FB9696B0-01F8-4677-9BB2-0E4A8E647A33}"/>
              </a:ext>
            </a:extLst>
          </p:cNvPr>
          <p:cNvSpPr txBox="1"/>
          <p:nvPr/>
        </p:nvSpPr>
        <p:spPr>
          <a:xfrm>
            <a:off x="13576806" y="2519616"/>
            <a:ext cx="4529764" cy="4334776"/>
          </a:xfrm>
          <a:prstGeom prst="rect">
            <a:avLst/>
          </a:prstGeom>
        </p:spPr>
        <p:txBody>
          <a:bodyPr wrap="square" lIns="0" tIns="0" rIns="0" bIns="0" rtlCol="0" anchor="t">
            <a:spAutoFit/>
          </a:bodyPr>
          <a:lstStyle/>
          <a:p>
            <a:pPr>
              <a:lnSpc>
                <a:spcPts val="3822"/>
              </a:lnSpc>
            </a:pPr>
            <a:r>
              <a:rPr lang="en-US" sz="2400" b="1" dirty="0">
                <a:solidFill>
                  <a:srgbClr val="000000"/>
                </a:solidFill>
                <a:latin typeface="Aileron"/>
                <a:ea typeface="Aileron"/>
                <a:cs typeface="Aileron"/>
                <a:sym typeface="Aileron"/>
              </a:rPr>
              <a:t>Multiple summary calculations are added to the sales data</a:t>
            </a:r>
          </a:p>
          <a:p>
            <a:pPr marL="342900" indent="-342900">
              <a:lnSpc>
                <a:spcPts val="3822"/>
              </a:lnSpc>
              <a:buFont typeface="Wingdings" panose="05000000000000000000" pitchFamily="2" charset="2"/>
              <a:buChar char="Ø"/>
            </a:pPr>
            <a:r>
              <a:rPr lang="en-US" sz="2400" b="1" dirty="0">
                <a:solidFill>
                  <a:srgbClr val="000000"/>
                </a:solidFill>
                <a:latin typeface="Aileron"/>
                <a:ea typeface="Aileron"/>
                <a:cs typeface="Aileron"/>
                <a:sym typeface="Aileron"/>
              </a:rPr>
              <a:t>Sum: </a:t>
            </a:r>
            <a:r>
              <a:rPr lang="en-US" sz="2400" dirty="0">
                <a:solidFill>
                  <a:srgbClr val="000000"/>
                </a:solidFill>
                <a:latin typeface="Aileron"/>
                <a:ea typeface="Aileron"/>
                <a:cs typeface="Aileron"/>
                <a:sym typeface="Aileron"/>
              </a:rPr>
              <a:t>Total sales for each year.</a:t>
            </a:r>
          </a:p>
          <a:p>
            <a:pPr marL="342900" indent="-342900">
              <a:lnSpc>
                <a:spcPts val="3822"/>
              </a:lnSpc>
              <a:buFont typeface="Wingdings" panose="05000000000000000000" pitchFamily="2" charset="2"/>
              <a:buChar char="Ø"/>
            </a:pPr>
            <a:r>
              <a:rPr lang="en-US" sz="2400" b="1" dirty="0">
                <a:solidFill>
                  <a:srgbClr val="000000"/>
                </a:solidFill>
                <a:latin typeface="Aileron"/>
                <a:ea typeface="Aileron"/>
                <a:cs typeface="Aileron"/>
                <a:sym typeface="Aileron"/>
              </a:rPr>
              <a:t>Average: </a:t>
            </a:r>
            <a:r>
              <a:rPr lang="en-US" sz="2400" dirty="0">
                <a:solidFill>
                  <a:srgbClr val="000000"/>
                </a:solidFill>
                <a:latin typeface="Aileron"/>
                <a:ea typeface="Aileron"/>
                <a:cs typeface="Aileron"/>
                <a:sym typeface="Aileron"/>
              </a:rPr>
              <a:t>Average sales per year.</a:t>
            </a:r>
          </a:p>
          <a:p>
            <a:pPr marL="342900" indent="-342900">
              <a:lnSpc>
                <a:spcPts val="3822"/>
              </a:lnSpc>
              <a:buFont typeface="Wingdings" panose="05000000000000000000" pitchFamily="2" charset="2"/>
              <a:buChar char="Ø"/>
            </a:pPr>
            <a:r>
              <a:rPr lang="en-US" sz="2400" b="1" dirty="0">
                <a:solidFill>
                  <a:srgbClr val="000000"/>
                </a:solidFill>
                <a:latin typeface="Aileron"/>
                <a:ea typeface="Aileron"/>
                <a:cs typeface="Aileron"/>
                <a:sym typeface="Aileron"/>
              </a:rPr>
              <a:t>Max: </a:t>
            </a:r>
            <a:r>
              <a:rPr lang="en-US" sz="2400" dirty="0">
                <a:solidFill>
                  <a:srgbClr val="000000"/>
                </a:solidFill>
                <a:latin typeface="Aileron"/>
                <a:ea typeface="Aileron"/>
                <a:cs typeface="Aileron"/>
                <a:sym typeface="Aileron"/>
              </a:rPr>
              <a:t>Maximum sales on any given year.</a:t>
            </a:r>
          </a:p>
          <a:p>
            <a:pPr marL="342900" indent="-342900">
              <a:lnSpc>
                <a:spcPts val="3822"/>
              </a:lnSpc>
              <a:buFont typeface="Wingdings" panose="05000000000000000000" pitchFamily="2" charset="2"/>
              <a:buChar char="Ø"/>
            </a:pPr>
            <a:r>
              <a:rPr lang="en-US" sz="2400" b="1" dirty="0">
                <a:solidFill>
                  <a:srgbClr val="000000"/>
                </a:solidFill>
                <a:latin typeface="Aileron"/>
                <a:ea typeface="Aileron"/>
                <a:cs typeface="Aileron"/>
                <a:sym typeface="Aileron"/>
              </a:rPr>
              <a:t>Min: </a:t>
            </a:r>
            <a:r>
              <a:rPr lang="en-US" sz="2400" dirty="0">
                <a:solidFill>
                  <a:srgbClr val="000000"/>
                </a:solidFill>
                <a:latin typeface="Aileron"/>
                <a:ea typeface="Aileron"/>
                <a:cs typeface="Aileron"/>
                <a:sym typeface="Aileron"/>
              </a:rPr>
              <a:t>Minimum sales on any given year.</a:t>
            </a:r>
            <a:endParaRPr lang="en-US" sz="2400" b="1" dirty="0">
              <a:solidFill>
                <a:srgbClr val="000000"/>
              </a:solidFill>
              <a:latin typeface="Aileron"/>
              <a:ea typeface="Aileron"/>
              <a:cs typeface="Aileron"/>
              <a:sym typeface="Ailero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5053180" y="4812617"/>
            <a:ext cx="13030200" cy="1557862"/>
          </a:xfrm>
          <a:prstGeom prst="rect">
            <a:avLst/>
          </a:prstGeom>
        </p:spPr>
        <p:txBody>
          <a:bodyPr wrap="square" lIns="0" tIns="0" rIns="0" bIns="0" rtlCol="0" anchor="t">
            <a:spAutoFit/>
          </a:bodyPr>
          <a:lstStyle/>
          <a:p>
            <a:pPr algn="just">
              <a:lnSpc>
                <a:spcPts val="4159"/>
              </a:lnSpc>
            </a:pPr>
            <a:r>
              <a:rPr lang="en-US" sz="2599" dirty="0">
                <a:solidFill>
                  <a:srgbClr val="253439"/>
                </a:solidFill>
                <a:latin typeface="Aileron"/>
                <a:ea typeface="Aileron"/>
                <a:cs typeface="Aileron"/>
                <a:sym typeface="Aileron"/>
              </a:rPr>
              <a:t>Select the cells containing the sales data in the Pivot Table. Right click and choose </a:t>
            </a:r>
            <a:r>
              <a:rPr lang="en-US" sz="2599" b="1" dirty="0">
                <a:solidFill>
                  <a:srgbClr val="253439"/>
                </a:solidFill>
                <a:latin typeface="Aileron"/>
                <a:ea typeface="Aileron"/>
                <a:cs typeface="Aileron"/>
                <a:sym typeface="Aileron"/>
              </a:rPr>
              <a:t>Format Cells. </a:t>
            </a:r>
            <a:r>
              <a:rPr lang="en-US" sz="2599" dirty="0">
                <a:solidFill>
                  <a:srgbClr val="253439"/>
                </a:solidFill>
                <a:latin typeface="Aileron"/>
                <a:ea typeface="Aileron"/>
                <a:cs typeface="Aileron"/>
                <a:sym typeface="Aileron"/>
              </a:rPr>
              <a:t>In the </a:t>
            </a:r>
            <a:r>
              <a:rPr lang="en-US" sz="2599" b="1" dirty="0">
                <a:solidFill>
                  <a:srgbClr val="253439"/>
                </a:solidFill>
                <a:latin typeface="Aileron"/>
                <a:ea typeface="Aileron"/>
                <a:cs typeface="Aileron"/>
                <a:sym typeface="Aileron"/>
              </a:rPr>
              <a:t>Number </a:t>
            </a:r>
            <a:r>
              <a:rPr lang="en-US" sz="2599" dirty="0">
                <a:solidFill>
                  <a:srgbClr val="253439"/>
                </a:solidFill>
                <a:latin typeface="Aileron"/>
                <a:ea typeface="Aileron"/>
                <a:cs typeface="Aileron"/>
                <a:sym typeface="Aileron"/>
              </a:rPr>
              <a:t>tab, select </a:t>
            </a:r>
            <a:r>
              <a:rPr lang="en-US" sz="2599" b="1" dirty="0">
                <a:solidFill>
                  <a:srgbClr val="253439"/>
                </a:solidFill>
                <a:latin typeface="Aileron"/>
                <a:ea typeface="Aileron"/>
                <a:cs typeface="Aileron"/>
                <a:sym typeface="Aileron"/>
              </a:rPr>
              <a:t>Accounting </a:t>
            </a:r>
            <a:r>
              <a:rPr lang="en-US" sz="2599" dirty="0">
                <a:solidFill>
                  <a:srgbClr val="253439"/>
                </a:solidFill>
                <a:latin typeface="Aileron"/>
                <a:ea typeface="Aileron"/>
                <a:cs typeface="Aileron"/>
                <a:sym typeface="Aileron"/>
              </a:rPr>
              <a:t>from the list of formats. This ensures that the values are displayed with currency symbols and proper decimal places.</a:t>
            </a:r>
          </a:p>
        </p:txBody>
      </p:sp>
      <p:sp>
        <p:nvSpPr>
          <p:cNvPr id="3" name="TextBox 3"/>
          <p:cNvSpPr txBox="1"/>
          <p:nvPr/>
        </p:nvSpPr>
        <p:spPr>
          <a:xfrm>
            <a:off x="9677400" y="1940330"/>
            <a:ext cx="7672579" cy="2096471"/>
          </a:xfrm>
          <a:prstGeom prst="rect">
            <a:avLst/>
          </a:prstGeom>
        </p:spPr>
        <p:txBody>
          <a:bodyPr wrap="square" lIns="0" tIns="0" rIns="0" bIns="0" rtlCol="0" anchor="t">
            <a:spAutoFit/>
          </a:bodyPr>
          <a:lstStyle/>
          <a:p>
            <a:pPr algn="l">
              <a:lnSpc>
                <a:spcPts val="4159"/>
              </a:lnSpc>
            </a:pPr>
            <a:r>
              <a:rPr lang="en-US" sz="2599" b="1" dirty="0">
                <a:solidFill>
                  <a:srgbClr val="253439"/>
                </a:solidFill>
                <a:latin typeface="Aileron"/>
                <a:ea typeface="Aileron"/>
                <a:cs typeface="Aileron"/>
                <a:sym typeface="Aileron"/>
              </a:rPr>
              <a:t>Change Cell Format to Accounting</a:t>
            </a:r>
          </a:p>
          <a:p>
            <a:pPr algn="l">
              <a:lnSpc>
                <a:spcPts val="4159"/>
              </a:lnSpc>
            </a:pPr>
            <a:r>
              <a:rPr lang="en-US" sz="2599" dirty="0">
                <a:solidFill>
                  <a:srgbClr val="253439"/>
                </a:solidFill>
                <a:latin typeface="Aileron"/>
                <a:ea typeface="Aileron"/>
                <a:cs typeface="Aileron"/>
                <a:sym typeface="Aileron"/>
              </a:rPr>
              <a:t>After creating the Pivot Table, the format of the sales values is changed to accounting for better readability and to show currency symbols.</a:t>
            </a:r>
          </a:p>
        </p:txBody>
      </p:sp>
      <p:sp>
        <p:nvSpPr>
          <p:cNvPr id="4" name="TextBox 4"/>
          <p:cNvSpPr txBox="1"/>
          <p:nvPr/>
        </p:nvSpPr>
        <p:spPr>
          <a:xfrm>
            <a:off x="1132728" y="852697"/>
            <a:ext cx="9454479" cy="961802"/>
          </a:xfrm>
          <a:prstGeom prst="rect">
            <a:avLst/>
          </a:prstGeom>
        </p:spPr>
        <p:txBody>
          <a:bodyPr lIns="0" tIns="0" rIns="0" bIns="0" rtlCol="0" anchor="t">
            <a:spAutoFit/>
          </a:bodyPr>
          <a:lstStyle/>
          <a:p>
            <a:pPr algn="l">
              <a:lnSpc>
                <a:spcPts val="8162"/>
              </a:lnSpc>
            </a:pPr>
            <a:r>
              <a:rPr lang="en-US" sz="4400" b="1" dirty="0">
                <a:solidFill>
                  <a:srgbClr val="253439"/>
                </a:solidFill>
                <a:latin typeface="Glacial Indifference Bold"/>
                <a:ea typeface="Glacial Indifference Bold"/>
                <a:cs typeface="Glacial Indifference Bold"/>
                <a:sym typeface="Glacial Indifference Bold"/>
              </a:rPr>
              <a:t>PIVOT TABLE</a:t>
            </a:r>
          </a:p>
        </p:txBody>
      </p:sp>
      <p:sp>
        <p:nvSpPr>
          <p:cNvPr id="5" name="TextBox 5"/>
          <p:cNvSpPr txBox="1"/>
          <p:nvPr/>
        </p:nvSpPr>
        <p:spPr>
          <a:xfrm>
            <a:off x="1132728" y="260465"/>
            <a:ext cx="7216494" cy="886653"/>
          </a:xfrm>
          <a:prstGeom prst="rect">
            <a:avLst/>
          </a:prstGeom>
        </p:spPr>
        <p:txBody>
          <a:bodyPr lIns="0" tIns="0" rIns="0" bIns="0" rtlCol="0" anchor="t">
            <a:spAutoFit/>
          </a:bodyPr>
          <a:lstStyle/>
          <a:p>
            <a:pPr algn="l">
              <a:lnSpc>
                <a:spcPts val="7260"/>
              </a:lnSpc>
            </a:pPr>
            <a:r>
              <a:rPr lang="en-US" sz="4400" spc="211" dirty="0">
                <a:solidFill>
                  <a:srgbClr val="000000"/>
                </a:solidFill>
                <a:latin typeface="HK Grotesk"/>
                <a:ea typeface="HK Grotesk"/>
                <a:cs typeface="HK Grotesk"/>
                <a:sym typeface="HK Grotesk"/>
              </a:rPr>
              <a:t>FORMATTING</a:t>
            </a:r>
          </a:p>
        </p:txBody>
      </p:sp>
      <p:sp>
        <p:nvSpPr>
          <p:cNvPr id="6" name="AutoShape 6"/>
          <p:cNvSpPr/>
          <p:nvPr/>
        </p:nvSpPr>
        <p:spPr>
          <a:xfrm>
            <a:off x="609600" y="413053"/>
            <a:ext cx="0" cy="1225247"/>
          </a:xfrm>
          <a:prstGeom prst="line">
            <a:avLst/>
          </a:prstGeom>
          <a:ln w="133350" cap="flat">
            <a:solidFill>
              <a:schemeClr val="accent3">
                <a:lumMod val="50000"/>
              </a:schemeClr>
            </a:solidFill>
            <a:prstDash val="solid"/>
            <a:headEnd type="none" w="sm" len="sm"/>
            <a:tailEnd type="none" w="sm" len="sm"/>
          </a:ln>
        </p:spPr>
      </p:sp>
      <p:pic>
        <p:nvPicPr>
          <p:cNvPr id="10" name="Picture 9">
            <a:extLst>
              <a:ext uri="{FF2B5EF4-FFF2-40B4-BE49-F238E27FC236}">
                <a16:creationId xmlns:a16="http://schemas.microsoft.com/office/drawing/2014/main" id="{AE19265B-7F5F-46A9-A2F3-834BE522192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57527" y="2020335"/>
            <a:ext cx="8921973" cy="2324499"/>
          </a:xfrm>
          <a:prstGeom prst="rect">
            <a:avLst/>
          </a:prstGeom>
        </p:spPr>
      </p:pic>
      <p:pic>
        <p:nvPicPr>
          <p:cNvPr id="12" name="Picture 11">
            <a:extLst>
              <a:ext uri="{FF2B5EF4-FFF2-40B4-BE49-F238E27FC236}">
                <a16:creationId xmlns:a16="http://schemas.microsoft.com/office/drawing/2014/main" id="{1B4D0E6B-1EED-46F4-B673-44DBDC2A62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73666" y="6570295"/>
            <a:ext cx="9121902" cy="2324499"/>
          </a:xfrm>
          <a:prstGeom prst="rect">
            <a:avLst/>
          </a:prstGeom>
        </p:spPr>
      </p:pic>
      <p:pic>
        <p:nvPicPr>
          <p:cNvPr id="14" name="Picture 13">
            <a:extLst>
              <a:ext uri="{FF2B5EF4-FFF2-40B4-BE49-F238E27FC236}">
                <a16:creationId xmlns:a16="http://schemas.microsoft.com/office/drawing/2014/main" id="{E97F1C73-1804-4D43-A122-FA8274C586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7527" y="4953219"/>
            <a:ext cx="4487021" cy="4082177"/>
          </a:xfrm>
          <a:prstGeom prst="rect">
            <a:avLst/>
          </a:prstGeom>
        </p:spPr>
      </p:pic>
      <p:sp>
        <p:nvSpPr>
          <p:cNvPr id="7" name="Freeform 7"/>
          <p:cNvSpPr/>
          <p:nvPr/>
        </p:nvSpPr>
        <p:spPr>
          <a:xfrm rot="-10800000">
            <a:off x="11568280" y="-1847218"/>
            <a:ext cx="11173984" cy="7393795"/>
          </a:xfrm>
          <a:custGeom>
            <a:avLst/>
            <a:gdLst/>
            <a:ahLst/>
            <a:cxnLst/>
            <a:rect l="l" t="t" r="r" b="b"/>
            <a:pathLst>
              <a:path w="11173984" h="7393795">
                <a:moveTo>
                  <a:pt x="0" y="0"/>
                </a:moveTo>
                <a:lnTo>
                  <a:pt x="11173984" y="0"/>
                </a:lnTo>
                <a:lnTo>
                  <a:pt x="11173984" y="7393795"/>
                </a:lnTo>
                <a:lnTo>
                  <a:pt x="0" y="739379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TextBox 2">
            <a:extLst>
              <a:ext uri="{FF2B5EF4-FFF2-40B4-BE49-F238E27FC236}">
                <a16:creationId xmlns:a16="http://schemas.microsoft.com/office/drawing/2014/main" id="{9DF62C99-A42E-4F57-BE8D-DB4C73EF8B84}"/>
              </a:ext>
            </a:extLst>
          </p:cNvPr>
          <p:cNvSpPr txBox="1"/>
          <p:nvPr/>
        </p:nvSpPr>
        <p:spPr>
          <a:xfrm>
            <a:off x="5053180" y="6354150"/>
            <a:ext cx="3048000" cy="3173689"/>
          </a:xfrm>
          <a:prstGeom prst="rect">
            <a:avLst/>
          </a:prstGeom>
        </p:spPr>
        <p:txBody>
          <a:bodyPr wrap="square" lIns="0" tIns="0" rIns="0" bIns="0" rtlCol="0" anchor="t">
            <a:spAutoFit/>
          </a:bodyPr>
          <a:lstStyle/>
          <a:p>
            <a:pPr algn="just">
              <a:lnSpc>
                <a:spcPts val="4159"/>
              </a:lnSpc>
            </a:pPr>
            <a:r>
              <a:rPr lang="en-US" sz="2599" dirty="0">
                <a:solidFill>
                  <a:srgbClr val="253439"/>
                </a:solidFill>
                <a:latin typeface="Aileron"/>
                <a:ea typeface="Aileron"/>
                <a:cs typeface="Aileron"/>
                <a:sym typeface="Aileron"/>
              </a:rPr>
              <a:t>The sales data is now formatted to show currency values, making it easier to interpret financial figures in</a:t>
            </a:r>
          </a:p>
        </p:txBody>
      </p:sp>
      <p:sp>
        <p:nvSpPr>
          <p:cNvPr id="17" name="TextBox 16">
            <a:extLst>
              <a:ext uri="{FF2B5EF4-FFF2-40B4-BE49-F238E27FC236}">
                <a16:creationId xmlns:a16="http://schemas.microsoft.com/office/drawing/2014/main" id="{73EB8F7A-E645-49C7-A6C5-1BB4D772D272}"/>
              </a:ext>
            </a:extLst>
          </p:cNvPr>
          <p:cNvSpPr txBox="1"/>
          <p:nvPr/>
        </p:nvSpPr>
        <p:spPr>
          <a:xfrm>
            <a:off x="7825904" y="9035396"/>
            <a:ext cx="11375570" cy="492443"/>
          </a:xfrm>
          <a:prstGeom prst="rect">
            <a:avLst/>
          </a:prstGeom>
          <a:noFill/>
        </p:spPr>
        <p:txBody>
          <a:bodyPr wrap="square">
            <a:spAutoFit/>
          </a:bodyPr>
          <a:lstStyle/>
          <a:p>
            <a:r>
              <a:rPr lang="en-US" sz="2600" dirty="0">
                <a:solidFill>
                  <a:srgbClr val="253439"/>
                </a:solidFill>
                <a:latin typeface="Aileron"/>
                <a:ea typeface="Aileron"/>
                <a:cs typeface="Aileron"/>
                <a:sym typeface="Aileron"/>
              </a:rPr>
              <a:t>the analysis</a:t>
            </a:r>
            <a:r>
              <a:rPr lang="en-US" dirty="0">
                <a:solidFill>
                  <a:srgbClr val="253439"/>
                </a:solidFill>
                <a:latin typeface="Aileron"/>
                <a:ea typeface="Aileron"/>
                <a:cs typeface="Aileron"/>
                <a:sym typeface="Aileron"/>
              </a:rPr>
              <a:t>.</a:t>
            </a:r>
            <a:endParaRPr lang="id-ID"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53439"/>
        </a:solidFill>
        <a:effectLst/>
      </p:bgPr>
    </p:bg>
    <p:spTree>
      <p:nvGrpSpPr>
        <p:cNvPr id="1" name=""/>
        <p:cNvGrpSpPr/>
        <p:nvPr/>
      </p:nvGrpSpPr>
      <p:grpSpPr>
        <a:xfrm>
          <a:off x="0" y="0"/>
          <a:ext cx="0" cy="0"/>
          <a:chOff x="0" y="0"/>
          <a:chExt cx="0" cy="0"/>
        </a:xfrm>
      </p:grpSpPr>
      <p:grpSp>
        <p:nvGrpSpPr>
          <p:cNvPr id="2" name="Group 2"/>
          <p:cNvGrpSpPr/>
          <p:nvPr/>
        </p:nvGrpSpPr>
        <p:grpSpPr>
          <a:xfrm>
            <a:off x="-1" y="-1"/>
            <a:ext cx="8329879" cy="10287001"/>
            <a:chOff x="0" y="0"/>
            <a:chExt cx="1846378" cy="2524471"/>
          </a:xfrm>
        </p:grpSpPr>
        <p:sp>
          <p:nvSpPr>
            <p:cNvPr id="3" name="Freeform 3"/>
            <p:cNvSpPr/>
            <p:nvPr/>
          </p:nvSpPr>
          <p:spPr>
            <a:xfrm>
              <a:off x="0" y="0"/>
              <a:ext cx="1846378" cy="2524471"/>
            </a:xfrm>
            <a:custGeom>
              <a:avLst/>
              <a:gdLst/>
              <a:ahLst/>
              <a:cxnLst/>
              <a:rect l="l" t="t" r="r" b="b"/>
              <a:pathLst>
                <a:path w="1846378" h="2524471">
                  <a:moveTo>
                    <a:pt x="0" y="0"/>
                  </a:moveTo>
                  <a:lnTo>
                    <a:pt x="1846378" y="0"/>
                  </a:lnTo>
                  <a:lnTo>
                    <a:pt x="1846378" y="2524471"/>
                  </a:lnTo>
                  <a:lnTo>
                    <a:pt x="0" y="2524471"/>
                  </a:lnTo>
                  <a:close/>
                </a:path>
              </a:pathLst>
            </a:custGeom>
            <a:gradFill rotWithShape="1">
              <a:gsLst>
                <a:gs pos="0">
                  <a:srgbClr val="FDF7EF">
                    <a:alpha val="100000"/>
                  </a:srgbClr>
                </a:gs>
                <a:gs pos="100000">
                  <a:srgbClr val="FFFFFF">
                    <a:alpha val="100000"/>
                  </a:srgbClr>
                </a:gs>
              </a:gsLst>
              <a:lin ang="0"/>
            </a:gradFill>
            <a:ln cap="sq">
              <a:noFill/>
              <a:prstDash val="solid"/>
              <a:miter/>
            </a:ln>
          </p:spPr>
        </p:sp>
        <p:sp>
          <p:nvSpPr>
            <p:cNvPr id="4" name="TextBox 4"/>
            <p:cNvSpPr txBox="1"/>
            <p:nvPr/>
          </p:nvSpPr>
          <p:spPr>
            <a:xfrm>
              <a:off x="0" y="9525"/>
              <a:ext cx="1846378" cy="2514946"/>
            </a:xfrm>
            <a:prstGeom prst="rect">
              <a:avLst/>
            </a:prstGeom>
          </p:spPr>
          <p:txBody>
            <a:bodyPr lIns="50800" tIns="50800" rIns="50800" bIns="50800" rtlCol="0" anchor="ctr"/>
            <a:lstStyle/>
            <a:p>
              <a:pPr algn="ctr">
                <a:lnSpc>
                  <a:spcPts val="1869"/>
                </a:lnSpc>
              </a:pPr>
              <a:endParaRPr/>
            </a:p>
          </p:txBody>
        </p:sp>
      </p:grpSp>
      <p:sp>
        <p:nvSpPr>
          <p:cNvPr id="6" name="AutoShape 6"/>
          <p:cNvSpPr/>
          <p:nvPr/>
        </p:nvSpPr>
        <p:spPr>
          <a:xfrm>
            <a:off x="381000" y="68539"/>
            <a:ext cx="0" cy="841123"/>
          </a:xfrm>
          <a:prstGeom prst="line">
            <a:avLst/>
          </a:prstGeom>
          <a:ln w="133350" cap="flat">
            <a:solidFill>
              <a:schemeClr val="accent3">
                <a:lumMod val="50000"/>
              </a:schemeClr>
            </a:solidFill>
            <a:prstDash val="solid"/>
            <a:headEnd type="none" w="sm" len="sm"/>
            <a:tailEnd type="none" w="sm" len="sm"/>
          </a:ln>
        </p:spPr>
      </p:sp>
      <p:sp>
        <p:nvSpPr>
          <p:cNvPr id="9" name="TextBox 9"/>
          <p:cNvSpPr txBox="1"/>
          <p:nvPr/>
        </p:nvSpPr>
        <p:spPr>
          <a:xfrm>
            <a:off x="381001" y="5212187"/>
            <a:ext cx="7621449" cy="4810291"/>
          </a:xfrm>
          <a:prstGeom prst="rect">
            <a:avLst/>
          </a:prstGeom>
        </p:spPr>
        <p:txBody>
          <a:bodyPr wrap="square" lIns="0" tIns="0" rIns="0" bIns="0" rtlCol="0" anchor="t">
            <a:spAutoFit/>
          </a:bodyPr>
          <a:lstStyle/>
          <a:p>
            <a:pPr algn="l">
              <a:lnSpc>
                <a:spcPts val="3821"/>
              </a:lnSpc>
            </a:pPr>
            <a:r>
              <a:rPr lang="en-US" sz="2400" b="1" dirty="0">
                <a:solidFill>
                  <a:srgbClr val="000000"/>
                </a:solidFill>
                <a:latin typeface="Aileron"/>
                <a:ea typeface="Aileron"/>
                <a:cs typeface="Aileron"/>
                <a:sym typeface="Aileron"/>
              </a:rPr>
              <a:t>Create New Worksheet for Dashboard</a:t>
            </a:r>
          </a:p>
          <a:p>
            <a:pPr algn="l">
              <a:lnSpc>
                <a:spcPts val="3821"/>
              </a:lnSpc>
            </a:pPr>
            <a:r>
              <a:rPr lang="en-US" sz="2000" dirty="0">
                <a:solidFill>
                  <a:srgbClr val="000000"/>
                </a:solidFill>
                <a:latin typeface="Aileron"/>
                <a:ea typeface="Aileron"/>
                <a:cs typeface="Aileron"/>
                <a:sym typeface="Aileron"/>
              </a:rPr>
              <a:t>A new worksheet is created specifically for the dashboard design.</a:t>
            </a:r>
          </a:p>
          <a:p>
            <a:pPr algn="l">
              <a:lnSpc>
                <a:spcPts val="3821"/>
              </a:lnSpc>
            </a:pPr>
            <a:r>
              <a:rPr lang="en-US" sz="2400" b="1" dirty="0">
                <a:solidFill>
                  <a:srgbClr val="000000"/>
                </a:solidFill>
                <a:latin typeface="Aileron"/>
                <a:ea typeface="Aileron"/>
                <a:cs typeface="Aileron"/>
                <a:sym typeface="Aileron"/>
              </a:rPr>
              <a:t>Prepare Worksheet Settings</a:t>
            </a:r>
          </a:p>
          <a:p>
            <a:pPr marL="457200" indent="-457200" algn="l">
              <a:lnSpc>
                <a:spcPts val="3821"/>
              </a:lnSpc>
              <a:buFont typeface="Wingdings" panose="05000000000000000000" pitchFamily="2" charset="2"/>
              <a:buChar char="Ø"/>
            </a:pPr>
            <a:r>
              <a:rPr lang="en-US" sz="2000" b="1" dirty="0">
                <a:solidFill>
                  <a:srgbClr val="000000"/>
                </a:solidFill>
                <a:latin typeface="Aileron"/>
                <a:ea typeface="Aileron"/>
                <a:cs typeface="Aileron"/>
                <a:sym typeface="Aileron"/>
              </a:rPr>
              <a:t>Turn off Gridlines: </a:t>
            </a:r>
            <a:r>
              <a:rPr lang="en-US" sz="2000" dirty="0">
                <a:solidFill>
                  <a:srgbClr val="000000"/>
                </a:solidFill>
                <a:latin typeface="Aileron"/>
                <a:ea typeface="Aileron"/>
                <a:cs typeface="Aileron"/>
                <a:sym typeface="Aileron"/>
              </a:rPr>
              <a:t>The gridlines are remove to create a clean layout for the dashboard.</a:t>
            </a:r>
          </a:p>
          <a:p>
            <a:pPr marL="457200" indent="-457200" algn="l">
              <a:lnSpc>
                <a:spcPts val="3821"/>
              </a:lnSpc>
              <a:buFont typeface="Wingdings" panose="05000000000000000000" pitchFamily="2" charset="2"/>
              <a:buChar char="Ø"/>
            </a:pPr>
            <a:r>
              <a:rPr lang="en-US" sz="2000" b="1" dirty="0">
                <a:solidFill>
                  <a:srgbClr val="000000"/>
                </a:solidFill>
                <a:latin typeface="Aileron"/>
                <a:ea typeface="Aileron"/>
                <a:cs typeface="Aileron"/>
                <a:sym typeface="Aileron"/>
              </a:rPr>
              <a:t>Change Page Orientation:</a:t>
            </a:r>
            <a:r>
              <a:rPr lang="en-US" sz="2000" dirty="0">
                <a:solidFill>
                  <a:srgbClr val="000000"/>
                </a:solidFill>
                <a:latin typeface="Aileron"/>
                <a:ea typeface="Aileron"/>
                <a:cs typeface="Aileron"/>
                <a:sym typeface="Aileron"/>
              </a:rPr>
              <a:t> The orientation is set to </a:t>
            </a:r>
            <a:r>
              <a:rPr lang="en-US" sz="2000" b="1" dirty="0">
                <a:solidFill>
                  <a:srgbClr val="000000"/>
                </a:solidFill>
                <a:latin typeface="Aileron"/>
                <a:ea typeface="Aileron"/>
                <a:cs typeface="Aileron"/>
                <a:sym typeface="Aileron"/>
              </a:rPr>
              <a:t>Landscape</a:t>
            </a:r>
            <a:r>
              <a:rPr lang="en-US" sz="2000" dirty="0">
                <a:solidFill>
                  <a:srgbClr val="000000"/>
                </a:solidFill>
                <a:latin typeface="Aileron"/>
                <a:ea typeface="Aileron"/>
                <a:cs typeface="Aileron"/>
                <a:sym typeface="Aileron"/>
              </a:rPr>
              <a:t> to give more horizontal space for the dashboard.</a:t>
            </a:r>
          </a:p>
          <a:p>
            <a:pPr marL="457200" indent="-457200" algn="l">
              <a:lnSpc>
                <a:spcPts val="3821"/>
              </a:lnSpc>
              <a:buFont typeface="Wingdings" panose="05000000000000000000" pitchFamily="2" charset="2"/>
              <a:buChar char="Ø"/>
            </a:pPr>
            <a:r>
              <a:rPr lang="en-US" sz="2000" b="1" dirty="0">
                <a:solidFill>
                  <a:srgbClr val="000000"/>
                </a:solidFill>
                <a:latin typeface="Aileron"/>
                <a:ea typeface="Aileron"/>
                <a:cs typeface="Aileron"/>
                <a:sym typeface="Aileron"/>
              </a:rPr>
              <a:t>Set Page Size: </a:t>
            </a:r>
            <a:r>
              <a:rPr lang="en-US" sz="2000" dirty="0">
                <a:solidFill>
                  <a:srgbClr val="000000"/>
                </a:solidFill>
                <a:latin typeface="Aileron"/>
                <a:ea typeface="Aileron"/>
                <a:cs typeface="Aileron"/>
                <a:sym typeface="Aileron"/>
              </a:rPr>
              <a:t>The page size is adjusted to </a:t>
            </a:r>
            <a:r>
              <a:rPr lang="en-US" sz="2000" b="1" dirty="0">
                <a:solidFill>
                  <a:srgbClr val="000000"/>
                </a:solidFill>
                <a:latin typeface="Aileron"/>
                <a:ea typeface="Aileron"/>
                <a:cs typeface="Aileron"/>
                <a:sym typeface="Aileron"/>
              </a:rPr>
              <a:t>A3 </a:t>
            </a:r>
            <a:r>
              <a:rPr lang="en-US" sz="2000" dirty="0">
                <a:solidFill>
                  <a:srgbClr val="000000"/>
                </a:solidFill>
                <a:latin typeface="Aileron"/>
                <a:ea typeface="Aileron"/>
                <a:cs typeface="Aileron"/>
                <a:sym typeface="Aileron"/>
              </a:rPr>
              <a:t>(11.69” x 16.54”) for better presentation.</a:t>
            </a:r>
          </a:p>
          <a:p>
            <a:pPr marL="457200" indent="-457200" algn="l">
              <a:lnSpc>
                <a:spcPts val="3821"/>
              </a:lnSpc>
              <a:buFont typeface="Wingdings" panose="05000000000000000000" pitchFamily="2" charset="2"/>
              <a:buChar char="Ø"/>
            </a:pPr>
            <a:endParaRPr lang="en-US" sz="2000" dirty="0">
              <a:solidFill>
                <a:srgbClr val="000000"/>
              </a:solidFill>
              <a:latin typeface="Aileron"/>
              <a:ea typeface="Aileron"/>
              <a:cs typeface="Aileron"/>
              <a:sym typeface="Aileron"/>
            </a:endParaRPr>
          </a:p>
        </p:txBody>
      </p:sp>
      <p:sp>
        <p:nvSpPr>
          <p:cNvPr id="10" name="TextBox 10"/>
          <p:cNvSpPr txBox="1"/>
          <p:nvPr/>
        </p:nvSpPr>
        <p:spPr>
          <a:xfrm>
            <a:off x="736850" y="-80994"/>
            <a:ext cx="8956568" cy="990656"/>
          </a:xfrm>
          <a:prstGeom prst="rect">
            <a:avLst/>
          </a:prstGeom>
        </p:spPr>
        <p:txBody>
          <a:bodyPr wrap="square" lIns="0" tIns="0" rIns="0" bIns="0" rtlCol="0" anchor="t">
            <a:spAutoFit/>
          </a:bodyPr>
          <a:lstStyle/>
          <a:p>
            <a:pPr algn="l">
              <a:lnSpc>
                <a:spcPts val="8470"/>
              </a:lnSpc>
            </a:pPr>
            <a:r>
              <a:rPr lang="en-US" sz="4800" b="1" spc="254" dirty="0">
                <a:solidFill>
                  <a:srgbClr val="000000"/>
                </a:solidFill>
                <a:latin typeface="Glacial Indifference Bold"/>
                <a:ea typeface="Glacial Indifference Bold"/>
                <a:cs typeface="Glacial Indifference Bold"/>
                <a:sym typeface="Glacial Indifference Bold"/>
              </a:rPr>
              <a:t>PREPARING DASHBOARD</a:t>
            </a:r>
          </a:p>
        </p:txBody>
      </p:sp>
      <p:sp>
        <p:nvSpPr>
          <p:cNvPr id="5" name="Freeform 5"/>
          <p:cNvSpPr/>
          <p:nvPr/>
        </p:nvSpPr>
        <p:spPr>
          <a:xfrm rot="10800000">
            <a:off x="6354606" y="-1903710"/>
            <a:ext cx="20209482" cy="13372559"/>
          </a:xfrm>
          <a:custGeom>
            <a:avLst/>
            <a:gdLst/>
            <a:ahLst/>
            <a:cxnLst/>
            <a:rect l="l" t="t" r="r" b="b"/>
            <a:pathLst>
              <a:path w="20209482" h="13372559">
                <a:moveTo>
                  <a:pt x="0" y="0"/>
                </a:moveTo>
                <a:lnTo>
                  <a:pt x="20209482" y="0"/>
                </a:lnTo>
                <a:lnTo>
                  <a:pt x="20209482" y="13372559"/>
                </a:lnTo>
                <a:lnTo>
                  <a:pt x="0" y="133725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id-ID" dirty="0"/>
          </a:p>
        </p:txBody>
      </p:sp>
      <p:pic>
        <p:nvPicPr>
          <p:cNvPr id="12" name="Picture 11">
            <a:extLst>
              <a:ext uri="{FF2B5EF4-FFF2-40B4-BE49-F238E27FC236}">
                <a16:creationId xmlns:a16="http://schemas.microsoft.com/office/drawing/2014/main" id="{5A1CE4C4-E8DC-4A1A-8D50-49E6AF5481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426" y="1051686"/>
            <a:ext cx="7675024" cy="4111220"/>
          </a:xfrm>
          <a:prstGeom prst="rect">
            <a:avLst/>
          </a:prstGeom>
        </p:spPr>
      </p:pic>
      <p:pic>
        <p:nvPicPr>
          <p:cNvPr id="13" name="Picture 12">
            <a:extLst>
              <a:ext uri="{FF2B5EF4-FFF2-40B4-BE49-F238E27FC236}">
                <a16:creationId xmlns:a16="http://schemas.microsoft.com/office/drawing/2014/main" id="{D0238584-9F9F-4DB9-916A-7A90F645C508}"/>
              </a:ext>
            </a:extLst>
          </p:cNvPr>
          <p:cNvPicPr>
            <a:picLocks noChangeAspect="1"/>
          </p:cNvPicPr>
          <p:nvPr/>
        </p:nvPicPr>
        <p:blipFill rotWithShape="1">
          <a:blip r:embed="rId4">
            <a:extLst>
              <a:ext uri="{28A0092B-C50C-407E-A947-70E740481C1C}">
                <a14:useLocalDpi xmlns:a14="http://schemas.microsoft.com/office/drawing/2010/main" val="0"/>
              </a:ext>
            </a:extLst>
          </a:blip>
          <a:srcRect l="14812" t="10882" r="75873" b="80975"/>
          <a:stretch/>
        </p:blipFill>
        <p:spPr>
          <a:xfrm>
            <a:off x="3641769" y="1315933"/>
            <a:ext cx="2590800" cy="1213203"/>
          </a:xfrm>
          <a:prstGeom prst="rect">
            <a:avLst/>
          </a:prstGeom>
          <a:ln w="38100">
            <a:solidFill>
              <a:srgbClr val="FF0000"/>
            </a:solidFill>
          </a:ln>
        </p:spPr>
      </p:pic>
      <p:cxnSp>
        <p:nvCxnSpPr>
          <p:cNvPr id="15" name="Straight Connector 14">
            <a:extLst>
              <a:ext uri="{FF2B5EF4-FFF2-40B4-BE49-F238E27FC236}">
                <a16:creationId xmlns:a16="http://schemas.microsoft.com/office/drawing/2014/main" id="{587CCED4-3447-4790-838A-3E200F81FE73}"/>
              </a:ext>
            </a:extLst>
          </p:cNvPr>
          <p:cNvCxnSpPr>
            <a:cxnSpLocks/>
            <a:endCxn id="13" idx="1"/>
          </p:cNvCxnSpPr>
          <p:nvPr/>
        </p:nvCxnSpPr>
        <p:spPr>
          <a:xfrm>
            <a:off x="1828653" y="1751505"/>
            <a:ext cx="1813116" cy="17103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F87F59CB-F99D-42C1-8749-5ECD44FBD832}"/>
              </a:ext>
            </a:extLst>
          </p:cNvPr>
          <p:cNvPicPr>
            <a:picLocks noChangeAspect="1"/>
          </p:cNvPicPr>
          <p:nvPr/>
        </p:nvPicPr>
        <p:blipFill rotWithShape="1">
          <a:blip r:embed="rId5">
            <a:extLst>
              <a:ext uri="{28A0092B-C50C-407E-A947-70E740481C1C}">
                <a14:useLocalDpi xmlns:a14="http://schemas.microsoft.com/office/drawing/2010/main" val="0"/>
              </a:ext>
            </a:extLst>
          </a:blip>
          <a:srcRect l="24850" t="14088" r="30116" b="12639"/>
          <a:stretch/>
        </p:blipFill>
        <p:spPr>
          <a:xfrm>
            <a:off x="647490" y="3027412"/>
            <a:ext cx="1600200" cy="1828800"/>
          </a:xfrm>
          <a:prstGeom prst="rect">
            <a:avLst/>
          </a:prstGeom>
          <a:ln w="38100">
            <a:solidFill>
              <a:srgbClr val="FF0000"/>
            </a:solidFill>
          </a:ln>
        </p:spPr>
      </p:pic>
      <p:pic>
        <p:nvPicPr>
          <p:cNvPr id="20" name="Picture 19">
            <a:extLst>
              <a:ext uri="{FF2B5EF4-FFF2-40B4-BE49-F238E27FC236}">
                <a16:creationId xmlns:a16="http://schemas.microsoft.com/office/drawing/2014/main" id="{BED0B04B-896A-4617-AAF7-5FEB6EBD0949}"/>
              </a:ext>
            </a:extLst>
          </p:cNvPr>
          <p:cNvPicPr>
            <a:picLocks noChangeAspect="1"/>
          </p:cNvPicPr>
          <p:nvPr/>
        </p:nvPicPr>
        <p:blipFill rotWithShape="1">
          <a:blip r:embed="rId6">
            <a:extLst>
              <a:ext uri="{28A0092B-C50C-407E-A947-70E740481C1C}">
                <a14:useLocalDpi xmlns:a14="http://schemas.microsoft.com/office/drawing/2010/main" val="0"/>
              </a:ext>
            </a:extLst>
          </a:blip>
          <a:srcRect l="25211" t="55293" r="24366" b="31743"/>
          <a:stretch/>
        </p:blipFill>
        <p:spPr>
          <a:xfrm>
            <a:off x="2596888" y="3027412"/>
            <a:ext cx="2721710" cy="1237140"/>
          </a:xfrm>
          <a:prstGeom prst="rect">
            <a:avLst/>
          </a:prstGeom>
          <a:ln w="38100">
            <a:solidFill>
              <a:srgbClr val="FF0000"/>
            </a:solidFill>
          </a:ln>
        </p:spPr>
      </p:pic>
      <p:pic>
        <p:nvPicPr>
          <p:cNvPr id="26" name="Picture 25">
            <a:extLst>
              <a:ext uri="{FF2B5EF4-FFF2-40B4-BE49-F238E27FC236}">
                <a16:creationId xmlns:a16="http://schemas.microsoft.com/office/drawing/2014/main" id="{2B9DE1E4-38CB-4037-B5D3-A1AED23B5151}"/>
              </a:ext>
            </a:extLst>
          </p:cNvPr>
          <p:cNvPicPr>
            <a:picLocks noChangeAspect="1"/>
          </p:cNvPicPr>
          <p:nvPr/>
        </p:nvPicPr>
        <p:blipFill rotWithShape="1">
          <a:blip r:embed="rId7">
            <a:extLst>
              <a:ext uri="{28A0092B-C50C-407E-A947-70E740481C1C}">
                <a14:useLocalDpi xmlns:a14="http://schemas.microsoft.com/office/drawing/2010/main" val="0"/>
              </a:ext>
            </a:extLst>
          </a:blip>
          <a:srcRect b="49585"/>
          <a:stretch/>
        </p:blipFill>
        <p:spPr>
          <a:xfrm>
            <a:off x="8655378" y="343437"/>
            <a:ext cx="9251622" cy="2498451"/>
          </a:xfrm>
          <a:prstGeom prst="rect">
            <a:avLst/>
          </a:prstGeom>
          <a:ln w="38100">
            <a:solidFill>
              <a:schemeClr val="accent3"/>
            </a:solidFill>
          </a:ln>
        </p:spPr>
      </p:pic>
      <p:sp>
        <p:nvSpPr>
          <p:cNvPr id="30" name="TextBox 29">
            <a:extLst>
              <a:ext uri="{FF2B5EF4-FFF2-40B4-BE49-F238E27FC236}">
                <a16:creationId xmlns:a16="http://schemas.microsoft.com/office/drawing/2014/main" id="{A00D6EFB-0CF0-4029-AF9A-27A238435134}"/>
              </a:ext>
            </a:extLst>
          </p:cNvPr>
          <p:cNvSpPr txBox="1"/>
          <p:nvPr/>
        </p:nvSpPr>
        <p:spPr>
          <a:xfrm>
            <a:off x="8568669" y="4979428"/>
            <a:ext cx="9719331" cy="4902624"/>
          </a:xfrm>
          <a:prstGeom prst="rect">
            <a:avLst/>
          </a:prstGeom>
          <a:noFill/>
        </p:spPr>
        <p:txBody>
          <a:bodyPr wrap="square">
            <a:spAutoFit/>
          </a:bodyPr>
          <a:lstStyle/>
          <a:p>
            <a:pPr algn="l">
              <a:lnSpc>
                <a:spcPts val="3821"/>
              </a:lnSpc>
            </a:pPr>
            <a:r>
              <a:rPr lang="en-US" sz="2800" b="1" dirty="0">
                <a:solidFill>
                  <a:schemeClr val="accent3">
                    <a:lumMod val="40000"/>
                    <a:lumOff val="60000"/>
                  </a:schemeClr>
                </a:solidFill>
                <a:latin typeface="Aileron"/>
                <a:ea typeface="Aileron"/>
                <a:cs typeface="Aileron"/>
                <a:sym typeface="Aileron"/>
              </a:rPr>
              <a:t>Add Dashboard Title</a:t>
            </a:r>
          </a:p>
          <a:p>
            <a:pPr marL="285750" indent="-285750" algn="l">
              <a:lnSpc>
                <a:spcPts val="3821"/>
              </a:lnSpc>
              <a:buFont typeface="Wingdings" panose="05000000000000000000" pitchFamily="2" charset="2"/>
              <a:buChar char="Ø"/>
            </a:pPr>
            <a:r>
              <a:rPr lang="en-US" sz="2000" dirty="0">
                <a:solidFill>
                  <a:schemeClr val="accent3">
                    <a:lumMod val="40000"/>
                    <a:lumOff val="60000"/>
                  </a:schemeClr>
                </a:solidFill>
                <a:latin typeface="Aileron"/>
                <a:ea typeface="Aileron"/>
                <a:cs typeface="Aileron"/>
                <a:sym typeface="Aileron"/>
              </a:rPr>
              <a:t>Merge cells </a:t>
            </a:r>
            <a:r>
              <a:rPr lang="en-US" sz="2000" b="1" dirty="0">
                <a:solidFill>
                  <a:schemeClr val="accent3">
                    <a:lumMod val="40000"/>
                    <a:lumOff val="60000"/>
                  </a:schemeClr>
                </a:solidFill>
                <a:latin typeface="Aileron"/>
                <a:ea typeface="Aileron"/>
                <a:cs typeface="Aileron"/>
                <a:sym typeface="Aileron"/>
              </a:rPr>
              <a:t>C2:U4 </a:t>
            </a:r>
            <a:r>
              <a:rPr lang="en-US" sz="2000" dirty="0">
                <a:solidFill>
                  <a:schemeClr val="accent3">
                    <a:lumMod val="40000"/>
                    <a:lumOff val="60000"/>
                  </a:schemeClr>
                </a:solidFill>
                <a:latin typeface="Aileron"/>
                <a:ea typeface="Aileron"/>
                <a:cs typeface="Aileron"/>
                <a:sym typeface="Aileron"/>
              </a:rPr>
              <a:t>to create a large title area.</a:t>
            </a:r>
          </a:p>
          <a:p>
            <a:pPr marL="285750" indent="-285750" algn="l">
              <a:lnSpc>
                <a:spcPts val="3821"/>
              </a:lnSpc>
              <a:buFont typeface="Wingdings" panose="05000000000000000000" pitchFamily="2" charset="2"/>
              <a:buChar char="Ø"/>
            </a:pPr>
            <a:r>
              <a:rPr lang="en-US" sz="2000" dirty="0">
                <a:solidFill>
                  <a:schemeClr val="accent3">
                    <a:lumMod val="40000"/>
                    <a:lumOff val="60000"/>
                  </a:schemeClr>
                </a:solidFill>
                <a:latin typeface="Aileron"/>
                <a:ea typeface="Aileron"/>
                <a:cs typeface="Aileron"/>
                <a:sym typeface="Aileron"/>
              </a:rPr>
              <a:t>Apply a background color to the merged cells to highlight the title area.</a:t>
            </a:r>
          </a:p>
          <a:p>
            <a:pPr marL="285750" indent="-285750" algn="l">
              <a:lnSpc>
                <a:spcPts val="3821"/>
              </a:lnSpc>
              <a:buFont typeface="Wingdings" panose="05000000000000000000" pitchFamily="2" charset="2"/>
              <a:buChar char="Ø"/>
            </a:pPr>
            <a:r>
              <a:rPr lang="en-US" sz="2000" dirty="0">
                <a:solidFill>
                  <a:schemeClr val="accent3">
                    <a:lumMod val="40000"/>
                    <a:lumOff val="60000"/>
                  </a:schemeClr>
                </a:solidFill>
                <a:latin typeface="Aileron"/>
                <a:ea typeface="Aileron"/>
                <a:cs typeface="Aileron"/>
                <a:sym typeface="Aileron"/>
              </a:rPr>
              <a:t>Add a descriptive title text in the merged cells, and set the </a:t>
            </a:r>
            <a:r>
              <a:rPr lang="en-US" sz="2000" b="1" dirty="0">
                <a:solidFill>
                  <a:schemeClr val="accent3">
                    <a:lumMod val="40000"/>
                    <a:lumOff val="60000"/>
                  </a:schemeClr>
                </a:solidFill>
                <a:latin typeface="Aileron"/>
                <a:ea typeface="Aileron"/>
                <a:cs typeface="Aileron"/>
                <a:sym typeface="Aileron"/>
              </a:rPr>
              <a:t>alignment </a:t>
            </a:r>
            <a:r>
              <a:rPr lang="en-US" sz="2000" dirty="0">
                <a:solidFill>
                  <a:schemeClr val="accent3">
                    <a:lumMod val="40000"/>
                    <a:lumOff val="60000"/>
                  </a:schemeClr>
                </a:solidFill>
                <a:latin typeface="Aileron"/>
                <a:ea typeface="Aileron"/>
                <a:cs typeface="Aileron"/>
                <a:sym typeface="Aileron"/>
              </a:rPr>
              <a:t>to Center to ensure the title is positioned properly.</a:t>
            </a:r>
          </a:p>
          <a:p>
            <a:pPr algn="l">
              <a:lnSpc>
                <a:spcPts val="3821"/>
              </a:lnSpc>
            </a:pPr>
            <a:r>
              <a:rPr lang="en-US" sz="2800" b="1" dirty="0">
                <a:solidFill>
                  <a:schemeClr val="accent3">
                    <a:lumMod val="40000"/>
                    <a:lumOff val="60000"/>
                  </a:schemeClr>
                </a:solidFill>
                <a:latin typeface="Aileron"/>
                <a:ea typeface="Aileron"/>
                <a:cs typeface="Aileron"/>
                <a:sym typeface="Aileron"/>
              </a:rPr>
              <a:t>Create Template for Charts</a:t>
            </a:r>
          </a:p>
          <a:p>
            <a:pPr marL="457200" indent="-457200" algn="l">
              <a:lnSpc>
                <a:spcPts val="3821"/>
              </a:lnSpc>
              <a:buFont typeface="Wingdings" panose="05000000000000000000" pitchFamily="2" charset="2"/>
              <a:buChar char="Ø"/>
            </a:pPr>
            <a:r>
              <a:rPr lang="en-US" sz="2000" dirty="0">
                <a:solidFill>
                  <a:schemeClr val="accent3">
                    <a:lumMod val="40000"/>
                    <a:lumOff val="60000"/>
                  </a:schemeClr>
                </a:solidFill>
                <a:latin typeface="Aileron"/>
                <a:ea typeface="Aileron"/>
                <a:cs typeface="Aileron"/>
                <a:sym typeface="Aileron"/>
              </a:rPr>
              <a:t>Add  a shape to serve as placeholders for charts and visualizations.. This shape will help structure the layout of the dashboard. This shape also used to beauty the dashboard layout and help organize different sections visually.</a:t>
            </a:r>
          </a:p>
          <a:p>
            <a:pPr marL="457200" indent="-457200" algn="l">
              <a:lnSpc>
                <a:spcPts val="3821"/>
              </a:lnSpc>
              <a:buFont typeface="Wingdings" panose="05000000000000000000" pitchFamily="2" charset="2"/>
              <a:buChar char="Ø"/>
            </a:pPr>
            <a:r>
              <a:rPr lang="en-US" sz="2000" dirty="0">
                <a:solidFill>
                  <a:schemeClr val="accent3">
                    <a:lumMod val="40000"/>
                    <a:lumOff val="60000"/>
                  </a:schemeClr>
                </a:solidFill>
                <a:latin typeface="Aileron"/>
                <a:ea typeface="Aileron"/>
                <a:cs typeface="Aileron"/>
                <a:sym typeface="Aileron"/>
              </a:rPr>
              <a:t>Resize and position the shape to create a well structured template for charts.</a:t>
            </a:r>
          </a:p>
        </p:txBody>
      </p:sp>
      <p:pic>
        <p:nvPicPr>
          <p:cNvPr id="32" name="Picture 31">
            <a:extLst>
              <a:ext uri="{FF2B5EF4-FFF2-40B4-BE49-F238E27FC236}">
                <a16:creationId xmlns:a16="http://schemas.microsoft.com/office/drawing/2014/main" id="{AC906C18-8B85-4295-9126-1D0502563203}"/>
              </a:ext>
            </a:extLst>
          </p:cNvPr>
          <p:cNvPicPr>
            <a:picLocks noChangeAspect="1"/>
          </p:cNvPicPr>
          <p:nvPr/>
        </p:nvPicPr>
        <p:blipFill rotWithShape="1">
          <a:blip r:embed="rId8">
            <a:extLst>
              <a:ext uri="{28A0092B-C50C-407E-A947-70E740481C1C}">
                <a14:useLocalDpi xmlns:a14="http://schemas.microsoft.com/office/drawing/2010/main" val="0"/>
              </a:ext>
            </a:extLst>
          </a:blip>
          <a:srcRect t="27049" r="34857" b="48857"/>
          <a:stretch/>
        </p:blipFill>
        <p:spPr>
          <a:xfrm>
            <a:off x="8679076" y="3234068"/>
            <a:ext cx="9227924" cy="1592503"/>
          </a:xfrm>
          <a:prstGeom prst="rect">
            <a:avLst/>
          </a:prstGeom>
          <a:ln w="38100">
            <a:solidFill>
              <a:schemeClr val="accent3"/>
            </a:solidFill>
          </a:ln>
        </p:spPr>
      </p:pic>
      <p:pic>
        <p:nvPicPr>
          <p:cNvPr id="34" name="Picture 33">
            <a:extLst>
              <a:ext uri="{FF2B5EF4-FFF2-40B4-BE49-F238E27FC236}">
                <a16:creationId xmlns:a16="http://schemas.microsoft.com/office/drawing/2014/main" id="{5EBD1FCC-B974-41C5-9534-5F78407EAF9C}"/>
              </a:ext>
            </a:extLst>
          </p:cNvPr>
          <p:cNvPicPr>
            <a:picLocks noChangeAspect="1"/>
          </p:cNvPicPr>
          <p:nvPr/>
        </p:nvPicPr>
        <p:blipFill rotWithShape="1">
          <a:blip r:embed="rId9">
            <a:extLst>
              <a:ext uri="{28A0092B-C50C-407E-A947-70E740481C1C}">
                <a14:useLocalDpi xmlns:a14="http://schemas.microsoft.com/office/drawing/2010/main" val="0"/>
              </a:ext>
            </a:extLst>
          </a:blip>
          <a:srcRect l="18311" t="17570" r="69139" b="55031"/>
          <a:stretch/>
        </p:blipFill>
        <p:spPr>
          <a:xfrm>
            <a:off x="8945616" y="1425111"/>
            <a:ext cx="1091016" cy="1275908"/>
          </a:xfrm>
          <a:prstGeom prst="rect">
            <a:avLst/>
          </a:prstGeom>
          <a:ln w="28575">
            <a:solidFill>
              <a:srgbClr val="FF0000"/>
            </a:solidFill>
          </a:ln>
        </p:spPr>
      </p:pic>
      <p:cxnSp>
        <p:nvCxnSpPr>
          <p:cNvPr id="35" name="Straight Connector 34">
            <a:extLst>
              <a:ext uri="{FF2B5EF4-FFF2-40B4-BE49-F238E27FC236}">
                <a16:creationId xmlns:a16="http://schemas.microsoft.com/office/drawing/2014/main" id="{9F043B12-A67D-4B71-8834-4CF5835DCC1E}"/>
              </a:ext>
            </a:extLst>
          </p:cNvPr>
          <p:cNvCxnSpPr>
            <a:cxnSpLocks/>
          </p:cNvCxnSpPr>
          <p:nvPr/>
        </p:nvCxnSpPr>
        <p:spPr>
          <a:xfrm flipV="1">
            <a:off x="10043108" y="1212099"/>
            <a:ext cx="402948" cy="62547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9AA9AE9F-20C3-4D49-A778-FCC37E578C36}"/>
              </a:ext>
            </a:extLst>
          </p:cNvPr>
          <p:cNvPicPr>
            <a:picLocks noChangeAspect="1"/>
          </p:cNvPicPr>
          <p:nvPr/>
        </p:nvPicPr>
        <p:blipFill rotWithShape="1">
          <a:blip r:embed="rId10">
            <a:extLst>
              <a:ext uri="{28A0092B-C50C-407E-A947-70E740481C1C}">
                <a14:useLocalDpi xmlns:a14="http://schemas.microsoft.com/office/drawing/2010/main" val="0"/>
              </a:ext>
            </a:extLst>
          </a:blip>
          <a:srcRect l="59362" t="38663" r="6118" b="3156"/>
          <a:stretch/>
        </p:blipFill>
        <p:spPr>
          <a:xfrm>
            <a:off x="12922735" y="633061"/>
            <a:ext cx="854031" cy="959601"/>
          </a:xfrm>
          <a:prstGeom prst="rect">
            <a:avLst/>
          </a:prstGeom>
          <a:ln w="28575">
            <a:solidFill>
              <a:srgbClr val="FF0000"/>
            </a:solidFill>
          </a:ln>
        </p:spPr>
      </p:pic>
      <p:cxnSp>
        <p:nvCxnSpPr>
          <p:cNvPr id="38" name="Straight Connector 37">
            <a:extLst>
              <a:ext uri="{FF2B5EF4-FFF2-40B4-BE49-F238E27FC236}">
                <a16:creationId xmlns:a16="http://schemas.microsoft.com/office/drawing/2014/main" id="{A9F156D0-F4F5-47CE-96A7-4DAC4A7D1B28}"/>
              </a:ext>
            </a:extLst>
          </p:cNvPr>
          <p:cNvCxnSpPr>
            <a:cxnSpLocks/>
          </p:cNvCxnSpPr>
          <p:nvPr/>
        </p:nvCxnSpPr>
        <p:spPr>
          <a:xfrm flipV="1">
            <a:off x="12269807" y="913010"/>
            <a:ext cx="616666" cy="19985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10141669">
            <a:off x="9981670" y="-1648566"/>
            <a:ext cx="11677410" cy="7726910"/>
          </a:xfrm>
          <a:custGeom>
            <a:avLst/>
            <a:gdLst/>
            <a:ahLst/>
            <a:cxnLst/>
            <a:rect l="l" t="t" r="r" b="b"/>
            <a:pathLst>
              <a:path w="11677410" h="7726910">
                <a:moveTo>
                  <a:pt x="0" y="0"/>
                </a:moveTo>
                <a:lnTo>
                  <a:pt x="11677410" y="0"/>
                </a:lnTo>
                <a:lnTo>
                  <a:pt x="11677410" y="7726910"/>
                </a:lnTo>
                <a:lnTo>
                  <a:pt x="0" y="77269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5078323" y="4838676"/>
            <a:ext cx="2919191" cy="3000821"/>
          </a:xfrm>
          <a:prstGeom prst="rect">
            <a:avLst/>
          </a:prstGeom>
        </p:spPr>
        <p:txBody>
          <a:bodyPr lIns="0" tIns="0" rIns="0" bIns="0" rtlCol="0" anchor="t">
            <a:spAutoFit/>
          </a:bodyPr>
          <a:lstStyle/>
          <a:p>
            <a:pPr algn="l">
              <a:lnSpc>
                <a:spcPts val="2572"/>
              </a:lnSpc>
            </a:pPr>
            <a:r>
              <a:rPr lang="en-US" sz="2400" b="1" dirty="0">
                <a:solidFill>
                  <a:srgbClr val="253439"/>
                </a:solidFill>
                <a:latin typeface="Aileron" panose="020B0604020202020204" charset="0"/>
                <a:ea typeface="Aileron Bold"/>
                <a:cs typeface="Aileron Bold"/>
                <a:sym typeface="Aileron Bold"/>
              </a:rPr>
              <a:t>Visualizing Sales Trends</a:t>
            </a:r>
          </a:p>
          <a:p>
            <a:pPr algn="l">
              <a:lnSpc>
                <a:spcPts val="2572"/>
              </a:lnSpc>
            </a:pPr>
            <a:r>
              <a:rPr lang="en-US" sz="2400" dirty="0">
                <a:solidFill>
                  <a:srgbClr val="253439"/>
                </a:solidFill>
                <a:latin typeface="Aileron" panose="020B0604020202020204" charset="0"/>
                <a:ea typeface="Aileron Bold"/>
                <a:cs typeface="Aileron Bold"/>
                <a:sym typeface="Aileron Bold"/>
              </a:rPr>
              <a:t>The line chart now clearly shows the fluctuations in sales, making it easier to identify patters, peaks, and troughs in the sales data.</a:t>
            </a:r>
          </a:p>
        </p:txBody>
      </p:sp>
      <p:sp>
        <p:nvSpPr>
          <p:cNvPr id="5" name="TextBox 5"/>
          <p:cNvSpPr txBox="1"/>
          <p:nvPr/>
        </p:nvSpPr>
        <p:spPr>
          <a:xfrm>
            <a:off x="914400" y="477556"/>
            <a:ext cx="10608877" cy="1060831"/>
          </a:xfrm>
          <a:prstGeom prst="rect">
            <a:avLst/>
          </a:prstGeom>
        </p:spPr>
        <p:txBody>
          <a:bodyPr lIns="0" tIns="0" rIns="0" bIns="0" rtlCol="0" anchor="t">
            <a:spAutoFit/>
          </a:bodyPr>
          <a:lstStyle/>
          <a:p>
            <a:pPr algn="l">
              <a:lnSpc>
                <a:spcPts val="8162"/>
              </a:lnSpc>
            </a:pPr>
            <a:r>
              <a:rPr lang="en-US" sz="7700" b="1" dirty="0">
                <a:solidFill>
                  <a:srgbClr val="253439"/>
                </a:solidFill>
                <a:latin typeface="Glacial Indifference Bold"/>
                <a:ea typeface="Glacial Indifference Bold"/>
                <a:cs typeface="Glacial Indifference Bold"/>
                <a:sym typeface="Glacial Indifference Bold"/>
              </a:rPr>
              <a:t>PIVOT CHART</a:t>
            </a:r>
          </a:p>
        </p:txBody>
      </p:sp>
      <p:sp>
        <p:nvSpPr>
          <p:cNvPr id="6" name="TextBox 6"/>
          <p:cNvSpPr txBox="1"/>
          <p:nvPr/>
        </p:nvSpPr>
        <p:spPr>
          <a:xfrm>
            <a:off x="6225765" y="1738501"/>
            <a:ext cx="9653884" cy="2667397"/>
          </a:xfrm>
          <a:prstGeom prst="rect">
            <a:avLst/>
          </a:prstGeom>
        </p:spPr>
        <p:txBody>
          <a:bodyPr wrap="square" lIns="0" tIns="0" rIns="0" bIns="0" rtlCol="0" anchor="t">
            <a:spAutoFit/>
          </a:bodyPr>
          <a:lstStyle/>
          <a:p>
            <a:pPr algn="l">
              <a:lnSpc>
                <a:spcPts val="2572"/>
              </a:lnSpc>
            </a:pPr>
            <a:r>
              <a:rPr lang="en-US" sz="2400" b="1" dirty="0">
                <a:solidFill>
                  <a:srgbClr val="253439"/>
                </a:solidFill>
                <a:latin typeface="Aileron" panose="020B0604020202020204" charset="0"/>
                <a:ea typeface="Aileron Bold"/>
                <a:cs typeface="Aileron Bold"/>
                <a:sym typeface="Aileron Bold"/>
              </a:rPr>
              <a:t>Create Pivot Chart</a:t>
            </a:r>
          </a:p>
          <a:p>
            <a:pPr algn="l">
              <a:lnSpc>
                <a:spcPts val="2572"/>
              </a:lnSpc>
            </a:pPr>
            <a:r>
              <a:rPr lang="en-US" sz="2400" dirty="0">
                <a:solidFill>
                  <a:srgbClr val="253439"/>
                </a:solidFill>
                <a:latin typeface="Aileron" panose="020B0604020202020204" charset="0"/>
                <a:ea typeface="Aileron Bold"/>
                <a:cs typeface="Aileron Bold"/>
                <a:sym typeface="Aileron Bold"/>
              </a:rPr>
              <a:t>A Pivot Chart is created based on the previously made Pivot Table. The chart selected is a </a:t>
            </a:r>
            <a:r>
              <a:rPr lang="en-US" sz="2400" b="1" dirty="0">
                <a:solidFill>
                  <a:srgbClr val="253439"/>
                </a:solidFill>
                <a:latin typeface="Aileron" panose="020B0604020202020204" charset="0"/>
                <a:ea typeface="Aileron Bold"/>
                <a:cs typeface="Aileron Bold"/>
                <a:sym typeface="Aileron Bold"/>
              </a:rPr>
              <a:t>Line Chart </a:t>
            </a:r>
            <a:r>
              <a:rPr lang="en-US" sz="2400" dirty="0">
                <a:solidFill>
                  <a:srgbClr val="253439"/>
                </a:solidFill>
                <a:latin typeface="Aileron" panose="020B0604020202020204" charset="0"/>
                <a:ea typeface="Aileron Bold"/>
                <a:cs typeface="Aileron Bold"/>
                <a:sym typeface="Aileron Bold"/>
              </a:rPr>
              <a:t>(Line with Markers) to visualize the sales trends over time, highlighting the changes in sales per date.</a:t>
            </a:r>
          </a:p>
          <a:p>
            <a:pPr algn="l">
              <a:lnSpc>
                <a:spcPts val="2572"/>
              </a:lnSpc>
            </a:pPr>
            <a:r>
              <a:rPr lang="en-US" sz="2400" b="1" dirty="0">
                <a:solidFill>
                  <a:srgbClr val="253439"/>
                </a:solidFill>
                <a:latin typeface="Aileron" panose="020B0604020202020204" charset="0"/>
                <a:ea typeface="Aileron Bold"/>
                <a:cs typeface="Aileron Bold"/>
                <a:sym typeface="Aileron Bold"/>
              </a:rPr>
              <a:t>Design Adjustments</a:t>
            </a:r>
          </a:p>
          <a:p>
            <a:pPr algn="l">
              <a:lnSpc>
                <a:spcPts val="2572"/>
              </a:lnSpc>
            </a:pPr>
            <a:r>
              <a:rPr lang="en-US" sz="2400" dirty="0">
                <a:solidFill>
                  <a:srgbClr val="253439"/>
                </a:solidFill>
                <a:latin typeface="Aileron" panose="020B0604020202020204" charset="0"/>
                <a:ea typeface="Aileron Bold"/>
                <a:cs typeface="Aileron Bold"/>
                <a:sym typeface="Aileron Bold"/>
              </a:rPr>
              <a:t>The chart’s design is customized to improve readability and visual appeal. Adjustment include changing the </a:t>
            </a:r>
            <a:r>
              <a:rPr lang="en-US" sz="2400" b="1" dirty="0">
                <a:solidFill>
                  <a:srgbClr val="253439"/>
                </a:solidFill>
                <a:latin typeface="Aileron" panose="020B0604020202020204" charset="0"/>
                <a:ea typeface="Aileron Bold"/>
                <a:cs typeface="Aileron Bold"/>
                <a:sym typeface="Aileron Bold"/>
              </a:rPr>
              <a:t>Colors</a:t>
            </a:r>
            <a:r>
              <a:rPr lang="en-US" sz="2400" dirty="0">
                <a:solidFill>
                  <a:srgbClr val="253439"/>
                </a:solidFill>
                <a:latin typeface="Aileron" panose="020B0604020202020204" charset="0"/>
                <a:ea typeface="Aileron Bold"/>
                <a:cs typeface="Aileron Bold"/>
                <a:sym typeface="Aileron Bold"/>
              </a:rPr>
              <a:t> of the line and markers to align with overall dashboard design.</a:t>
            </a:r>
          </a:p>
        </p:txBody>
      </p:sp>
      <p:sp>
        <p:nvSpPr>
          <p:cNvPr id="30" name="AutoShape 30"/>
          <p:cNvSpPr/>
          <p:nvPr/>
        </p:nvSpPr>
        <p:spPr>
          <a:xfrm>
            <a:off x="533400" y="190500"/>
            <a:ext cx="0" cy="1347887"/>
          </a:xfrm>
          <a:prstGeom prst="line">
            <a:avLst/>
          </a:prstGeom>
          <a:ln w="133350" cap="flat">
            <a:solidFill>
              <a:schemeClr val="accent3">
                <a:lumMod val="50000"/>
              </a:schemeClr>
            </a:solidFill>
            <a:prstDash val="solid"/>
            <a:headEnd type="none" w="sm" len="sm"/>
            <a:tailEnd type="none" w="sm" len="sm"/>
          </a:ln>
        </p:spPr>
      </p:sp>
      <p:pic>
        <p:nvPicPr>
          <p:cNvPr id="32" name="Picture 31">
            <a:extLst>
              <a:ext uri="{FF2B5EF4-FFF2-40B4-BE49-F238E27FC236}">
                <a16:creationId xmlns:a16="http://schemas.microsoft.com/office/drawing/2014/main" id="{111051FA-1A70-4761-B5A9-5A1987BD371E}"/>
              </a:ext>
            </a:extLst>
          </p:cNvPr>
          <p:cNvPicPr>
            <a:picLocks noChangeAspect="1"/>
          </p:cNvPicPr>
          <p:nvPr/>
        </p:nvPicPr>
        <p:blipFill rotWithShape="1">
          <a:blip r:embed="rId4">
            <a:extLst>
              <a:ext uri="{28A0092B-C50C-407E-A947-70E740481C1C}">
                <a14:useLocalDpi xmlns:a14="http://schemas.microsoft.com/office/drawing/2010/main" val="0"/>
              </a:ext>
            </a:extLst>
          </a:blip>
          <a:srcRect l="30399" t="1566" r="15676" b="-4597"/>
          <a:stretch/>
        </p:blipFill>
        <p:spPr>
          <a:xfrm>
            <a:off x="276631" y="1599684"/>
            <a:ext cx="5486400" cy="3238992"/>
          </a:xfrm>
          <a:prstGeom prst="rect">
            <a:avLst/>
          </a:prstGeom>
        </p:spPr>
      </p:pic>
      <p:pic>
        <p:nvPicPr>
          <p:cNvPr id="34" name="Picture 33">
            <a:extLst>
              <a:ext uri="{FF2B5EF4-FFF2-40B4-BE49-F238E27FC236}">
                <a16:creationId xmlns:a16="http://schemas.microsoft.com/office/drawing/2014/main" id="{F20E975F-46EE-40A3-9926-A2CC12C70A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631" y="4812105"/>
            <a:ext cx="5583844" cy="5284395"/>
          </a:xfrm>
          <a:prstGeom prst="rect">
            <a:avLst/>
          </a:prstGeom>
        </p:spPr>
      </p:pic>
      <p:pic>
        <p:nvPicPr>
          <p:cNvPr id="36" name="Picture 35">
            <a:extLst>
              <a:ext uri="{FF2B5EF4-FFF2-40B4-BE49-F238E27FC236}">
                <a16:creationId xmlns:a16="http://schemas.microsoft.com/office/drawing/2014/main" id="{3E9093A1-DE18-4E79-BB24-7BD4AEB81C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20161" y="4838676"/>
            <a:ext cx="8834129" cy="5284395"/>
          </a:xfrm>
          <a:prstGeom prst="rect">
            <a:avLst/>
          </a:prstGeom>
        </p:spPr>
      </p:pic>
      <p:sp>
        <p:nvSpPr>
          <p:cNvPr id="37" name="Rectangle 36">
            <a:extLst>
              <a:ext uri="{FF2B5EF4-FFF2-40B4-BE49-F238E27FC236}">
                <a16:creationId xmlns:a16="http://schemas.microsoft.com/office/drawing/2014/main" id="{4293A461-E171-4BB8-868E-1C5F39923E2F}"/>
              </a:ext>
            </a:extLst>
          </p:cNvPr>
          <p:cNvSpPr/>
          <p:nvPr/>
        </p:nvSpPr>
        <p:spPr>
          <a:xfrm>
            <a:off x="4447929" y="1857715"/>
            <a:ext cx="685802" cy="71434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8" name="Rectangle 37">
            <a:extLst>
              <a:ext uri="{FF2B5EF4-FFF2-40B4-BE49-F238E27FC236}">
                <a16:creationId xmlns:a16="http://schemas.microsoft.com/office/drawing/2014/main" id="{B48C91CD-737A-4C7F-BCAC-602A03D56C90}"/>
              </a:ext>
            </a:extLst>
          </p:cNvPr>
          <p:cNvSpPr/>
          <p:nvPr/>
        </p:nvSpPr>
        <p:spPr>
          <a:xfrm>
            <a:off x="290486" y="6057900"/>
            <a:ext cx="1233514"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9" name="Rectangle 38">
            <a:extLst>
              <a:ext uri="{FF2B5EF4-FFF2-40B4-BE49-F238E27FC236}">
                <a16:creationId xmlns:a16="http://schemas.microsoft.com/office/drawing/2014/main" id="{90EDAD23-B272-47C4-BA8F-157E0A95D554}"/>
              </a:ext>
            </a:extLst>
          </p:cNvPr>
          <p:cNvSpPr/>
          <p:nvPr/>
        </p:nvSpPr>
        <p:spPr>
          <a:xfrm>
            <a:off x="3068553" y="5339690"/>
            <a:ext cx="685802" cy="71434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0" name="Rectangle 39">
            <a:extLst>
              <a:ext uri="{FF2B5EF4-FFF2-40B4-BE49-F238E27FC236}">
                <a16:creationId xmlns:a16="http://schemas.microsoft.com/office/drawing/2014/main" id="{DEB2AC2A-32F6-44F6-A872-16C631596B4A}"/>
              </a:ext>
            </a:extLst>
          </p:cNvPr>
          <p:cNvSpPr/>
          <p:nvPr/>
        </p:nvSpPr>
        <p:spPr>
          <a:xfrm>
            <a:off x="12954000" y="4838700"/>
            <a:ext cx="970482"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5" name="TextBox 5"/>
          <p:cNvSpPr txBox="1"/>
          <p:nvPr/>
        </p:nvSpPr>
        <p:spPr>
          <a:xfrm>
            <a:off x="685800" y="1026207"/>
            <a:ext cx="11811000" cy="1077218"/>
          </a:xfrm>
          <a:prstGeom prst="rect">
            <a:avLst/>
          </a:prstGeom>
        </p:spPr>
        <p:txBody>
          <a:bodyPr wrap="square" lIns="0" tIns="0" rIns="0" bIns="0" rtlCol="0" anchor="t">
            <a:spAutoFit/>
          </a:bodyPr>
          <a:lstStyle/>
          <a:p>
            <a:pPr marL="0" lvl="0" indent="0" algn="l">
              <a:lnSpc>
                <a:spcPts val="9240"/>
              </a:lnSpc>
              <a:spcBef>
                <a:spcPct val="0"/>
              </a:spcBef>
            </a:pPr>
            <a:r>
              <a:rPr lang="en-US" sz="5400" b="1" dirty="0">
                <a:solidFill>
                  <a:srgbClr val="253439"/>
                </a:solidFill>
                <a:latin typeface="Glacial Indifference Bold"/>
                <a:ea typeface="Glacial Indifference Bold"/>
                <a:cs typeface="Glacial Indifference Bold"/>
                <a:sym typeface="Glacial Indifference Bold"/>
              </a:rPr>
              <a:t>ADJUSTMENTS ON DASHBOARD</a:t>
            </a:r>
          </a:p>
        </p:txBody>
      </p:sp>
      <p:sp>
        <p:nvSpPr>
          <p:cNvPr id="9" name="TextBox 9"/>
          <p:cNvSpPr txBox="1"/>
          <p:nvPr/>
        </p:nvSpPr>
        <p:spPr>
          <a:xfrm>
            <a:off x="9907249" y="2234639"/>
            <a:ext cx="7848600" cy="4577920"/>
          </a:xfrm>
          <a:prstGeom prst="rect">
            <a:avLst/>
          </a:prstGeom>
        </p:spPr>
        <p:txBody>
          <a:bodyPr wrap="square" lIns="0" tIns="0" rIns="0" bIns="0" rtlCol="0" anchor="t">
            <a:spAutoFit/>
          </a:bodyPr>
          <a:lstStyle/>
          <a:p>
            <a:pPr marL="0" lvl="0" indent="0" algn="l">
              <a:lnSpc>
                <a:spcPts val="3640"/>
              </a:lnSpc>
              <a:spcBef>
                <a:spcPct val="0"/>
              </a:spcBef>
            </a:pPr>
            <a:r>
              <a:rPr lang="en-US" sz="2800" b="1" dirty="0">
                <a:solidFill>
                  <a:srgbClr val="253439"/>
                </a:solidFill>
                <a:latin typeface="Aileron"/>
                <a:ea typeface="Aileron"/>
                <a:cs typeface="Aileron"/>
                <a:sym typeface="Aileron"/>
              </a:rPr>
              <a:t>Move Pivot Chart to Dashboard</a:t>
            </a:r>
          </a:p>
          <a:p>
            <a:pPr marL="0" lvl="0" indent="0" algn="l">
              <a:lnSpc>
                <a:spcPts val="3640"/>
              </a:lnSpc>
              <a:spcBef>
                <a:spcPct val="0"/>
              </a:spcBef>
            </a:pPr>
            <a:r>
              <a:rPr lang="en-US" sz="2600" dirty="0">
                <a:solidFill>
                  <a:srgbClr val="253439"/>
                </a:solidFill>
                <a:latin typeface="Aileron"/>
                <a:ea typeface="Aileron"/>
                <a:cs typeface="Aileron"/>
                <a:sym typeface="Aileron"/>
              </a:rPr>
              <a:t>The Pivot Chart created earlier is now moved to the dashboard worksheet. This ensure that all visualizations are in one place, ready for display.</a:t>
            </a:r>
          </a:p>
          <a:p>
            <a:pPr marL="0" lvl="0" indent="0" algn="l">
              <a:lnSpc>
                <a:spcPts val="3640"/>
              </a:lnSpc>
              <a:spcBef>
                <a:spcPct val="0"/>
              </a:spcBef>
            </a:pPr>
            <a:endParaRPr lang="en-US" sz="2800" b="1" dirty="0">
              <a:solidFill>
                <a:srgbClr val="253439"/>
              </a:solidFill>
              <a:latin typeface="Aileron"/>
              <a:ea typeface="Aileron"/>
              <a:cs typeface="Aileron"/>
              <a:sym typeface="Aileron"/>
            </a:endParaRPr>
          </a:p>
          <a:p>
            <a:pPr marL="0" lvl="0" indent="0" algn="l">
              <a:lnSpc>
                <a:spcPts val="3640"/>
              </a:lnSpc>
              <a:spcBef>
                <a:spcPct val="0"/>
              </a:spcBef>
            </a:pPr>
            <a:r>
              <a:rPr lang="en-US" sz="2800" b="1" dirty="0">
                <a:solidFill>
                  <a:srgbClr val="253439"/>
                </a:solidFill>
                <a:latin typeface="Aileron"/>
                <a:ea typeface="Aileron"/>
                <a:cs typeface="Aileron"/>
                <a:sym typeface="Aileron"/>
              </a:rPr>
              <a:t>Chart Adjustment</a:t>
            </a:r>
          </a:p>
          <a:p>
            <a:pPr marL="0" lvl="0" indent="0" algn="l">
              <a:lnSpc>
                <a:spcPts val="3640"/>
              </a:lnSpc>
              <a:spcBef>
                <a:spcPct val="0"/>
              </a:spcBef>
            </a:pPr>
            <a:r>
              <a:rPr lang="en-US" sz="2600" dirty="0">
                <a:solidFill>
                  <a:srgbClr val="253439"/>
                </a:solidFill>
                <a:latin typeface="Aileron"/>
                <a:ea typeface="Aileron"/>
                <a:cs typeface="Aileron"/>
                <a:sym typeface="Aileron"/>
              </a:rPr>
              <a:t>The chart </a:t>
            </a:r>
            <a:r>
              <a:rPr lang="en-US" sz="2600" b="1" dirty="0">
                <a:solidFill>
                  <a:srgbClr val="253439"/>
                </a:solidFill>
                <a:latin typeface="Aileron"/>
                <a:ea typeface="Aileron"/>
                <a:cs typeface="Aileron"/>
                <a:sym typeface="Aileron"/>
              </a:rPr>
              <a:t>Legend </a:t>
            </a:r>
            <a:r>
              <a:rPr lang="en-US" sz="2600" dirty="0">
                <a:solidFill>
                  <a:srgbClr val="253439"/>
                </a:solidFill>
                <a:latin typeface="Aileron"/>
                <a:ea typeface="Aileron"/>
                <a:cs typeface="Aileron"/>
                <a:sym typeface="Aileron"/>
              </a:rPr>
              <a:t>is remove for a cleaner look, and chart </a:t>
            </a:r>
            <a:r>
              <a:rPr lang="en-US" sz="2600" b="1" dirty="0">
                <a:solidFill>
                  <a:srgbClr val="253439"/>
                </a:solidFill>
                <a:latin typeface="Aileron"/>
                <a:ea typeface="Aileron"/>
                <a:cs typeface="Aileron"/>
                <a:sym typeface="Aileron"/>
              </a:rPr>
              <a:t>Title </a:t>
            </a:r>
            <a:r>
              <a:rPr lang="en-US" sz="2600" dirty="0">
                <a:solidFill>
                  <a:srgbClr val="253439"/>
                </a:solidFill>
                <a:latin typeface="Aileron"/>
                <a:ea typeface="Aileron"/>
                <a:cs typeface="Aileron"/>
                <a:sym typeface="Aileron"/>
              </a:rPr>
              <a:t>is also removed to maintain a tidy and minimalistic design. These adjustment help  focus on the data trends and avoid unnecessary distractions.</a:t>
            </a:r>
          </a:p>
        </p:txBody>
      </p:sp>
      <p:sp>
        <p:nvSpPr>
          <p:cNvPr id="10" name="TextBox 10"/>
          <p:cNvSpPr txBox="1"/>
          <p:nvPr/>
        </p:nvSpPr>
        <p:spPr>
          <a:xfrm>
            <a:off x="685800" y="123604"/>
            <a:ext cx="6886727" cy="928972"/>
          </a:xfrm>
          <a:prstGeom prst="rect">
            <a:avLst/>
          </a:prstGeom>
        </p:spPr>
        <p:txBody>
          <a:bodyPr lIns="0" tIns="0" rIns="0" bIns="0" rtlCol="0" anchor="t">
            <a:spAutoFit/>
          </a:bodyPr>
          <a:lstStyle/>
          <a:p>
            <a:pPr marL="0" lvl="0" indent="0" algn="l">
              <a:lnSpc>
                <a:spcPts val="7920"/>
              </a:lnSpc>
              <a:spcBef>
                <a:spcPct val="0"/>
              </a:spcBef>
            </a:pPr>
            <a:r>
              <a:rPr lang="en-US" sz="4000" dirty="0">
                <a:solidFill>
                  <a:srgbClr val="253439"/>
                </a:solidFill>
                <a:latin typeface="HK Grotesk"/>
                <a:ea typeface="HK Grotesk"/>
                <a:cs typeface="HK Grotesk"/>
                <a:sym typeface="HK Grotesk"/>
              </a:rPr>
              <a:t>CHART PLACEMENT &amp;</a:t>
            </a:r>
          </a:p>
        </p:txBody>
      </p:sp>
      <p:sp>
        <p:nvSpPr>
          <p:cNvPr id="11" name="AutoShape 11"/>
          <p:cNvSpPr/>
          <p:nvPr/>
        </p:nvSpPr>
        <p:spPr>
          <a:xfrm flipV="1">
            <a:off x="381000" y="190500"/>
            <a:ext cx="0" cy="1885508"/>
          </a:xfrm>
          <a:prstGeom prst="line">
            <a:avLst/>
          </a:prstGeom>
          <a:ln w="133350" cap="flat">
            <a:solidFill>
              <a:schemeClr val="accent3">
                <a:lumMod val="50000"/>
              </a:schemeClr>
            </a:solidFill>
            <a:prstDash val="solid"/>
            <a:headEnd type="none" w="sm" len="sm"/>
            <a:tailEnd type="none" w="sm" len="sm"/>
          </a:ln>
        </p:spPr>
      </p:sp>
      <p:sp>
        <p:nvSpPr>
          <p:cNvPr id="17" name="Freeform 17"/>
          <p:cNvSpPr/>
          <p:nvPr/>
        </p:nvSpPr>
        <p:spPr>
          <a:xfrm rot="12248729">
            <a:off x="6113280" y="-5821307"/>
            <a:ext cx="15806184" cy="9426233"/>
          </a:xfrm>
          <a:custGeom>
            <a:avLst/>
            <a:gdLst/>
            <a:ahLst/>
            <a:cxnLst/>
            <a:rect l="l" t="t" r="r" b="b"/>
            <a:pathLst>
              <a:path w="15806184" h="9426233">
                <a:moveTo>
                  <a:pt x="0" y="0"/>
                </a:moveTo>
                <a:lnTo>
                  <a:pt x="15806184" y="0"/>
                </a:lnTo>
                <a:lnTo>
                  <a:pt x="15806184" y="9426233"/>
                </a:lnTo>
                <a:lnTo>
                  <a:pt x="0" y="94262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19" name="Picture 18">
            <a:extLst>
              <a:ext uri="{FF2B5EF4-FFF2-40B4-BE49-F238E27FC236}">
                <a16:creationId xmlns:a16="http://schemas.microsoft.com/office/drawing/2014/main" id="{3DCAEE3E-735D-4B6E-85FF-A531A152D8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5071" y="2192011"/>
            <a:ext cx="8954750" cy="4791744"/>
          </a:xfrm>
          <a:prstGeom prst="rect">
            <a:avLst/>
          </a:prstGeom>
        </p:spPr>
      </p:pic>
      <p:pic>
        <p:nvPicPr>
          <p:cNvPr id="27" name="Picture 26">
            <a:extLst>
              <a:ext uri="{FF2B5EF4-FFF2-40B4-BE49-F238E27FC236}">
                <a16:creationId xmlns:a16="http://schemas.microsoft.com/office/drawing/2014/main" id="{C9E05A55-F5E8-4456-9D3C-822EBC7E3B1B}"/>
              </a:ext>
            </a:extLst>
          </p:cNvPr>
          <p:cNvPicPr>
            <a:picLocks noChangeAspect="1"/>
          </p:cNvPicPr>
          <p:nvPr/>
        </p:nvPicPr>
        <p:blipFill rotWithShape="1">
          <a:blip r:embed="rId5">
            <a:extLst>
              <a:ext uri="{28A0092B-C50C-407E-A947-70E740481C1C}">
                <a14:useLocalDpi xmlns:a14="http://schemas.microsoft.com/office/drawing/2010/main" val="0"/>
              </a:ext>
            </a:extLst>
          </a:blip>
          <a:srcRect l="14669" t="29664" r="4777" b="4034"/>
          <a:stretch/>
        </p:blipFill>
        <p:spPr>
          <a:xfrm>
            <a:off x="1260765" y="3070489"/>
            <a:ext cx="4343400" cy="3726513"/>
          </a:xfrm>
          <a:prstGeom prst="rect">
            <a:avLst/>
          </a:prstGeom>
          <a:solidFill>
            <a:srgbClr val="FFFFFF">
              <a:shade val="85000"/>
            </a:srgbClr>
          </a:solidFill>
          <a:ln w="28575" cap="sq">
            <a:solidFill>
              <a:srgbClr val="FF0000"/>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8" name="Freeform 17">
            <a:extLst>
              <a:ext uri="{FF2B5EF4-FFF2-40B4-BE49-F238E27FC236}">
                <a16:creationId xmlns:a16="http://schemas.microsoft.com/office/drawing/2014/main" id="{007D4DD2-1C61-4A45-A8BC-07B704E3704A}"/>
              </a:ext>
            </a:extLst>
          </p:cNvPr>
          <p:cNvSpPr/>
          <p:nvPr/>
        </p:nvSpPr>
        <p:spPr>
          <a:xfrm rot="21226072">
            <a:off x="3779895" y="6811782"/>
            <a:ext cx="15806184" cy="9426233"/>
          </a:xfrm>
          <a:custGeom>
            <a:avLst/>
            <a:gdLst/>
            <a:ahLst/>
            <a:cxnLst/>
            <a:rect l="l" t="t" r="r" b="b"/>
            <a:pathLst>
              <a:path w="15806184" h="9426233">
                <a:moveTo>
                  <a:pt x="0" y="0"/>
                </a:moveTo>
                <a:lnTo>
                  <a:pt x="15806184" y="0"/>
                </a:lnTo>
                <a:lnTo>
                  <a:pt x="15806184" y="9426233"/>
                </a:lnTo>
                <a:lnTo>
                  <a:pt x="0" y="94262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23" name="Picture 22">
            <a:extLst>
              <a:ext uri="{FF2B5EF4-FFF2-40B4-BE49-F238E27FC236}">
                <a16:creationId xmlns:a16="http://schemas.microsoft.com/office/drawing/2014/main" id="{F609E32D-E545-4A84-B225-C7F48B40A4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5071" y="7146837"/>
            <a:ext cx="2905530" cy="3029373"/>
          </a:xfrm>
          <a:prstGeom prst="rect">
            <a:avLst/>
          </a:prstGeom>
        </p:spPr>
      </p:pic>
      <p:sp>
        <p:nvSpPr>
          <p:cNvPr id="7" name="TextBox 7"/>
          <p:cNvSpPr txBox="1"/>
          <p:nvPr/>
        </p:nvSpPr>
        <p:spPr>
          <a:xfrm>
            <a:off x="4129163" y="7168631"/>
            <a:ext cx="13626686" cy="1346266"/>
          </a:xfrm>
          <a:prstGeom prst="rect">
            <a:avLst/>
          </a:prstGeom>
        </p:spPr>
        <p:txBody>
          <a:bodyPr wrap="square" lIns="0" tIns="0" rIns="0" bIns="0" rtlCol="0" anchor="t">
            <a:spAutoFit/>
          </a:bodyPr>
          <a:lstStyle/>
          <a:p>
            <a:pPr marL="0" lvl="0" indent="0" algn="l">
              <a:lnSpc>
                <a:spcPts val="3640"/>
              </a:lnSpc>
              <a:spcBef>
                <a:spcPct val="0"/>
              </a:spcBef>
            </a:pPr>
            <a:r>
              <a:rPr lang="en-US" sz="2800" b="1" dirty="0">
                <a:solidFill>
                  <a:srgbClr val="253439"/>
                </a:solidFill>
                <a:latin typeface="Aileron"/>
                <a:ea typeface="Aileron"/>
                <a:cs typeface="Aileron"/>
                <a:sym typeface="Aileron"/>
              </a:rPr>
              <a:t>Insert Timeline for Order Date</a:t>
            </a:r>
          </a:p>
          <a:p>
            <a:pPr marL="0" lvl="0" indent="0" algn="l">
              <a:lnSpc>
                <a:spcPts val="3640"/>
              </a:lnSpc>
              <a:spcBef>
                <a:spcPct val="0"/>
              </a:spcBef>
            </a:pPr>
            <a:r>
              <a:rPr lang="en-US" sz="2600" dirty="0">
                <a:solidFill>
                  <a:srgbClr val="253439"/>
                </a:solidFill>
                <a:latin typeface="Aileron"/>
                <a:ea typeface="Aileron"/>
                <a:cs typeface="Aileron"/>
                <a:sym typeface="Aileron"/>
              </a:rPr>
              <a:t>A Timeline is added to allow users to filter the data by specific date ranges. This makes the dashboard interactive, enabling users to explore the sales data for different periods. </a:t>
            </a:r>
          </a:p>
        </p:txBody>
      </p:sp>
      <p:sp>
        <p:nvSpPr>
          <p:cNvPr id="29" name="Rectangle 28">
            <a:extLst>
              <a:ext uri="{FF2B5EF4-FFF2-40B4-BE49-F238E27FC236}">
                <a16:creationId xmlns:a16="http://schemas.microsoft.com/office/drawing/2014/main" id="{B00A3ECC-56A8-418A-900C-7A87F41CE4FB}"/>
              </a:ext>
            </a:extLst>
          </p:cNvPr>
          <p:cNvSpPr/>
          <p:nvPr/>
        </p:nvSpPr>
        <p:spPr>
          <a:xfrm>
            <a:off x="925832" y="7675480"/>
            <a:ext cx="1233514"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0" name="Rectangle 29">
            <a:extLst>
              <a:ext uri="{FF2B5EF4-FFF2-40B4-BE49-F238E27FC236}">
                <a16:creationId xmlns:a16="http://schemas.microsoft.com/office/drawing/2014/main" id="{609E8D8E-7604-451F-B103-28A67BF83DCC}"/>
              </a:ext>
            </a:extLst>
          </p:cNvPr>
          <p:cNvSpPr/>
          <p:nvPr/>
        </p:nvSpPr>
        <p:spPr>
          <a:xfrm>
            <a:off x="7173412" y="4449810"/>
            <a:ext cx="877342" cy="13736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DB766212-0FED-4B89-B588-2B5024085E04}"/>
              </a:ext>
            </a:extLst>
          </p:cNvPr>
          <p:cNvSpPr/>
          <p:nvPr/>
        </p:nvSpPr>
        <p:spPr>
          <a:xfrm>
            <a:off x="7173412" y="5587825"/>
            <a:ext cx="884749" cy="20095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5" name="TextBox 5"/>
          <p:cNvSpPr txBox="1"/>
          <p:nvPr/>
        </p:nvSpPr>
        <p:spPr>
          <a:xfrm>
            <a:off x="685800" y="1026207"/>
            <a:ext cx="11811000" cy="1077218"/>
          </a:xfrm>
          <a:prstGeom prst="rect">
            <a:avLst/>
          </a:prstGeom>
        </p:spPr>
        <p:txBody>
          <a:bodyPr wrap="square" lIns="0" tIns="0" rIns="0" bIns="0" rtlCol="0" anchor="t">
            <a:spAutoFit/>
          </a:bodyPr>
          <a:lstStyle/>
          <a:p>
            <a:pPr marL="0" lvl="0" indent="0" algn="l">
              <a:lnSpc>
                <a:spcPts val="9240"/>
              </a:lnSpc>
              <a:spcBef>
                <a:spcPct val="0"/>
              </a:spcBef>
            </a:pPr>
            <a:r>
              <a:rPr lang="en-US" sz="5400" b="1" dirty="0">
                <a:solidFill>
                  <a:srgbClr val="253439"/>
                </a:solidFill>
                <a:latin typeface="Glacial Indifference Bold"/>
                <a:ea typeface="Glacial Indifference Bold"/>
                <a:cs typeface="Glacial Indifference Bold"/>
                <a:sym typeface="Glacial Indifference Bold"/>
              </a:rPr>
              <a:t>TO DASHBOARD</a:t>
            </a:r>
          </a:p>
        </p:txBody>
      </p:sp>
      <p:sp>
        <p:nvSpPr>
          <p:cNvPr id="9" name="TextBox 9"/>
          <p:cNvSpPr txBox="1"/>
          <p:nvPr/>
        </p:nvSpPr>
        <p:spPr>
          <a:xfrm>
            <a:off x="7697139" y="2279031"/>
            <a:ext cx="7848600" cy="1352165"/>
          </a:xfrm>
          <a:prstGeom prst="rect">
            <a:avLst/>
          </a:prstGeom>
        </p:spPr>
        <p:txBody>
          <a:bodyPr wrap="square" lIns="0" tIns="0" rIns="0" bIns="0" rtlCol="0" anchor="t">
            <a:spAutoFit/>
          </a:bodyPr>
          <a:lstStyle/>
          <a:p>
            <a:pPr marL="0" lvl="0" indent="0" algn="l">
              <a:lnSpc>
                <a:spcPts val="3640"/>
              </a:lnSpc>
              <a:spcBef>
                <a:spcPct val="0"/>
              </a:spcBef>
            </a:pPr>
            <a:r>
              <a:rPr lang="en-US" sz="3200" b="1" dirty="0">
                <a:solidFill>
                  <a:srgbClr val="253439"/>
                </a:solidFill>
                <a:latin typeface="Aileron"/>
                <a:ea typeface="Aileron"/>
                <a:cs typeface="Aileron"/>
                <a:sym typeface="Aileron"/>
              </a:rPr>
              <a:t>Key Metrics Section</a:t>
            </a:r>
          </a:p>
          <a:p>
            <a:pPr marL="0" lvl="0" indent="0" algn="l">
              <a:lnSpc>
                <a:spcPts val="3640"/>
              </a:lnSpc>
              <a:spcBef>
                <a:spcPct val="0"/>
              </a:spcBef>
            </a:pPr>
            <a:r>
              <a:rPr lang="en-US" sz="2800" dirty="0">
                <a:solidFill>
                  <a:srgbClr val="253439"/>
                </a:solidFill>
                <a:latin typeface="Aileron"/>
                <a:ea typeface="Aileron"/>
                <a:cs typeface="Aileron"/>
                <a:sym typeface="Aileron"/>
              </a:rPr>
              <a:t>A dedicated section is created on the dashboard to display important sales metrics.</a:t>
            </a:r>
            <a:endParaRPr lang="en-US" sz="2600" dirty="0">
              <a:solidFill>
                <a:srgbClr val="253439"/>
              </a:solidFill>
              <a:latin typeface="Aileron"/>
              <a:ea typeface="Aileron"/>
              <a:cs typeface="Aileron"/>
              <a:sym typeface="Aileron"/>
            </a:endParaRPr>
          </a:p>
        </p:txBody>
      </p:sp>
      <p:sp>
        <p:nvSpPr>
          <p:cNvPr id="10" name="TextBox 10"/>
          <p:cNvSpPr txBox="1"/>
          <p:nvPr/>
        </p:nvSpPr>
        <p:spPr>
          <a:xfrm>
            <a:off x="685800" y="123604"/>
            <a:ext cx="6886727" cy="928972"/>
          </a:xfrm>
          <a:prstGeom prst="rect">
            <a:avLst/>
          </a:prstGeom>
        </p:spPr>
        <p:txBody>
          <a:bodyPr lIns="0" tIns="0" rIns="0" bIns="0" rtlCol="0" anchor="t">
            <a:spAutoFit/>
          </a:bodyPr>
          <a:lstStyle/>
          <a:p>
            <a:pPr marL="0" lvl="0" indent="0" algn="l">
              <a:lnSpc>
                <a:spcPts val="7920"/>
              </a:lnSpc>
              <a:spcBef>
                <a:spcPct val="0"/>
              </a:spcBef>
            </a:pPr>
            <a:r>
              <a:rPr lang="en-US" sz="4000" dirty="0">
                <a:solidFill>
                  <a:srgbClr val="253439"/>
                </a:solidFill>
                <a:latin typeface="HK Grotesk"/>
                <a:ea typeface="HK Grotesk"/>
                <a:cs typeface="HK Grotesk"/>
                <a:sym typeface="HK Grotesk"/>
              </a:rPr>
              <a:t>ADDING KEY METRICS</a:t>
            </a:r>
          </a:p>
        </p:txBody>
      </p:sp>
      <p:sp>
        <p:nvSpPr>
          <p:cNvPr id="11" name="AutoShape 11"/>
          <p:cNvSpPr/>
          <p:nvPr/>
        </p:nvSpPr>
        <p:spPr>
          <a:xfrm flipV="1">
            <a:off x="381000" y="190500"/>
            <a:ext cx="0" cy="1885508"/>
          </a:xfrm>
          <a:prstGeom prst="line">
            <a:avLst/>
          </a:prstGeom>
          <a:ln w="133350" cap="flat">
            <a:solidFill>
              <a:schemeClr val="accent3">
                <a:lumMod val="50000"/>
              </a:schemeClr>
            </a:solidFill>
            <a:prstDash val="solid"/>
            <a:headEnd type="none" w="sm" len="sm"/>
            <a:tailEnd type="none" w="sm" len="sm"/>
          </a:ln>
        </p:spPr>
      </p:sp>
      <p:sp>
        <p:nvSpPr>
          <p:cNvPr id="17" name="Freeform 17"/>
          <p:cNvSpPr/>
          <p:nvPr/>
        </p:nvSpPr>
        <p:spPr>
          <a:xfrm rot="12248729">
            <a:off x="6265679" y="-5885293"/>
            <a:ext cx="15806184" cy="9426233"/>
          </a:xfrm>
          <a:custGeom>
            <a:avLst/>
            <a:gdLst/>
            <a:ahLst/>
            <a:cxnLst/>
            <a:rect l="l" t="t" r="r" b="b"/>
            <a:pathLst>
              <a:path w="15806184" h="9426233">
                <a:moveTo>
                  <a:pt x="0" y="0"/>
                </a:moveTo>
                <a:lnTo>
                  <a:pt x="15806184" y="0"/>
                </a:lnTo>
                <a:lnTo>
                  <a:pt x="15806184" y="9426233"/>
                </a:lnTo>
                <a:lnTo>
                  <a:pt x="0" y="94262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8" name="Freeform 17">
            <a:extLst>
              <a:ext uri="{FF2B5EF4-FFF2-40B4-BE49-F238E27FC236}">
                <a16:creationId xmlns:a16="http://schemas.microsoft.com/office/drawing/2014/main" id="{007D4DD2-1C61-4A45-A8BC-07B704E3704A}"/>
              </a:ext>
            </a:extLst>
          </p:cNvPr>
          <p:cNvSpPr/>
          <p:nvPr/>
        </p:nvSpPr>
        <p:spPr>
          <a:xfrm rot="21226072">
            <a:off x="3779895" y="6811782"/>
            <a:ext cx="15806184" cy="9426233"/>
          </a:xfrm>
          <a:custGeom>
            <a:avLst/>
            <a:gdLst/>
            <a:ahLst/>
            <a:cxnLst/>
            <a:rect l="l" t="t" r="r" b="b"/>
            <a:pathLst>
              <a:path w="15806184" h="9426233">
                <a:moveTo>
                  <a:pt x="0" y="0"/>
                </a:moveTo>
                <a:lnTo>
                  <a:pt x="15806184" y="0"/>
                </a:lnTo>
                <a:lnTo>
                  <a:pt x="15806184" y="9426233"/>
                </a:lnTo>
                <a:lnTo>
                  <a:pt x="0" y="94262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3" name="Picture 2">
            <a:extLst>
              <a:ext uri="{FF2B5EF4-FFF2-40B4-BE49-F238E27FC236}">
                <a16:creationId xmlns:a16="http://schemas.microsoft.com/office/drawing/2014/main" id="{182277D4-8B9A-424F-A54E-5379C607D6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7169" y="2307374"/>
            <a:ext cx="6540872" cy="1388325"/>
          </a:xfrm>
          <a:prstGeom prst="rect">
            <a:avLst/>
          </a:prstGeom>
          <a:ln w="38100">
            <a:solidFill>
              <a:schemeClr val="accent3">
                <a:lumMod val="50000"/>
              </a:schemeClr>
            </a:solidFill>
          </a:ln>
        </p:spPr>
      </p:pic>
      <p:pic>
        <p:nvPicPr>
          <p:cNvPr id="6" name="Picture 5">
            <a:extLst>
              <a:ext uri="{FF2B5EF4-FFF2-40B4-BE49-F238E27FC236}">
                <a16:creationId xmlns:a16="http://schemas.microsoft.com/office/drawing/2014/main" id="{2EB8CD83-D2D1-422C-BB3F-A5C3C8855A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7169" y="3899648"/>
            <a:ext cx="6540872" cy="2250863"/>
          </a:xfrm>
          <a:prstGeom prst="rect">
            <a:avLst/>
          </a:prstGeom>
          <a:ln w="38100">
            <a:solidFill>
              <a:schemeClr val="accent3">
                <a:lumMod val="50000"/>
              </a:schemeClr>
            </a:solidFill>
          </a:ln>
        </p:spPr>
      </p:pic>
      <p:pic>
        <p:nvPicPr>
          <p:cNvPr id="12" name="Picture 11">
            <a:extLst>
              <a:ext uri="{FF2B5EF4-FFF2-40B4-BE49-F238E27FC236}">
                <a16:creationId xmlns:a16="http://schemas.microsoft.com/office/drawing/2014/main" id="{6E0920B2-CE40-4DB9-80D2-83B5A1D0603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7168" y="6337142"/>
            <a:ext cx="6540871" cy="3698159"/>
          </a:xfrm>
          <a:prstGeom prst="rect">
            <a:avLst/>
          </a:prstGeom>
          <a:ln w="38100">
            <a:solidFill>
              <a:schemeClr val="accent3">
                <a:lumMod val="50000"/>
              </a:schemeClr>
            </a:solidFill>
          </a:ln>
        </p:spPr>
      </p:pic>
      <p:sp>
        <p:nvSpPr>
          <p:cNvPr id="18" name="TextBox 9">
            <a:extLst>
              <a:ext uri="{FF2B5EF4-FFF2-40B4-BE49-F238E27FC236}">
                <a16:creationId xmlns:a16="http://schemas.microsoft.com/office/drawing/2014/main" id="{1A5E7B6C-9C59-4015-B5AC-3B774562C795}"/>
              </a:ext>
            </a:extLst>
          </p:cNvPr>
          <p:cNvSpPr txBox="1"/>
          <p:nvPr/>
        </p:nvSpPr>
        <p:spPr>
          <a:xfrm>
            <a:off x="7708488" y="3899648"/>
            <a:ext cx="7848600" cy="5045484"/>
          </a:xfrm>
          <a:prstGeom prst="rect">
            <a:avLst/>
          </a:prstGeom>
        </p:spPr>
        <p:txBody>
          <a:bodyPr wrap="square" lIns="0" tIns="0" rIns="0" bIns="0" rtlCol="0" anchor="t">
            <a:spAutoFit/>
          </a:bodyPr>
          <a:lstStyle/>
          <a:p>
            <a:pPr marL="0" lvl="0" indent="0" algn="l">
              <a:lnSpc>
                <a:spcPts val="3640"/>
              </a:lnSpc>
              <a:spcBef>
                <a:spcPct val="0"/>
              </a:spcBef>
            </a:pPr>
            <a:r>
              <a:rPr lang="en-US" sz="3200" b="1" dirty="0">
                <a:solidFill>
                  <a:srgbClr val="253439"/>
                </a:solidFill>
                <a:latin typeface="Aileron"/>
                <a:ea typeface="Aileron"/>
                <a:cs typeface="Aileron"/>
                <a:sym typeface="Aileron"/>
              </a:rPr>
              <a:t>Use of GETPIVOTDATA</a:t>
            </a:r>
          </a:p>
          <a:p>
            <a:pPr marL="0" lvl="0" indent="0" algn="l">
              <a:lnSpc>
                <a:spcPts val="3640"/>
              </a:lnSpc>
              <a:spcBef>
                <a:spcPct val="0"/>
              </a:spcBef>
            </a:pPr>
            <a:r>
              <a:rPr lang="en-US" sz="2800" dirty="0">
                <a:solidFill>
                  <a:srgbClr val="253439"/>
                </a:solidFill>
                <a:latin typeface="Aileron"/>
                <a:ea typeface="Aileron"/>
                <a:cs typeface="Aileron"/>
                <a:sym typeface="Aileron"/>
              </a:rPr>
              <a:t>The </a:t>
            </a:r>
            <a:r>
              <a:rPr lang="en-US" sz="2800" b="1" dirty="0">
                <a:solidFill>
                  <a:srgbClr val="253439"/>
                </a:solidFill>
                <a:latin typeface="Aileron"/>
                <a:ea typeface="Aileron"/>
                <a:cs typeface="Aileron"/>
                <a:sym typeface="Aileron"/>
              </a:rPr>
              <a:t>=GETPIVOTDATA() </a:t>
            </a:r>
            <a:r>
              <a:rPr lang="en-US" sz="2800" dirty="0">
                <a:solidFill>
                  <a:srgbClr val="253439"/>
                </a:solidFill>
                <a:latin typeface="Aileron"/>
                <a:ea typeface="Aileron"/>
                <a:cs typeface="Aileron"/>
                <a:sym typeface="Aileron"/>
              </a:rPr>
              <a:t>function is used to retrieve values directly from the Pivot Table.</a:t>
            </a:r>
          </a:p>
          <a:p>
            <a:pPr marL="0" lvl="0" indent="0" algn="l">
              <a:lnSpc>
                <a:spcPts val="3640"/>
              </a:lnSpc>
              <a:spcBef>
                <a:spcPct val="0"/>
              </a:spcBef>
            </a:pPr>
            <a:r>
              <a:rPr lang="en-US" sz="2800" dirty="0">
                <a:solidFill>
                  <a:srgbClr val="253439"/>
                </a:solidFill>
                <a:latin typeface="Aileron"/>
                <a:ea typeface="Aileron"/>
                <a:cs typeface="Aileron"/>
                <a:sym typeface="Aileron"/>
              </a:rPr>
              <a:t>Each metrics is extracted as follows:</a:t>
            </a:r>
          </a:p>
          <a:p>
            <a:pPr marL="457200" lvl="0" indent="-457200" algn="l">
              <a:lnSpc>
                <a:spcPts val="3640"/>
              </a:lnSpc>
              <a:spcBef>
                <a:spcPct val="0"/>
              </a:spcBef>
              <a:buFont typeface="Wingdings" panose="05000000000000000000" pitchFamily="2" charset="2"/>
              <a:buChar char="Ø"/>
            </a:pPr>
            <a:r>
              <a:rPr lang="en-US" sz="2800" dirty="0">
                <a:solidFill>
                  <a:srgbClr val="253439"/>
                </a:solidFill>
                <a:latin typeface="Aileron"/>
                <a:ea typeface="Aileron"/>
                <a:cs typeface="Aileron"/>
                <a:sym typeface="Aileron"/>
              </a:rPr>
              <a:t>Sum of Sales</a:t>
            </a:r>
          </a:p>
          <a:p>
            <a:pPr marL="457200" lvl="0" indent="-457200" algn="l">
              <a:lnSpc>
                <a:spcPts val="3640"/>
              </a:lnSpc>
              <a:spcBef>
                <a:spcPct val="0"/>
              </a:spcBef>
              <a:buFont typeface="Wingdings" panose="05000000000000000000" pitchFamily="2" charset="2"/>
              <a:buChar char="Ø"/>
            </a:pPr>
            <a:r>
              <a:rPr lang="en-US" sz="2800" dirty="0">
                <a:solidFill>
                  <a:srgbClr val="253439"/>
                </a:solidFill>
                <a:latin typeface="Aileron"/>
                <a:ea typeface="Aileron"/>
                <a:cs typeface="Aileron"/>
                <a:sym typeface="Aileron"/>
              </a:rPr>
              <a:t>Average of Sales</a:t>
            </a:r>
          </a:p>
          <a:p>
            <a:pPr marL="457200" lvl="0" indent="-457200" algn="l">
              <a:lnSpc>
                <a:spcPts val="3640"/>
              </a:lnSpc>
              <a:spcBef>
                <a:spcPct val="0"/>
              </a:spcBef>
              <a:buFont typeface="Wingdings" panose="05000000000000000000" pitchFamily="2" charset="2"/>
              <a:buChar char="Ø"/>
            </a:pPr>
            <a:r>
              <a:rPr lang="en-US" sz="2800" dirty="0">
                <a:solidFill>
                  <a:srgbClr val="253439"/>
                </a:solidFill>
                <a:latin typeface="Aileron"/>
                <a:ea typeface="Aileron"/>
                <a:cs typeface="Aileron"/>
                <a:sym typeface="Aileron"/>
              </a:rPr>
              <a:t>Max of Sales</a:t>
            </a:r>
          </a:p>
          <a:p>
            <a:pPr marL="457200" lvl="0" indent="-457200" algn="l">
              <a:lnSpc>
                <a:spcPts val="3640"/>
              </a:lnSpc>
              <a:spcBef>
                <a:spcPct val="0"/>
              </a:spcBef>
              <a:buFont typeface="Wingdings" panose="05000000000000000000" pitchFamily="2" charset="2"/>
              <a:buChar char="Ø"/>
            </a:pPr>
            <a:r>
              <a:rPr lang="en-US" sz="2800" dirty="0">
                <a:solidFill>
                  <a:srgbClr val="253439"/>
                </a:solidFill>
                <a:latin typeface="Aileron"/>
                <a:ea typeface="Aileron"/>
                <a:cs typeface="Aileron"/>
                <a:sym typeface="Aileron"/>
              </a:rPr>
              <a:t>Min of Sales</a:t>
            </a:r>
          </a:p>
          <a:p>
            <a:pPr lvl="0" algn="l">
              <a:lnSpc>
                <a:spcPts val="3640"/>
              </a:lnSpc>
              <a:spcBef>
                <a:spcPct val="0"/>
              </a:spcBef>
            </a:pPr>
            <a:endParaRPr lang="en-US" sz="2800" dirty="0">
              <a:solidFill>
                <a:srgbClr val="253439"/>
              </a:solidFill>
              <a:latin typeface="Aileron"/>
              <a:ea typeface="Aileron"/>
              <a:cs typeface="Aileron"/>
              <a:sym typeface="Aileron"/>
            </a:endParaRPr>
          </a:p>
          <a:p>
            <a:pPr lvl="0" algn="l">
              <a:lnSpc>
                <a:spcPts val="3640"/>
              </a:lnSpc>
              <a:spcBef>
                <a:spcPct val="0"/>
              </a:spcBef>
            </a:pPr>
            <a:r>
              <a:rPr lang="en-US" sz="2800" dirty="0">
                <a:solidFill>
                  <a:srgbClr val="253439"/>
                </a:solidFill>
                <a:latin typeface="Aileron"/>
                <a:ea typeface="Aileron"/>
                <a:cs typeface="Aileron"/>
                <a:sym typeface="Aileron"/>
              </a:rPr>
              <a:t>The retrieved values are displayed in a clean and structured layout.</a:t>
            </a:r>
            <a:endParaRPr lang="en-US" sz="2600" dirty="0">
              <a:solidFill>
                <a:srgbClr val="253439"/>
              </a:solidFill>
              <a:latin typeface="Aileron"/>
              <a:ea typeface="Aileron"/>
              <a:cs typeface="Aileron"/>
              <a:sym typeface="Aileron"/>
            </a:endParaRPr>
          </a:p>
        </p:txBody>
      </p:sp>
      <p:sp>
        <p:nvSpPr>
          <p:cNvPr id="20" name="Rectangle 19">
            <a:extLst>
              <a:ext uri="{FF2B5EF4-FFF2-40B4-BE49-F238E27FC236}">
                <a16:creationId xmlns:a16="http://schemas.microsoft.com/office/drawing/2014/main" id="{872F39A8-D3CA-474B-95C3-70CD5AFE1E85}"/>
              </a:ext>
            </a:extLst>
          </p:cNvPr>
          <p:cNvSpPr/>
          <p:nvPr/>
        </p:nvSpPr>
        <p:spPr>
          <a:xfrm>
            <a:off x="751023" y="3919116"/>
            <a:ext cx="3847728" cy="38618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2302842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Freeform 2"/>
          <p:cNvSpPr/>
          <p:nvPr/>
        </p:nvSpPr>
        <p:spPr>
          <a:xfrm rot="7107145">
            <a:off x="7476180" y="812946"/>
            <a:ext cx="15422517" cy="9197428"/>
          </a:xfrm>
          <a:custGeom>
            <a:avLst/>
            <a:gdLst/>
            <a:ahLst/>
            <a:cxnLst/>
            <a:rect l="l" t="t" r="r" b="b"/>
            <a:pathLst>
              <a:path w="15422517" h="9197428">
                <a:moveTo>
                  <a:pt x="0" y="0"/>
                </a:moveTo>
                <a:lnTo>
                  <a:pt x="15422516" y="0"/>
                </a:lnTo>
                <a:lnTo>
                  <a:pt x="15422516" y="9197428"/>
                </a:lnTo>
                <a:lnTo>
                  <a:pt x="0" y="91974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 y="2076504"/>
            <a:ext cx="18288000" cy="6575386"/>
            <a:chOff x="0" y="0"/>
            <a:chExt cx="5226780" cy="1731789"/>
          </a:xfrm>
        </p:grpSpPr>
        <p:sp>
          <p:nvSpPr>
            <p:cNvPr id="4" name="Freeform 4"/>
            <p:cNvSpPr/>
            <p:nvPr/>
          </p:nvSpPr>
          <p:spPr>
            <a:xfrm>
              <a:off x="0" y="0"/>
              <a:ext cx="5226780" cy="1731789"/>
            </a:xfrm>
            <a:custGeom>
              <a:avLst/>
              <a:gdLst/>
              <a:ahLst/>
              <a:cxnLst/>
              <a:rect l="l" t="t" r="r" b="b"/>
              <a:pathLst>
                <a:path w="5226780" h="1731789">
                  <a:moveTo>
                    <a:pt x="0" y="0"/>
                  </a:moveTo>
                  <a:lnTo>
                    <a:pt x="5226780" y="0"/>
                  </a:lnTo>
                  <a:lnTo>
                    <a:pt x="5226780" y="1731789"/>
                  </a:lnTo>
                  <a:lnTo>
                    <a:pt x="0" y="1731789"/>
                  </a:lnTo>
                  <a:close/>
                </a:path>
              </a:pathLst>
            </a:custGeom>
            <a:gradFill rotWithShape="1">
              <a:gsLst>
                <a:gs pos="0">
                  <a:srgbClr val="FDF7EF">
                    <a:alpha val="100000"/>
                  </a:srgbClr>
                </a:gs>
                <a:gs pos="100000">
                  <a:srgbClr val="FFFFFF">
                    <a:alpha val="100000"/>
                  </a:srgbClr>
                </a:gs>
              </a:gsLst>
              <a:lin ang="0"/>
            </a:gradFill>
            <a:ln cap="sq">
              <a:noFill/>
              <a:prstDash val="solid"/>
              <a:miter/>
            </a:ln>
          </p:spPr>
        </p:sp>
        <p:sp>
          <p:nvSpPr>
            <p:cNvPr id="5" name="TextBox 5"/>
            <p:cNvSpPr txBox="1"/>
            <p:nvPr/>
          </p:nvSpPr>
          <p:spPr>
            <a:xfrm>
              <a:off x="0" y="9525"/>
              <a:ext cx="5226780" cy="1722264"/>
            </a:xfrm>
            <a:prstGeom prst="rect">
              <a:avLst/>
            </a:prstGeom>
          </p:spPr>
          <p:txBody>
            <a:bodyPr lIns="50800" tIns="50800" rIns="50800" bIns="50800" rtlCol="0" anchor="ctr"/>
            <a:lstStyle/>
            <a:p>
              <a:pPr algn="ctr">
                <a:lnSpc>
                  <a:spcPts val="1869"/>
                </a:lnSpc>
              </a:pPr>
              <a:endParaRPr/>
            </a:p>
          </p:txBody>
        </p:sp>
      </p:grpSp>
      <p:grpSp>
        <p:nvGrpSpPr>
          <p:cNvPr id="6" name="Group 6"/>
          <p:cNvGrpSpPr/>
          <p:nvPr/>
        </p:nvGrpSpPr>
        <p:grpSpPr>
          <a:xfrm>
            <a:off x="-545081" y="1188691"/>
            <a:ext cx="4660796" cy="2857690"/>
            <a:chOff x="0" y="0"/>
            <a:chExt cx="1227535" cy="1200856"/>
          </a:xfrm>
          <a:solidFill>
            <a:schemeClr val="accent3">
              <a:lumMod val="75000"/>
            </a:schemeClr>
          </a:solidFill>
        </p:grpSpPr>
        <p:sp>
          <p:nvSpPr>
            <p:cNvPr id="7" name="Freeform 7"/>
            <p:cNvSpPr/>
            <p:nvPr/>
          </p:nvSpPr>
          <p:spPr>
            <a:xfrm>
              <a:off x="0" y="0"/>
              <a:ext cx="1227535" cy="1200856"/>
            </a:xfrm>
            <a:custGeom>
              <a:avLst/>
              <a:gdLst/>
              <a:ahLst/>
              <a:cxnLst/>
              <a:rect l="l" t="t" r="r" b="b"/>
              <a:pathLst>
                <a:path w="1227535" h="1200856">
                  <a:moveTo>
                    <a:pt x="0" y="0"/>
                  </a:moveTo>
                  <a:lnTo>
                    <a:pt x="1227535" y="0"/>
                  </a:lnTo>
                  <a:lnTo>
                    <a:pt x="1227535" y="1200856"/>
                  </a:lnTo>
                  <a:lnTo>
                    <a:pt x="0" y="1200856"/>
                  </a:lnTo>
                  <a:close/>
                </a:path>
              </a:pathLst>
            </a:custGeom>
            <a:grpFill/>
          </p:spPr>
        </p:sp>
        <p:sp>
          <p:nvSpPr>
            <p:cNvPr id="8" name="TextBox 8"/>
            <p:cNvSpPr txBox="1"/>
            <p:nvPr/>
          </p:nvSpPr>
          <p:spPr>
            <a:xfrm>
              <a:off x="0" y="-47625"/>
              <a:ext cx="1227535" cy="1248481"/>
            </a:xfrm>
            <a:prstGeom prst="rect">
              <a:avLst/>
            </a:prstGeom>
            <a:grpFill/>
          </p:spPr>
          <p:txBody>
            <a:bodyPr lIns="50800" tIns="50800" rIns="50800" bIns="50800" rtlCol="0" anchor="ctr"/>
            <a:lstStyle/>
            <a:p>
              <a:pPr algn="ctr">
                <a:lnSpc>
                  <a:spcPts val="3244"/>
                </a:lnSpc>
              </a:pPr>
              <a:endParaRPr/>
            </a:p>
          </p:txBody>
        </p:sp>
      </p:grpSp>
      <p:grpSp>
        <p:nvGrpSpPr>
          <p:cNvPr id="9" name="Group 9"/>
          <p:cNvGrpSpPr/>
          <p:nvPr/>
        </p:nvGrpSpPr>
        <p:grpSpPr>
          <a:xfrm>
            <a:off x="5520478" y="-446431"/>
            <a:ext cx="2373131" cy="2411751"/>
            <a:chOff x="0" y="0"/>
            <a:chExt cx="625022" cy="635194"/>
          </a:xfrm>
          <a:solidFill>
            <a:schemeClr val="accent3">
              <a:lumMod val="75000"/>
            </a:schemeClr>
          </a:solidFill>
        </p:grpSpPr>
        <p:sp>
          <p:nvSpPr>
            <p:cNvPr id="10" name="Freeform 10"/>
            <p:cNvSpPr/>
            <p:nvPr/>
          </p:nvSpPr>
          <p:spPr>
            <a:xfrm>
              <a:off x="0" y="0"/>
              <a:ext cx="625022" cy="635194"/>
            </a:xfrm>
            <a:custGeom>
              <a:avLst/>
              <a:gdLst/>
              <a:ahLst/>
              <a:cxnLst/>
              <a:rect l="l" t="t" r="r" b="b"/>
              <a:pathLst>
                <a:path w="625022" h="635194">
                  <a:moveTo>
                    <a:pt x="0" y="0"/>
                  </a:moveTo>
                  <a:lnTo>
                    <a:pt x="625022" y="0"/>
                  </a:lnTo>
                  <a:lnTo>
                    <a:pt x="625022" y="635194"/>
                  </a:lnTo>
                  <a:lnTo>
                    <a:pt x="0" y="635194"/>
                  </a:lnTo>
                  <a:close/>
                </a:path>
              </a:pathLst>
            </a:custGeom>
            <a:grpFill/>
            <a:ln>
              <a:noFill/>
            </a:ln>
          </p:spPr>
        </p:sp>
        <p:sp>
          <p:nvSpPr>
            <p:cNvPr id="11" name="TextBox 11"/>
            <p:cNvSpPr txBox="1"/>
            <p:nvPr/>
          </p:nvSpPr>
          <p:spPr>
            <a:xfrm>
              <a:off x="0" y="-47625"/>
              <a:ext cx="625022" cy="682819"/>
            </a:xfrm>
            <a:prstGeom prst="rect">
              <a:avLst/>
            </a:prstGeom>
            <a:grpFill/>
            <a:ln>
              <a:noFill/>
            </a:ln>
          </p:spPr>
          <p:txBody>
            <a:bodyPr lIns="50800" tIns="50800" rIns="50800" bIns="50800" rtlCol="0" anchor="ctr"/>
            <a:lstStyle/>
            <a:p>
              <a:pPr algn="ctr">
                <a:lnSpc>
                  <a:spcPts val="3244"/>
                </a:lnSpc>
              </a:pPr>
              <a:endParaRPr/>
            </a:p>
          </p:txBody>
        </p:sp>
      </p:grpSp>
      <p:sp>
        <p:nvSpPr>
          <p:cNvPr id="14" name="AutoShape 14"/>
          <p:cNvSpPr/>
          <p:nvPr/>
        </p:nvSpPr>
        <p:spPr>
          <a:xfrm flipH="1" flipV="1">
            <a:off x="15971321" y="225269"/>
            <a:ext cx="33959" cy="1478654"/>
          </a:xfrm>
          <a:prstGeom prst="line">
            <a:avLst/>
          </a:prstGeom>
          <a:ln w="133350" cap="flat">
            <a:solidFill>
              <a:schemeClr val="accent3">
                <a:lumMod val="50000"/>
              </a:schemeClr>
            </a:solidFill>
            <a:prstDash val="solid"/>
            <a:headEnd type="none" w="sm" len="sm"/>
            <a:tailEnd type="none" w="sm" len="sm"/>
          </a:ln>
        </p:spPr>
      </p:sp>
      <p:sp>
        <p:nvSpPr>
          <p:cNvPr id="15" name="TextBox 15"/>
          <p:cNvSpPr txBox="1"/>
          <p:nvPr/>
        </p:nvSpPr>
        <p:spPr>
          <a:xfrm>
            <a:off x="10690025" y="-41027"/>
            <a:ext cx="4946376" cy="1002069"/>
          </a:xfrm>
          <a:prstGeom prst="rect">
            <a:avLst/>
          </a:prstGeom>
        </p:spPr>
        <p:txBody>
          <a:bodyPr wrap="square" lIns="0" tIns="0" rIns="0" bIns="0" rtlCol="0" anchor="t">
            <a:spAutoFit/>
          </a:bodyPr>
          <a:lstStyle/>
          <a:p>
            <a:pPr algn="r">
              <a:lnSpc>
                <a:spcPts val="8470"/>
              </a:lnSpc>
            </a:pPr>
            <a:r>
              <a:rPr lang="en-US" sz="4800" b="1" spc="246" dirty="0">
                <a:solidFill>
                  <a:srgbClr val="000000"/>
                </a:solidFill>
                <a:latin typeface="HK Grotesk Light" panose="020B0604020202020204" charset="0"/>
                <a:ea typeface="Glacial Indifference Bold"/>
                <a:cs typeface="Glacial Indifference Bold"/>
                <a:sym typeface="Glacial Indifference Bold"/>
              </a:rPr>
              <a:t>New Pivot Table</a:t>
            </a:r>
          </a:p>
        </p:txBody>
      </p:sp>
      <p:sp>
        <p:nvSpPr>
          <p:cNvPr id="16" name="TextBox 16"/>
          <p:cNvSpPr txBox="1"/>
          <p:nvPr/>
        </p:nvSpPr>
        <p:spPr>
          <a:xfrm>
            <a:off x="7407952" y="2135687"/>
            <a:ext cx="10346648" cy="1898212"/>
          </a:xfrm>
          <a:prstGeom prst="rect">
            <a:avLst/>
          </a:prstGeom>
        </p:spPr>
        <p:txBody>
          <a:bodyPr wrap="square" lIns="0" tIns="0" rIns="0" bIns="0" rtlCol="0" anchor="t">
            <a:spAutoFit/>
          </a:bodyPr>
          <a:lstStyle/>
          <a:p>
            <a:pPr algn="just">
              <a:lnSpc>
                <a:spcPts val="3822"/>
              </a:lnSpc>
            </a:pPr>
            <a:r>
              <a:rPr lang="en-US" sz="2800" b="1" dirty="0">
                <a:solidFill>
                  <a:srgbClr val="000000"/>
                </a:solidFill>
                <a:latin typeface="Aileron"/>
                <a:ea typeface="Aileron"/>
                <a:cs typeface="Aileron"/>
                <a:sym typeface="Aileron"/>
              </a:rPr>
              <a:t>Create a New Pivot Table</a:t>
            </a:r>
          </a:p>
          <a:p>
            <a:pPr algn="just">
              <a:lnSpc>
                <a:spcPts val="3822"/>
              </a:lnSpc>
            </a:pPr>
            <a:r>
              <a:rPr lang="en-US" sz="2400" dirty="0">
                <a:solidFill>
                  <a:srgbClr val="000000"/>
                </a:solidFill>
                <a:latin typeface="Aileron"/>
                <a:ea typeface="Aileron"/>
                <a:cs typeface="Aileron"/>
                <a:sym typeface="Aileron"/>
              </a:rPr>
              <a:t>A new Pivot Table is created to analyze sales data based on </a:t>
            </a:r>
            <a:r>
              <a:rPr lang="en-US" sz="2400" b="1" dirty="0">
                <a:solidFill>
                  <a:srgbClr val="000000"/>
                </a:solidFill>
                <a:latin typeface="Aileron"/>
                <a:ea typeface="Aileron"/>
                <a:cs typeface="Aileron"/>
                <a:sym typeface="Aileron"/>
              </a:rPr>
              <a:t>Category </a:t>
            </a:r>
            <a:r>
              <a:rPr lang="en-US" sz="2400" dirty="0">
                <a:solidFill>
                  <a:srgbClr val="000000"/>
                </a:solidFill>
                <a:latin typeface="Aileron"/>
                <a:ea typeface="Aileron"/>
                <a:cs typeface="Aileron"/>
                <a:sym typeface="Aileron"/>
              </a:rPr>
              <a:t>(Furniture, Office </a:t>
            </a:r>
            <a:r>
              <a:rPr lang="en-US" sz="2400" dirty="0" err="1">
                <a:solidFill>
                  <a:srgbClr val="000000"/>
                </a:solidFill>
                <a:latin typeface="Aileron"/>
                <a:ea typeface="Aileron"/>
                <a:cs typeface="Aileron"/>
                <a:sym typeface="Aileron"/>
              </a:rPr>
              <a:t>Suplies</a:t>
            </a:r>
            <a:r>
              <a:rPr lang="en-US" sz="2400" dirty="0">
                <a:solidFill>
                  <a:srgbClr val="000000"/>
                </a:solidFill>
                <a:latin typeface="Aileron"/>
                <a:ea typeface="Aileron"/>
                <a:cs typeface="Aileron"/>
                <a:sym typeface="Aileron"/>
              </a:rPr>
              <a:t>, Technology) and </a:t>
            </a:r>
            <a:r>
              <a:rPr lang="en-US" sz="2400" b="1" dirty="0">
                <a:solidFill>
                  <a:srgbClr val="000000"/>
                </a:solidFill>
                <a:latin typeface="Aileron"/>
                <a:ea typeface="Aileron"/>
                <a:cs typeface="Aileron"/>
                <a:sym typeface="Aileron"/>
              </a:rPr>
              <a:t>Sum of Sales.</a:t>
            </a:r>
            <a:endParaRPr lang="en-US" sz="2400" dirty="0">
              <a:solidFill>
                <a:srgbClr val="000000"/>
              </a:solidFill>
              <a:latin typeface="Aileron"/>
              <a:ea typeface="Aileron"/>
              <a:cs typeface="Aileron"/>
              <a:sym typeface="Aileron"/>
            </a:endParaRPr>
          </a:p>
          <a:p>
            <a:pPr algn="just">
              <a:lnSpc>
                <a:spcPts val="3822"/>
              </a:lnSpc>
            </a:pPr>
            <a:endParaRPr lang="en-US" sz="2400" dirty="0">
              <a:solidFill>
                <a:srgbClr val="000000"/>
              </a:solidFill>
              <a:latin typeface="Aileron"/>
              <a:ea typeface="Aileron"/>
              <a:cs typeface="Aileron"/>
              <a:sym typeface="Aileron"/>
            </a:endParaRPr>
          </a:p>
        </p:txBody>
      </p:sp>
      <p:sp>
        <p:nvSpPr>
          <p:cNvPr id="22" name="TextBox 21">
            <a:extLst>
              <a:ext uri="{FF2B5EF4-FFF2-40B4-BE49-F238E27FC236}">
                <a16:creationId xmlns:a16="http://schemas.microsoft.com/office/drawing/2014/main" id="{1DF6374A-78B4-4356-BCCB-85E291DD2015}"/>
              </a:ext>
            </a:extLst>
          </p:cNvPr>
          <p:cNvSpPr txBox="1"/>
          <p:nvPr/>
        </p:nvSpPr>
        <p:spPr>
          <a:xfrm>
            <a:off x="8998571" y="636047"/>
            <a:ext cx="6725492" cy="1094402"/>
          </a:xfrm>
          <a:prstGeom prst="rect">
            <a:avLst/>
          </a:prstGeom>
          <a:noFill/>
        </p:spPr>
        <p:txBody>
          <a:bodyPr wrap="square">
            <a:spAutoFit/>
          </a:bodyPr>
          <a:lstStyle/>
          <a:p>
            <a:pPr algn="r">
              <a:lnSpc>
                <a:spcPts val="8470"/>
              </a:lnSpc>
            </a:pPr>
            <a:r>
              <a:rPr lang="en-US" sz="4400" spc="246" dirty="0">
                <a:solidFill>
                  <a:srgbClr val="15210D"/>
                </a:solidFill>
                <a:latin typeface="HK Grotesk Light" panose="020B0604020202020204" charset="0"/>
                <a:ea typeface="Glacial Indifference Bold"/>
                <a:cs typeface="Glacial Indifference Bold"/>
                <a:sym typeface="Glacial Indifference Bold"/>
              </a:rPr>
              <a:t>for Category</a:t>
            </a:r>
            <a:endParaRPr lang="en-US" sz="4400" b="1" spc="246" dirty="0">
              <a:solidFill>
                <a:srgbClr val="15210D"/>
              </a:solidFill>
              <a:latin typeface="HK Grotesk Light" panose="020B0604020202020204" charset="0"/>
              <a:ea typeface="Glacial Indifference Bold"/>
              <a:cs typeface="Glacial Indifference Bold"/>
              <a:sym typeface="Glacial Indifference Bold"/>
            </a:endParaRPr>
          </a:p>
        </p:txBody>
      </p:sp>
      <p:sp>
        <p:nvSpPr>
          <p:cNvPr id="23" name="AutoShape 14">
            <a:extLst>
              <a:ext uri="{FF2B5EF4-FFF2-40B4-BE49-F238E27FC236}">
                <a16:creationId xmlns:a16="http://schemas.microsoft.com/office/drawing/2014/main" id="{F192C6BB-DEAA-4688-B911-2E453F8A5379}"/>
              </a:ext>
            </a:extLst>
          </p:cNvPr>
          <p:cNvSpPr/>
          <p:nvPr/>
        </p:nvSpPr>
        <p:spPr>
          <a:xfrm flipH="1" flipV="1">
            <a:off x="309488" y="4019854"/>
            <a:ext cx="1" cy="4632036"/>
          </a:xfrm>
          <a:prstGeom prst="line">
            <a:avLst/>
          </a:prstGeom>
          <a:ln w="76200" cap="flat">
            <a:solidFill>
              <a:schemeClr val="accent3">
                <a:lumMod val="50000"/>
              </a:schemeClr>
            </a:solidFill>
            <a:prstDash val="solid"/>
            <a:headEnd type="none" w="sm" len="sm"/>
            <a:tailEnd type="none" w="sm" len="sm"/>
          </a:ln>
        </p:spPr>
      </p:sp>
      <p:sp>
        <p:nvSpPr>
          <p:cNvPr id="26" name="TextBox 16">
            <a:extLst>
              <a:ext uri="{FF2B5EF4-FFF2-40B4-BE49-F238E27FC236}">
                <a16:creationId xmlns:a16="http://schemas.microsoft.com/office/drawing/2014/main" id="{FB9696B0-01F8-4677-9BB2-0E4A8E647A33}"/>
              </a:ext>
            </a:extLst>
          </p:cNvPr>
          <p:cNvSpPr txBox="1"/>
          <p:nvPr/>
        </p:nvSpPr>
        <p:spPr>
          <a:xfrm>
            <a:off x="5721384" y="5211171"/>
            <a:ext cx="12021505" cy="2872838"/>
          </a:xfrm>
          <a:prstGeom prst="rect">
            <a:avLst/>
          </a:prstGeom>
        </p:spPr>
        <p:txBody>
          <a:bodyPr wrap="square" lIns="0" tIns="0" rIns="0" bIns="0" rtlCol="0" anchor="t">
            <a:spAutoFit/>
          </a:bodyPr>
          <a:lstStyle/>
          <a:p>
            <a:pPr>
              <a:lnSpc>
                <a:spcPts val="3822"/>
              </a:lnSpc>
            </a:pPr>
            <a:r>
              <a:rPr lang="en-US" sz="2800" b="1" dirty="0">
                <a:solidFill>
                  <a:srgbClr val="000000"/>
                </a:solidFill>
                <a:latin typeface="Aileron"/>
                <a:ea typeface="Aileron"/>
                <a:cs typeface="Aileron"/>
                <a:sym typeface="Aileron"/>
              </a:rPr>
              <a:t>Configure Fields for the Pivot Table</a:t>
            </a:r>
          </a:p>
          <a:p>
            <a:pPr marL="342900" indent="-342900">
              <a:lnSpc>
                <a:spcPts val="3822"/>
              </a:lnSpc>
              <a:buFont typeface="Wingdings" panose="05000000000000000000" pitchFamily="2" charset="2"/>
              <a:buChar char="Ø"/>
            </a:pPr>
            <a:r>
              <a:rPr lang="en-US" sz="2400" b="1" dirty="0">
                <a:solidFill>
                  <a:srgbClr val="000000"/>
                </a:solidFill>
                <a:latin typeface="Aileron"/>
                <a:ea typeface="Aileron"/>
                <a:cs typeface="Aileron"/>
                <a:sym typeface="Aileron"/>
              </a:rPr>
              <a:t>Drag Category </a:t>
            </a:r>
            <a:r>
              <a:rPr lang="en-US" sz="2400" dirty="0">
                <a:solidFill>
                  <a:srgbClr val="000000"/>
                </a:solidFill>
                <a:latin typeface="Aileron"/>
                <a:ea typeface="Aileron"/>
                <a:cs typeface="Aileron"/>
                <a:sym typeface="Aileron"/>
              </a:rPr>
              <a:t>to the Rows section.</a:t>
            </a:r>
          </a:p>
          <a:p>
            <a:pPr marL="342900" indent="-342900">
              <a:lnSpc>
                <a:spcPts val="3822"/>
              </a:lnSpc>
              <a:buFont typeface="Wingdings" panose="05000000000000000000" pitchFamily="2" charset="2"/>
              <a:buChar char="Ø"/>
            </a:pPr>
            <a:r>
              <a:rPr lang="en-US" sz="2400" b="1" dirty="0">
                <a:solidFill>
                  <a:srgbClr val="000000"/>
                </a:solidFill>
                <a:latin typeface="Aileron"/>
                <a:ea typeface="Aileron"/>
                <a:cs typeface="Aileron"/>
                <a:sym typeface="Aileron"/>
              </a:rPr>
              <a:t>Drag Sales </a:t>
            </a:r>
            <a:r>
              <a:rPr lang="en-US" sz="2400" dirty="0">
                <a:solidFill>
                  <a:srgbClr val="000000"/>
                </a:solidFill>
                <a:latin typeface="Aileron"/>
                <a:ea typeface="Aileron"/>
                <a:cs typeface="Aileron"/>
                <a:sym typeface="Aileron"/>
              </a:rPr>
              <a:t>to the Values section, ensuring is </a:t>
            </a:r>
            <a:r>
              <a:rPr lang="en-US" sz="2400" dirty="0" err="1">
                <a:solidFill>
                  <a:srgbClr val="000000"/>
                </a:solidFill>
                <a:latin typeface="Aileron"/>
                <a:ea typeface="Aileron"/>
                <a:cs typeface="Aileron"/>
                <a:sym typeface="Aileron"/>
              </a:rPr>
              <a:t>is</a:t>
            </a:r>
            <a:r>
              <a:rPr lang="en-US" sz="2400" dirty="0">
                <a:solidFill>
                  <a:srgbClr val="000000"/>
                </a:solidFill>
                <a:latin typeface="Aileron"/>
                <a:ea typeface="Aileron"/>
                <a:cs typeface="Aileron"/>
                <a:sym typeface="Aileron"/>
              </a:rPr>
              <a:t> set to </a:t>
            </a:r>
            <a:r>
              <a:rPr lang="en-US" sz="2400" b="1" dirty="0">
                <a:solidFill>
                  <a:srgbClr val="000000"/>
                </a:solidFill>
                <a:latin typeface="Aileron"/>
                <a:ea typeface="Aileron"/>
                <a:cs typeface="Aileron"/>
                <a:sym typeface="Aileron"/>
              </a:rPr>
              <a:t>Sum.</a:t>
            </a:r>
          </a:p>
          <a:p>
            <a:pPr>
              <a:lnSpc>
                <a:spcPts val="3822"/>
              </a:lnSpc>
            </a:pPr>
            <a:endParaRPr lang="en-US" sz="2400" dirty="0">
              <a:solidFill>
                <a:srgbClr val="000000"/>
              </a:solidFill>
              <a:latin typeface="Aileron"/>
              <a:ea typeface="Aileron"/>
              <a:cs typeface="Aileron"/>
              <a:sym typeface="Aileron"/>
            </a:endParaRPr>
          </a:p>
          <a:p>
            <a:pPr>
              <a:lnSpc>
                <a:spcPts val="3822"/>
              </a:lnSpc>
            </a:pPr>
            <a:r>
              <a:rPr lang="en-US" sz="2400" dirty="0">
                <a:solidFill>
                  <a:srgbClr val="000000"/>
                </a:solidFill>
                <a:latin typeface="Aileron"/>
                <a:ea typeface="Aileron"/>
                <a:cs typeface="Aileron"/>
                <a:sym typeface="Aileron"/>
              </a:rPr>
              <a:t>This will be summarizes total sales by category, enabling further analysis and visualization using chart (e.g., Pie Chart).</a:t>
            </a:r>
          </a:p>
        </p:txBody>
      </p:sp>
      <p:pic>
        <p:nvPicPr>
          <p:cNvPr id="13" name="Picture 12">
            <a:extLst>
              <a:ext uri="{FF2B5EF4-FFF2-40B4-BE49-F238E27FC236}">
                <a16:creationId xmlns:a16="http://schemas.microsoft.com/office/drawing/2014/main" id="{0A310321-7C7E-4DDE-B96C-D3FEB10C82A0}"/>
              </a:ext>
            </a:extLst>
          </p:cNvPr>
          <p:cNvPicPr>
            <a:picLocks noChangeAspect="1"/>
          </p:cNvPicPr>
          <p:nvPr/>
        </p:nvPicPr>
        <p:blipFill rotWithShape="1">
          <a:blip r:embed="rId4">
            <a:extLst>
              <a:ext uri="{28A0092B-C50C-407E-A947-70E740481C1C}">
                <a14:useLocalDpi xmlns:a14="http://schemas.microsoft.com/office/drawing/2010/main" val="0"/>
              </a:ext>
            </a:extLst>
          </a:blip>
          <a:srcRect l="31988"/>
          <a:stretch/>
        </p:blipFill>
        <p:spPr>
          <a:xfrm>
            <a:off x="309490" y="225269"/>
            <a:ext cx="6777111" cy="3448531"/>
          </a:xfrm>
          <a:prstGeom prst="rect">
            <a:avLst/>
          </a:prstGeom>
        </p:spPr>
      </p:pic>
      <p:sp>
        <p:nvSpPr>
          <p:cNvPr id="24" name="TextBox 23">
            <a:extLst>
              <a:ext uri="{FF2B5EF4-FFF2-40B4-BE49-F238E27FC236}">
                <a16:creationId xmlns:a16="http://schemas.microsoft.com/office/drawing/2014/main" id="{39853774-D0EF-4954-BAC4-F624E16CC980}"/>
              </a:ext>
            </a:extLst>
          </p:cNvPr>
          <p:cNvSpPr txBox="1"/>
          <p:nvPr/>
        </p:nvSpPr>
        <p:spPr>
          <a:xfrm>
            <a:off x="615630" y="4131256"/>
            <a:ext cx="17362873" cy="1015919"/>
          </a:xfrm>
          <a:prstGeom prst="rect">
            <a:avLst/>
          </a:prstGeom>
          <a:noFill/>
        </p:spPr>
        <p:txBody>
          <a:bodyPr wrap="square">
            <a:spAutoFit/>
          </a:bodyPr>
          <a:lstStyle/>
          <a:p>
            <a:pPr algn="just">
              <a:lnSpc>
                <a:spcPts val="3822"/>
              </a:lnSpc>
            </a:pPr>
            <a:r>
              <a:rPr lang="en-US" sz="2400" dirty="0">
                <a:solidFill>
                  <a:srgbClr val="000000"/>
                </a:solidFill>
                <a:latin typeface="Aileron"/>
                <a:ea typeface="Aileron"/>
                <a:cs typeface="Aileron"/>
                <a:sym typeface="Aileron"/>
              </a:rPr>
              <a:t>During the creation, the option “</a:t>
            </a:r>
            <a:r>
              <a:rPr lang="en-US" sz="2400" b="1" dirty="0">
                <a:solidFill>
                  <a:srgbClr val="000000"/>
                </a:solidFill>
                <a:latin typeface="Aileron"/>
                <a:ea typeface="Aileron"/>
                <a:cs typeface="Aileron"/>
                <a:sym typeface="Aileron"/>
              </a:rPr>
              <a:t>Add to Existing Worksheet” </a:t>
            </a:r>
            <a:r>
              <a:rPr lang="en-US" sz="2400" dirty="0">
                <a:solidFill>
                  <a:srgbClr val="000000"/>
                </a:solidFill>
                <a:latin typeface="Aileron"/>
                <a:ea typeface="Aileron"/>
                <a:cs typeface="Aileron"/>
                <a:sym typeface="Aileron"/>
              </a:rPr>
              <a:t>is selected to place the Pivot Table in the same worksheet as the previous one. The new Pivot Table is placed in an empty area adjacent to the previous Pivot Table.</a:t>
            </a:r>
          </a:p>
        </p:txBody>
      </p:sp>
      <p:sp>
        <p:nvSpPr>
          <p:cNvPr id="25" name="Rectangle 24">
            <a:extLst>
              <a:ext uri="{FF2B5EF4-FFF2-40B4-BE49-F238E27FC236}">
                <a16:creationId xmlns:a16="http://schemas.microsoft.com/office/drawing/2014/main" id="{6AF04C8E-9BDA-42D2-BFE2-7C50A2A61B0B}"/>
              </a:ext>
            </a:extLst>
          </p:cNvPr>
          <p:cNvSpPr/>
          <p:nvPr/>
        </p:nvSpPr>
        <p:spPr>
          <a:xfrm>
            <a:off x="3429000" y="2476499"/>
            <a:ext cx="3657601" cy="48996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cxnSp>
        <p:nvCxnSpPr>
          <p:cNvPr id="20" name="Straight Connector 19">
            <a:extLst>
              <a:ext uri="{FF2B5EF4-FFF2-40B4-BE49-F238E27FC236}">
                <a16:creationId xmlns:a16="http://schemas.microsoft.com/office/drawing/2014/main" id="{88130A80-74C7-4479-AB18-4A336FE70171}"/>
              </a:ext>
            </a:extLst>
          </p:cNvPr>
          <p:cNvCxnSpPr/>
          <p:nvPr/>
        </p:nvCxnSpPr>
        <p:spPr>
          <a:xfrm flipH="1" flipV="1">
            <a:off x="2895599" y="2476499"/>
            <a:ext cx="499030" cy="21424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8" name="Group 6">
            <a:extLst>
              <a:ext uri="{FF2B5EF4-FFF2-40B4-BE49-F238E27FC236}">
                <a16:creationId xmlns:a16="http://schemas.microsoft.com/office/drawing/2014/main" id="{55322DD3-94B6-45F0-8262-15B1C7E62DD2}"/>
              </a:ext>
            </a:extLst>
          </p:cNvPr>
          <p:cNvGrpSpPr/>
          <p:nvPr/>
        </p:nvGrpSpPr>
        <p:grpSpPr>
          <a:xfrm>
            <a:off x="1592542" y="7931900"/>
            <a:ext cx="3960970" cy="2857690"/>
            <a:chOff x="0" y="0"/>
            <a:chExt cx="1227535" cy="1200856"/>
          </a:xfrm>
          <a:solidFill>
            <a:schemeClr val="accent3">
              <a:lumMod val="75000"/>
            </a:schemeClr>
          </a:solidFill>
        </p:grpSpPr>
        <p:sp>
          <p:nvSpPr>
            <p:cNvPr id="29" name="Freeform 7">
              <a:extLst>
                <a:ext uri="{FF2B5EF4-FFF2-40B4-BE49-F238E27FC236}">
                  <a16:creationId xmlns:a16="http://schemas.microsoft.com/office/drawing/2014/main" id="{E7707E2B-6F67-433B-B0FB-3B69A6DB2D05}"/>
                </a:ext>
              </a:extLst>
            </p:cNvPr>
            <p:cNvSpPr/>
            <p:nvPr/>
          </p:nvSpPr>
          <p:spPr>
            <a:xfrm>
              <a:off x="0" y="0"/>
              <a:ext cx="1227535" cy="1200856"/>
            </a:xfrm>
            <a:custGeom>
              <a:avLst/>
              <a:gdLst/>
              <a:ahLst/>
              <a:cxnLst/>
              <a:rect l="l" t="t" r="r" b="b"/>
              <a:pathLst>
                <a:path w="1227535" h="1200856">
                  <a:moveTo>
                    <a:pt x="0" y="0"/>
                  </a:moveTo>
                  <a:lnTo>
                    <a:pt x="1227535" y="0"/>
                  </a:lnTo>
                  <a:lnTo>
                    <a:pt x="1227535" y="1200856"/>
                  </a:lnTo>
                  <a:lnTo>
                    <a:pt x="0" y="1200856"/>
                  </a:lnTo>
                  <a:close/>
                </a:path>
              </a:pathLst>
            </a:custGeom>
            <a:grpFill/>
          </p:spPr>
        </p:sp>
        <p:sp>
          <p:nvSpPr>
            <p:cNvPr id="30" name="TextBox 8">
              <a:extLst>
                <a:ext uri="{FF2B5EF4-FFF2-40B4-BE49-F238E27FC236}">
                  <a16:creationId xmlns:a16="http://schemas.microsoft.com/office/drawing/2014/main" id="{091AD16D-12D2-427E-A918-DD96CBCBA2FC}"/>
                </a:ext>
              </a:extLst>
            </p:cNvPr>
            <p:cNvSpPr txBox="1"/>
            <p:nvPr/>
          </p:nvSpPr>
          <p:spPr>
            <a:xfrm>
              <a:off x="0" y="-47625"/>
              <a:ext cx="1227535" cy="1248481"/>
            </a:xfrm>
            <a:prstGeom prst="rect">
              <a:avLst/>
            </a:prstGeom>
            <a:grpFill/>
          </p:spPr>
          <p:txBody>
            <a:bodyPr lIns="50800" tIns="50800" rIns="50800" bIns="50800" rtlCol="0" anchor="ctr"/>
            <a:lstStyle/>
            <a:p>
              <a:pPr algn="ctr">
                <a:lnSpc>
                  <a:spcPts val="3244"/>
                </a:lnSpc>
              </a:pPr>
              <a:endParaRPr/>
            </a:p>
          </p:txBody>
        </p:sp>
      </p:grpSp>
      <p:pic>
        <p:nvPicPr>
          <p:cNvPr id="27" name="Picture 26">
            <a:extLst>
              <a:ext uri="{FF2B5EF4-FFF2-40B4-BE49-F238E27FC236}">
                <a16:creationId xmlns:a16="http://schemas.microsoft.com/office/drawing/2014/main" id="{9AF25951-F0F2-4144-A02B-947BA80F64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5110" y="5211171"/>
            <a:ext cx="4582164" cy="4858428"/>
          </a:xfrm>
          <a:prstGeom prst="rect">
            <a:avLst/>
          </a:prstGeom>
        </p:spPr>
      </p:pic>
      <p:sp>
        <p:nvSpPr>
          <p:cNvPr id="34" name="Rectangle 33">
            <a:extLst>
              <a:ext uri="{FF2B5EF4-FFF2-40B4-BE49-F238E27FC236}">
                <a16:creationId xmlns:a16="http://schemas.microsoft.com/office/drawing/2014/main" id="{6180DD55-CD81-406D-AB00-D3CB053E5CD1}"/>
              </a:ext>
            </a:extLst>
          </p:cNvPr>
          <p:cNvSpPr/>
          <p:nvPr/>
        </p:nvSpPr>
        <p:spPr>
          <a:xfrm>
            <a:off x="800932" y="9098309"/>
            <a:ext cx="1968770" cy="23238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8FB899BC-6C01-46D0-BF42-2E929B6E9C51}"/>
              </a:ext>
            </a:extLst>
          </p:cNvPr>
          <p:cNvSpPr/>
          <p:nvPr/>
        </p:nvSpPr>
        <p:spPr>
          <a:xfrm>
            <a:off x="2985874" y="9128360"/>
            <a:ext cx="1968770" cy="23238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2386507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132728" y="6844836"/>
            <a:ext cx="16615836" cy="3181699"/>
          </a:xfrm>
          <a:prstGeom prst="rect">
            <a:avLst/>
          </a:prstGeom>
        </p:spPr>
        <p:txBody>
          <a:bodyPr wrap="square" lIns="0" tIns="0" rIns="0" bIns="0" rtlCol="0" anchor="t">
            <a:spAutoFit/>
          </a:bodyPr>
          <a:lstStyle/>
          <a:p>
            <a:pPr algn="just">
              <a:lnSpc>
                <a:spcPts val="4159"/>
              </a:lnSpc>
            </a:pPr>
            <a:r>
              <a:rPr lang="en-US" sz="2599" b="1" dirty="0">
                <a:solidFill>
                  <a:srgbClr val="253439"/>
                </a:solidFill>
                <a:latin typeface="Aileron"/>
                <a:ea typeface="Aileron"/>
                <a:cs typeface="Aileron"/>
                <a:sym typeface="Aileron"/>
              </a:rPr>
              <a:t>Move Pie Chart to Dashboard</a:t>
            </a:r>
            <a:r>
              <a:rPr lang="id-ID" sz="2599" b="1" dirty="0">
                <a:solidFill>
                  <a:srgbClr val="253439"/>
                </a:solidFill>
                <a:latin typeface="Aileron"/>
                <a:ea typeface="Aileron"/>
                <a:cs typeface="Aileron"/>
                <a:sym typeface="Aileron"/>
              </a:rPr>
              <a:t> </a:t>
            </a:r>
            <a:r>
              <a:rPr lang="en-US" sz="2599" dirty="0">
                <a:solidFill>
                  <a:srgbClr val="253439"/>
                </a:solidFill>
                <a:latin typeface="Aileron"/>
                <a:ea typeface="Aileron"/>
                <a:cs typeface="Aileron"/>
                <a:sym typeface="Aileron"/>
              </a:rPr>
              <a:t>The Pie Chart, created from the new Pivot Table analyzing sales by category, is moved to the dashboard worksheet.</a:t>
            </a:r>
            <a:r>
              <a:rPr lang="id-ID" sz="2599" dirty="0">
                <a:solidFill>
                  <a:srgbClr val="253439"/>
                </a:solidFill>
                <a:latin typeface="Aileron"/>
                <a:ea typeface="Aileron"/>
                <a:cs typeface="Aileron"/>
                <a:sym typeface="Aileron"/>
              </a:rPr>
              <a:t> </a:t>
            </a:r>
            <a:r>
              <a:rPr lang="en-US" sz="2599" dirty="0">
                <a:solidFill>
                  <a:srgbClr val="253439"/>
                </a:solidFill>
                <a:latin typeface="Aileron"/>
                <a:ea typeface="Aileron"/>
                <a:cs typeface="Aileron"/>
                <a:sym typeface="Aileron"/>
              </a:rPr>
              <a:t>This step ensures all visualizations are consolidated in one place for better accessibility and presentation. </a:t>
            </a:r>
            <a:r>
              <a:rPr lang="en-US" sz="2599" b="1" dirty="0">
                <a:solidFill>
                  <a:srgbClr val="253439"/>
                </a:solidFill>
                <a:latin typeface="Aileron"/>
                <a:ea typeface="Aileron"/>
                <a:cs typeface="Aileron"/>
                <a:sym typeface="Aileron"/>
              </a:rPr>
              <a:t>Position the Chart</a:t>
            </a:r>
            <a:r>
              <a:rPr lang="id-ID" sz="2599" b="1" dirty="0">
                <a:solidFill>
                  <a:srgbClr val="253439"/>
                </a:solidFill>
                <a:latin typeface="Aileron"/>
                <a:ea typeface="Aileron"/>
                <a:cs typeface="Aileron"/>
                <a:sym typeface="Aileron"/>
              </a:rPr>
              <a:t> </a:t>
            </a:r>
            <a:r>
              <a:rPr lang="en-US" sz="2599" dirty="0">
                <a:solidFill>
                  <a:srgbClr val="253439"/>
                </a:solidFill>
                <a:latin typeface="Aileron"/>
                <a:ea typeface="Aileron"/>
                <a:cs typeface="Aileron"/>
                <a:sym typeface="Aileron"/>
              </a:rPr>
              <a:t>The chart is placed in an appropriate section of the dashboard, ensuring it aligns well with other elements and fits into the predefined layout.</a:t>
            </a:r>
            <a:r>
              <a:rPr lang="id-ID" sz="2599" dirty="0">
                <a:solidFill>
                  <a:srgbClr val="253439"/>
                </a:solidFill>
                <a:latin typeface="Aileron"/>
                <a:ea typeface="Aileron"/>
                <a:cs typeface="Aileron"/>
                <a:sym typeface="Aileron"/>
              </a:rPr>
              <a:t> </a:t>
            </a:r>
            <a:r>
              <a:rPr lang="en-US" sz="2599" b="1" dirty="0">
                <a:solidFill>
                  <a:srgbClr val="253439"/>
                </a:solidFill>
                <a:latin typeface="Aileron"/>
                <a:ea typeface="Aileron"/>
                <a:cs typeface="Aileron"/>
                <a:sym typeface="Aileron"/>
              </a:rPr>
              <a:t>Final Touches</a:t>
            </a:r>
            <a:r>
              <a:rPr lang="id-ID" sz="2599" b="1" dirty="0">
                <a:solidFill>
                  <a:srgbClr val="253439"/>
                </a:solidFill>
                <a:latin typeface="Aileron"/>
                <a:ea typeface="Aileron"/>
                <a:cs typeface="Aileron"/>
                <a:sym typeface="Aileron"/>
              </a:rPr>
              <a:t> </a:t>
            </a:r>
            <a:r>
              <a:rPr lang="en-US" sz="2599" dirty="0">
                <a:solidFill>
                  <a:srgbClr val="253439"/>
                </a:solidFill>
                <a:latin typeface="Aileron"/>
                <a:ea typeface="Aileron"/>
                <a:cs typeface="Aileron"/>
                <a:sym typeface="Aileron"/>
              </a:rPr>
              <a:t>While no additional design adjustments are made at this stage, the chart is ready to visually represent the sales distribution across categories (Furniture, Office Supplies, Technology).</a:t>
            </a:r>
          </a:p>
        </p:txBody>
      </p:sp>
      <p:sp>
        <p:nvSpPr>
          <p:cNvPr id="4" name="TextBox 4"/>
          <p:cNvSpPr txBox="1"/>
          <p:nvPr/>
        </p:nvSpPr>
        <p:spPr>
          <a:xfrm>
            <a:off x="1132728" y="781650"/>
            <a:ext cx="9454479" cy="961802"/>
          </a:xfrm>
          <a:prstGeom prst="rect">
            <a:avLst/>
          </a:prstGeom>
        </p:spPr>
        <p:txBody>
          <a:bodyPr lIns="0" tIns="0" rIns="0" bIns="0" rtlCol="0" anchor="t">
            <a:spAutoFit/>
          </a:bodyPr>
          <a:lstStyle/>
          <a:p>
            <a:pPr algn="l">
              <a:lnSpc>
                <a:spcPts val="8162"/>
              </a:lnSpc>
            </a:pPr>
            <a:r>
              <a:rPr lang="id-ID" sz="4400" b="1" dirty="0">
                <a:solidFill>
                  <a:srgbClr val="253439"/>
                </a:solidFill>
                <a:latin typeface="Glacial Indifference Bold"/>
                <a:ea typeface="Glacial Indifference Bold"/>
                <a:cs typeface="Glacial Indifference Bold"/>
                <a:sym typeface="Glacial Indifference Bold"/>
              </a:rPr>
              <a:t>TO DASHBOARD </a:t>
            </a:r>
            <a:endParaRPr lang="en-US" sz="4400" b="1" dirty="0">
              <a:solidFill>
                <a:srgbClr val="253439"/>
              </a:solidFill>
              <a:latin typeface="Glacial Indifference Bold"/>
              <a:ea typeface="Glacial Indifference Bold"/>
              <a:cs typeface="Glacial Indifference Bold"/>
              <a:sym typeface="Glacial Indifference Bold"/>
            </a:endParaRPr>
          </a:p>
        </p:txBody>
      </p:sp>
      <p:sp>
        <p:nvSpPr>
          <p:cNvPr id="5" name="TextBox 5"/>
          <p:cNvSpPr txBox="1"/>
          <p:nvPr/>
        </p:nvSpPr>
        <p:spPr>
          <a:xfrm>
            <a:off x="1132728" y="260465"/>
            <a:ext cx="7216494" cy="886653"/>
          </a:xfrm>
          <a:prstGeom prst="rect">
            <a:avLst/>
          </a:prstGeom>
        </p:spPr>
        <p:txBody>
          <a:bodyPr lIns="0" tIns="0" rIns="0" bIns="0" rtlCol="0" anchor="t">
            <a:spAutoFit/>
          </a:bodyPr>
          <a:lstStyle/>
          <a:p>
            <a:pPr algn="l">
              <a:lnSpc>
                <a:spcPts val="7260"/>
              </a:lnSpc>
            </a:pPr>
            <a:r>
              <a:rPr lang="id-ID" sz="4400" spc="211" dirty="0">
                <a:solidFill>
                  <a:srgbClr val="000000"/>
                </a:solidFill>
                <a:latin typeface="HK Grotesk"/>
                <a:ea typeface="HK Grotesk"/>
                <a:cs typeface="HK Grotesk"/>
                <a:sym typeface="HK Grotesk"/>
              </a:rPr>
              <a:t>ADDING PIE CHART</a:t>
            </a:r>
            <a:endParaRPr lang="en-US" sz="4400" spc="211" dirty="0">
              <a:solidFill>
                <a:srgbClr val="000000"/>
              </a:solidFill>
              <a:latin typeface="HK Grotesk"/>
              <a:ea typeface="HK Grotesk"/>
              <a:cs typeface="HK Grotesk"/>
              <a:sym typeface="HK Grotesk"/>
            </a:endParaRPr>
          </a:p>
        </p:txBody>
      </p:sp>
      <p:sp>
        <p:nvSpPr>
          <p:cNvPr id="6" name="AutoShape 6"/>
          <p:cNvSpPr/>
          <p:nvPr/>
        </p:nvSpPr>
        <p:spPr>
          <a:xfrm>
            <a:off x="609600" y="413053"/>
            <a:ext cx="0" cy="1225247"/>
          </a:xfrm>
          <a:prstGeom prst="line">
            <a:avLst/>
          </a:prstGeom>
          <a:ln w="133350" cap="flat">
            <a:solidFill>
              <a:schemeClr val="accent3">
                <a:lumMod val="50000"/>
              </a:schemeClr>
            </a:solidFill>
            <a:prstDash val="solid"/>
            <a:headEnd type="none" w="sm" len="sm"/>
            <a:tailEnd type="none" w="sm" len="sm"/>
          </a:ln>
        </p:spPr>
      </p:sp>
      <p:sp>
        <p:nvSpPr>
          <p:cNvPr id="7" name="Freeform 7"/>
          <p:cNvSpPr/>
          <p:nvPr/>
        </p:nvSpPr>
        <p:spPr>
          <a:xfrm rot="-10800000">
            <a:off x="10715458" y="-1137518"/>
            <a:ext cx="11173984" cy="7393795"/>
          </a:xfrm>
          <a:custGeom>
            <a:avLst/>
            <a:gdLst/>
            <a:ahLst/>
            <a:cxnLst/>
            <a:rect l="l" t="t" r="r" b="b"/>
            <a:pathLst>
              <a:path w="11173984" h="7393795">
                <a:moveTo>
                  <a:pt x="0" y="0"/>
                </a:moveTo>
                <a:lnTo>
                  <a:pt x="11173984" y="0"/>
                </a:lnTo>
                <a:lnTo>
                  <a:pt x="11173984" y="7393795"/>
                </a:lnTo>
                <a:lnTo>
                  <a:pt x="0" y="73937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11" name="Gambar 10">
            <a:extLst>
              <a:ext uri="{FF2B5EF4-FFF2-40B4-BE49-F238E27FC236}">
                <a16:creationId xmlns:a16="http://schemas.microsoft.com/office/drawing/2014/main" id="{77485D4B-3AF6-A297-6F10-5D130F1A7A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2728" y="1849679"/>
            <a:ext cx="4849872" cy="4589784"/>
          </a:xfrm>
          <a:prstGeom prst="rect">
            <a:avLst/>
          </a:prstGeom>
        </p:spPr>
      </p:pic>
      <p:pic>
        <p:nvPicPr>
          <p:cNvPr id="13" name="Gambar 12">
            <a:extLst>
              <a:ext uri="{FF2B5EF4-FFF2-40B4-BE49-F238E27FC236}">
                <a16:creationId xmlns:a16="http://schemas.microsoft.com/office/drawing/2014/main" id="{E43776BE-9442-1B51-C9DC-7F0941B3C5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19721" y="1884302"/>
            <a:ext cx="7991475" cy="4371975"/>
          </a:xfrm>
          <a:prstGeom prst="rect">
            <a:avLst/>
          </a:prstGeom>
        </p:spPr>
      </p:pic>
    </p:spTree>
    <p:extLst>
      <p:ext uri="{BB962C8B-B14F-4D97-AF65-F5344CB8AC3E}">
        <p14:creationId xmlns:p14="http://schemas.microsoft.com/office/powerpoint/2010/main" val="1139269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9584004" y="2137153"/>
            <a:ext cx="7846512" cy="4233210"/>
          </a:xfrm>
          <a:prstGeom prst="rect">
            <a:avLst/>
          </a:prstGeom>
        </p:spPr>
        <p:txBody>
          <a:bodyPr wrap="square" lIns="0" tIns="0" rIns="0" bIns="0" rtlCol="0" anchor="t">
            <a:spAutoFit/>
          </a:bodyPr>
          <a:lstStyle/>
          <a:p>
            <a:pPr algn="just">
              <a:lnSpc>
                <a:spcPts val="4159"/>
              </a:lnSpc>
            </a:pPr>
            <a:r>
              <a:rPr lang="id-ID" sz="2400" b="1" dirty="0" err="1">
                <a:solidFill>
                  <a:srgbClr val="253439"/>
                </a:solidFill>
                <a:latin typeface="Aileron"/>
                <a:ea typeface="Aileron"/>
                <a:cs typeface="Aileron"/>
                <a:sym typeface="Aileron"/>
              </a:rPr>
              <a:t>Prepare</a:t>
            </a:r>
            <a:r>
              <a:rPr lang="id-ID" sz="2400" b="1" dirty="0">
                <a:solidFill>
                  <a:srgbClr val="253439"/>
                </a:solidFill>
                <a:latin typeface="Aileron"/>
                <a:ea typeface="Aileron"/>
                <a:cs typeface="Aileron"/>
                <a:sym typeface="Aileron"/>
              </a:rPr>
              <a:t> Data </a:t>
            </a:r>
            <a:r>
              <a:rPr lang="id-ID" sz="2400" b="1" dirty="0" err="1">
                <a:solidFill>
                  <a:srgbClr val="253439"/>
                </a:solidFill>
                <a:latin typeface="Aileron"/>
                <a:ea typeface="Aileron"/>
                <a:cs typeface="Aileron"/>
                <a:sym typeface="Aileron"/>
              </a:rPr>
              <a:t>for</a:t>
            </a:r>
            <a:r>
              <a:rPr lang="id-ID" sz="2400" b="1" dirty="0">
                <a:solidFill>
                  <a:srgbClr val="253439"/>
                </a:solidFill>
                <a:latin typeface="Aileron"/>
                <a:ea typeface="Aileron"/>
                <a:cs typeface="Aileron"/>
                <a:sym typeface="Aileron"/>
              </a:rPr>
              <a:t> </a:t>
            </a:r>
            <a:r>
              <a:rPr lang="id-ID" sz="2400" b="1" dirty="0" err="1">
                <a:solidFill>
                  <a:srgbClr val="253439"/>
                </a:solidFill>
                <a:latin typeface="Aileron"/>
                <a:ea typeface="Aileron"/>
                <a:cs typeface="Aileron"/>
                <a:sym typeface="Aileron"/>
              </a:rPr>
              <a:t>Chart</a:t>
            </a:r>
            <a:endParaRPr lang="id-ID" sz="2400" b="1" dirty="0">
              <a:solidFill>
                <a:srgbClr val="253439"/>
              </a:solidFill>
              <a:latin typeface="Aileron"/>
              <a:ea typeface="Aileron"/>
              <a:cs typeface="Aileron"/>
              <a:sym typeface="Aileron"/>
            </a:endParaRPr>
          </a:p>
          <a:p>
            <a:pPr marL="457200" indent="-457200" algn="just">
              <a:lnSpc>
                <a:spcPts val="4159"/>
              </a:lnSpc>
              <a:buFont typeface="Wingdings" panose="05000000000000000000" pitchFamily="2" charset="2"/>
              <a:buChar char="Ø"/>
            </a:pPr>
            <a:r>
              <a:rPr lang="id-ID" sz="2000" b="1" dirty="0" err="1">
                <a:solidFill>
                  <a:srgbClr val="253439"/>
                </a:solidFill>
                <a:latin typeface="Aileron"/>
                <a:ea typeface="Aileron"/>
                <a:cs typeface="Aileron"/>
                <a:sym typeface="Aileron"/>
              </a:rPr>
              <a:t>Copy</a:t>
            </a:r>
            <a:r>
              <a:rPr lang="id-ID" sz="2000" b="1" dirty="0">
                <a:solidFill>
                  <a:srgbClr val="253439"/>
                </a:solidFill>
                <a:latin typeface="Aileron"/>
                <a:ea typeface="Aileron"/>
                <a:cs typeface="Aileron"/>
                <a:sym typeface="Aileron"/>
              </a:rPr>
              <a:t> </a:t>
            </a:r>
            <a:r>
              <a:rPr lang="id-ID" sz="2000" b="1" dirty="0" err="1">
                <a:solidFill>
                  <a:srgbClr val="253439"/>
                </a:solidFill>
                <a:latin typeface="Aileron"/>
                <a:ea typeface="Aileron"/>
                <a:cs typeface="Aileron"/>
                <a:sym typeface="Aileron"/>
              </a:rPr>
              <a:t>and</a:t>
            </a:r>
            <a:r>
              <a:rPr lang="id-ID" sz="2000" b="1" dirty="0">
                <a:solidFill>
                  <a:srgbClr val="253439"/>
                </a:solidFill>
                <a:latin typeface="Aileron"/>
                <a:ea typeface="Aileron"/>
                <a:cs typeface="Aileron"/>
                <a:sym typeface="Aileron"/>
              </a:rPr>
              <a:t> </a:t>
            </a:r>
            <a:r>
              <a:rPr lang="id-ID" sz="2000" b="1" dirty="0" err="1">
                <a:solidFill>
                  <a:srgbClr val="253439"/>
                </a:solidFill>
                <a:latin typeface="Aileron"/>
                <a:ea typeface="Aileron"/>
                <a:cs typeface="Aileron"/>
                <a:sym typeface="Aileron"/>
              </a:rPr>
              <a:t>Paste</a:t>
            </a:r>
            <a:r>
              <a:rPr lang="id-ID" sz="2000" b="1" dirty="0">
                <a:solidFill>
                  <a:srgbClr val="253439"/>
                </a:solidFill>
                <a:latin typeface="Aileron"/>
                <a:ea typeface="Aileron"/>
                <a:cs typeface="Aileron"/>
                <a:sym typeface="Aileron"/>
              </a:rPr>
              <a:t> as a </a:t>
            </a:r>
            <a:r>
              <a:rPr lang="id-ID" sz="2000" b="1" dirty="0" err="1">
                <a:solidFill>
                  <a:srgbClr val="253439"/>
                </a:solidFill>
                <a:latin typeface="Aileron"/>
                <a:ea typeface="Aileron"/>
                <a:cs typeface="Aileron"/>
                <a:sym typeface="Aileron"/>
              </a:rPr>
              <a:t>Values</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to</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remove</a:t>
            </a:r>
            <a:r>
              <a:rPr lang="id-ID" sz="2000" dirty="0">
                <a:solidFill>
                  <a:srgbClr val="253439"/>
                </a:solidFill>
                <a:latin typeface="Aileron"/>
                <a:ea typeface="Aileron"/>
                <a:cs typeface="Aileron"/>
                <a:sym typeface="Aileron"/>
              </a:rPr>
              <a:t> Pivot </a:t>
            </a:r>
            <a:r>
              <a:rPr lang="id-ID" sz="2000" dirty="0" err="1">
                <a:solidFill>
                  <a:srgbClr val="253439"/>
                </a:solidFill>
                <a:latin typeface="Aileron"/>
                <a:ea typeface="Aileron"/>
                <a:cs typeface="Aileron"/>
                <a:sym typeface="Aileron"/>
              </a:rPr>
              <a:t>Table</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Values</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This</a:t>
            </a:r>
            <a:r>
              <a:rPr lang="id-ID" sz="2000" dirty="0">
                <a:solidFill>
                  <a:srgbClr val="253439"/>
                </a:solidFill>
                <a:latin typeface="Aileron"/>
                <a:ea typeface="Aileron"/>
                <a:cs typeface="Aileron"/>
                <a:sym typeface="Aileron"/>
              </a:rPr>
              <a:t> step </a:t>
            </a:r>
            <a:r>
              <a:rPr lang="id-ID" sz="2000" dirty="0" err="1">
                <a:solidFill>
                  <a:srgbClr val="253439"/>
                </a:solidFill>
                <a:latin typeface="Aileron"/>
                <a:ea typeface="Aileron"/>
                <a:cs typeface="Aileron"/>
                <a:sym typeface="Aileron"/>
              </a:rPr>
              <a:t>ensures</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that</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the</a:t>
            </a:r>
            <a:r>
              <a:rPr lang="id-ID" sz="2000" dirty="0">
                <a:solidFill>
                  <a:srgbClr val="253439"/>
                </a:solidFill>
                <a:latin typeface="Aileron"/>
                <a:ea typeface="Aileron"/>
                <a:cs typeface="Aileron"/>
                <a:sym typeface="Aileron"/>
              </a:rPr>
              <a:t> data format </a:t>
            </a:r>
            <a:r>
              <a:rPr lang="id-ID" sz="2000" dirty="0" err="1">
                <a:solidFill>
                  <a:srgbClr val="253439"/>
                </a:solidFill>
                <a:latin typeface="Aileron"/>
                <a:ea typeface="Aileron"/>
                <a:cs typeface="Aileron"/>
                <a:sym typeface="Aileron"/>
              </a:rPr>
              <a:t>is</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compatible</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with</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the</a:t>
            </a:r>
            <a:r>
              <a:rPr lang="id-ID" sz="2000" dirty="0">
                <a:solidFill>
                  <a:srgbClr val="253439"/>
                </a:solidFill>
                <a:latin typeface="Aileron"/>
                <a:ea typeface="Aileron"/>
                <a:cs typeface="Aileron"/>
                <a:sym typeface="Aileron"/>
              </a:rPr>
              <a:t> Map </a:t>
            </a:r>
            <a:r>
              <a:rPr lang="id-ID" sz="2000" dirty="0" err="1">
                <a:solidFill>
                  <a:srgbClr val="253439"/>
                </a:solidFill>
                <a:latin typeface="Aileron"/>
                <a:ea typeface="Aileron"/>
                <a:cs typeface="Aileron"/>
                <a:sym typeface="Aileron"/>
              </a:rPr>
              <a:t>Chart</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creation</a:t>
            </a:r>
            <a:r>
              <a:rPr lang="id-ID" sz="2000" dirty="0">
                <a:solidFill>
                  <a:srgbClr val="253439"/>
                </a:solidFill>
                <a:latin typeface="Aileron"/>
                <a:ea typeface="Aileron"/>
                <a:cs typeface="Aileron"/>
                <a:sym typeface="Aileron"/>
              </a:rPr>
              <a:t>.</a:t>
            </a:r>
          </a:p>
          <a:p>
            <a:pPr marL="457200" indent="-457200" algn="just">
              <a:lnSpc>
                <a:spcPts val="4159"/>
              </a:lnSpc>
              <a:buFont typeface="Wingdings" panose="05000000000000000000" pitchFamily="2" charset="2"/>
              <a:buChar char="Ø"/>
            </a:pPr>
            <a:r>
              <a:rPr lang="id-ID" sz="2000" b="1" dirty="0" err="1">
                <a:solidFill>
                  <a:srgbClr val="253439"/>
                </a:solidFill>
                <a:latin typeface="Aileron"/>
                <a:ea typeface="Aileron"/>
                <a:cs typeface="Aileron"/>
                <a:sym typeface="Aileron"/>
              </a:rPr>
              <a:t>Remove</a:t>
            </a:r>
            <a:r>
              <a:rPr lang="id-ID" sz="2000" b="1" dirty="0">
                <a:solidFill>
                  <a:srgbClr val="253439"/>
                </a:solidFill>
                <a:latin typeface="Aileron"/>
                <a:ea typeface="Aileron"/>
                <a:cs typeface="Aileron"/>
                <a:sym typeface="Aileron"/>
              </a:rPr>
              <a:t> Grand Total,</a:t>
            </a:r>
            <a:r>
              <a:rPr lang="id-ID" sz="2000" dirty="0">
                <a:solidFill>
                  <a:srgbClr val="253439"/>
                </a:solidFill>
                <a:latin typeface="Aileron"/>
                <a:ea typeface="Aileron"/>
                <a:cs typeface="Aileron"/>
                <a:sym typeface="Aileron"/>
              </a:rPr>
              <a:t> The “Grand Total” </a:t>
            </a:r>
            <a:r>
              <a:rPr lang="id-ID" sz="2000" dirty="0" err="1">
                <a:solidFill>
                  <a:srgbClr val="253439"/>
                </a:solidFill>
                <a:latin typeface="Aileron"/>
                <a:ea typeface="Aileron"/>
                <a:cs typeface="Aileron"/>
                <a:sym typeface="Aileron"/>
              </a:rPr>
              <a:t>row</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is</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deleted</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from</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the</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pasted</a:t>
            </a:r>
            <a:r>
              <a:rPr lang="id-ID" sz="2000" dirty="0">
                <a:solidFill>
                  <a:srgbClr val="253439"/>
                </a:solidFill>
                <a:latin typeface="Aileron"/>
                <a:ea typeface="Aileron"/>
                <a:cs typeface="Aileron"/>
                <a:sym typeface="Aileron"/>
              </a:rPr>
              <a:t> data </a:t>
            </a:r>
            <a:r>
              <a:rPr lang="id-ID" sz="2000" dirty="0" err="1">
                <a:solidFill>
                  <a:srgbClr val="253439"/>
                </a:solidFill>
                <a:latin typeface="Aileron"/>
                <a:ea typeface="Aileron"/>
                <a:cs typeface="Aileron"/>
                <a:sym typeface="Aileron"/>
              </a:rPr>
              <a:t>to</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clean</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up</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the</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dataset</a:t>
            </a:r>
            <a:r>
              <a:rPr lang="id-ID" sz="2000" dirty="0">
                <a:solidFill>
                  <a:srgbClr val="253439"/>
                </a:solidFill>
                <a:latin typeface="Aileron"/>
                <a:ea typeface="Aileron"/>
                <a:cs typeface="Aileron"/>
                <a:sym typeface="Aileron"/>
              </a:rPr>
              <a:t>.
</a:t>
            </a:r>
            <a:r>
              <a:rPr lang="id-ID" sz="2000" b="1" dirty="0" err="1">
                <a:solidFill>
                  <a:srgbClr val="253439"/>
                </a:solidFill>
                <a:latin typeface="Aileron"/>
                <a:ea typeface="Aileron"/>
                <a:cs typeface="Aileron"/>
                <a:sym typeface="Aileron"/>
              </a:rPr>
              <a:t>Convert</a:t>
            </a:r>
            <a:r>
              <a:rPr lang="id-ID" sz="2000" b="1" dirty="0">
                <a:solidFill>
                  <a:srgbClr val="253439"/>
                </a:solidFill>
                <a:latin typeface="Aileron"/>
                <a:ea typeface="Aileron"/>
                <a:cs typeface="Aileron"/>
                <a:sym typeface="Aileron"/>
              </a:rPr>
              <a:t> </a:t>
            </a:r>
            <a:r>
              <a:rPr lang="id-ID" sz="2000" b="1" dirty="0" err="1">
                <a:solidFill>
                  <a:srgbClr val="253439"/>
                </a:solidFill>
                <a:latin typeface="Aileron"/>
                <a:ea typeface="Aileron"/>
                <a:cs typeface="Aileron"/>
                <a:sym typeface="Aileron"/>
              </a:rPr>
              <a:t>to</a:t>
            </a:r>
            <a:r>
              <a:rPr lang="id-ID" sz="2000" b="1" dirty="0">
                <a:solidFill>
                  <a:srgbClr val="253439"/>
                </a:solidFill>
                <a:latin typeface="Aileron"/>
                <a:ea typeface="Aileron"/>
                <a:cs typeface="Aileron"/>
                <a:sym typeface="Aileron"/>
              </a:rPr>
              <a:t> </a:t>
            </a:r>
            <a:r>
              <a:rPr lang="id-ID" sz="2000" b="1" dirty="0" err="1">
                <a:solidFill>
                  <a:srgbClr val="253439"/>
                </a:solidFill>
                <a:latin typeface="Aileron"/>
                <a:ea typeface="Aileron"/>
                <a:cs typeface="Aileron"/>
                <a:sym typeface="Aileron"/>
              </a:rPr>
              <a:t>Table</a:t>
            </a:r>
            <a:r>
              <a:rPr lang="id-ID" sz="2000" b="1" dirty="0">
                <a:solidFill>
                  <a:srgbClr val="253439"/>
                </a:solidFill>
                <a:latin typeface="Aileron"/>
                <a:ea typeface="Aileron"/>
                <a:cs typeface="Aileron"/>
                <a:sym typeface="Aileron"/>
              </a:rPr>
              <a:t>,</a:t>
            </a:r>
            <a:r>
              <a:rPr lang="id-ID" sz="2000" dirty="0">
                <a:solidFill>
                  <a:srgbClr val="253439"/>
                </a:solidFill>
                <a:latin typeface="Aileron"/>
                <a:ea typeface="Aileron"/>
                <a:cs typeface="Aileron"/>
                <a:sym typeface="Aileron"/>
              </a:rPr>
              <a:t> The </a:t>
            </a:r>
            <a:r>
              <a:rPr lang="id-ID" sz="2000" dirty="0" err="1">
                <a:solidFill>
                  <a:srgbClr val="253439"/>
                </a:solidFill>
                <a:latin typeface="Aileron"/>
                <a:ea typeface="Aileron"/>
                <a:cs typeface="Aileron"/>
                <a:sym typeface="Aileron"/>
              </a:rPr>
              <a:t>cleaned</a:t>
            </a:r>
            <a:r>
              <a:rPr lang="id-ID" sz="2000" dirty="0">
                <a:solidFill>
                  <a:srgbClr val="253439"/>
                </a:solidFill>
                <a:latin typeface="Aileron"/>
                <a:ea typeface="Aileron"/>
                <a:cs typeface="Aileron"/>
                <a:sym typeface="Aileron"/>
              </a:rPr>
              <a:t> data </a:t>
            </a:r>
            <a:r>
              <a:rPr lang="id-ID" sz="2000" dirty="0" err="1">
                <a:solidFill>
                  <a:srgbClr val="253439"/>
                </a:solidFill>
                <a:latin typeface="Aileron"/>
                <a:ea typeface="Aileron"/>
                <a:cs typeface="Aileron"/>
                <a:sym typeface="Aileron"/>
              </a:rPr>
              <a:t>is</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then</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converted</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into</a:t>
            </a:r>
            <a:r>
              <a:rPr lang="id-ID" sz="2000" dirty="0">
                <a:solidFill>
                  <a:srgbClr val="253439"/>
                </a:solidFill>
                <a:latin typeface="Aileron"/>
                <a:ea typeface="Aileron"/>
                <a:cs typeface="Aileron"/>
                <a:sym typeface="Aileron"/>
              </a:rPr>
              <a:t> a </a:t>
            </a:r>
            <a:r>
              <a:rPr lang="id-ID" sz="2000" dirty="0" err="1">
                <a:solidFill>
                  <a:srgbClr val="253439"/>
                </a:solidFill>
                <a:latin typeface="Aileron"/>
                <a:ea typeface="Aileron"/>
                <a:cs typeface="Aileron"/>
                <a:sym typeface="Aileron"/>
              </a:rPr>
              <a:t>regular</a:t>
            </a:r>
            <a:r>
              <a:rPr lang="id-ID" sz="2000" dirty="0">
                <a:solidFill>
                  <a:srgbClr val="253439"/>
                </a:solidFill>
                <a:latin typeface="Aileron"/>
                <a:ea typeface="Aileron"/>
                <a:cs typeface="Aileron"/>
                <a:sym typeface="Aileron"/>
              </a:rPr>
              <a:t> Excel </a:t>
            </a:r>
            <a:r>
              <a:rPr lang="id-ID" sz="2000" dirty="0" err="1">
                <a:solidFill>
                  <a:srgbClr val="253439"/>
                </a:solidFill>
                <a:latin typeface="Aileron"/>
                <a:ea typeface="Aileron"/>
                <a:cs typeface="Aileron"/>
                <a:sym typeface="Aileron"/>
              </a:rPr>
              <a:t>Table</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for</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better</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structure</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and</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ease</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of</a:t>
            </a:r>
            <a:r>
              <a:rPr lang="id-ID" sz="2000" dirty="0">
                <a:solidFill>
                  <a:srgbClr val="253439"/>
                </a:solidFill>
                <a:latin typeface="Aileron"/>
                <a:ea typeface="Aileron"/>
                <a:cs typeface="Aileron"/>
                <a:sym typeface="Aileron"/>
              </a:rPr>
              <a:t> </a:t>
            </a:r>
            <a:r>
              <a:rPr lang="id-ID" sz="2000" dirty="0" err="1">
                <a:solidFill>
                  <a:srgbClr val="253439"/>
                </a:solidFill>
                <a:latin typeface="Aileron"/>
                <a:ea typeface="Aileron"/>
                <a:cs typeface="Aileron"/>
                <a:sym typeface="Aileron"/>
              </a:rPr>
              <a:t>use</a:t>
            </a:r>
            <a:r>
              <a:rPr lang="id-ID" sz="2000" dirty="0">
                <a:solidFill>
                  <a:srgbClr val="253439"/>
                </a:solidFill>
                <a:latin typeface="Aileron"/>
                <a:ea typeface="Aileron"/>
                <a:cs typeface="Aileron"/>
                <a:sym typeface="Aileron"/>
              </a:rPr>
              <a:t>.</a:t>
            </a:r>
            <a:endParaRPr lang="en-US" sz="2000" dirty="0">
              <a:solidFill>
                <a:srgbClr val="253439"/>
              </a:solidFill>
              <a:latin typeface="Aileron"/>
              <a:ea typeface="Aileron"/>
              <a:cs typeface="Aileron"/>
              <a:sym typeface="Aileron"/>
            </a:endParaRPr>
          </a:p>
        </p:txBody>
      </p:sp>
      <p:sp>
        <p:nvSpPr>
          <p:cNvPr id="4" name="TextBox 4"/>
          <p:cNvSpPr txBox="1"/>
          <p:nvPr/>
        </p:nvSpPr>
        <p:spPr>
          <a:xfrm>
            <a:off x="1132728" y="781650"/>
            <a:ext cx="9454479" cy="961802"/>
          </a:xfrm>
          <a:prstGeom prst="rect">
            <a:avLst/>
          </a:prstGeom>
        </p:spPr>
        <p:txBody>
          <a:bodyPr lIns="0" tIns="0" rIns="0" bIns="0" rtlCol="0" anchor="t">
            <a:spAutoFit/>
          </a:bodyPr>
          <a:lstStyle/>
          <a:p>
            <a:pPr algn="l">
              <a:lnSpc>
                <a:spcPts val="8162"/>
              </a:lnSpc>
            </a:pPr>
            <a:r>
              <a:rPr lang="id-ID" sz="4400" b="1" dirty="0">
                <a:solidFill>
                  <a:srgbClr val="253439"/>
                </a:solidFill>
                <a:latin typeface="Glacial Indifference Bold"/>
                <a:ea typeface="Glacial Indifference Bold"/>
                <a:cs typeface="Glacial Indifference Bold"/>
                <a:sym typeface="Glacial Indifference Bold"/>
              </a:rPr>
              <a:t>WITH MAP CHART</a:t>
            </a:r>
            <a:endParaRPr lang="en-US" sz="4400" b="1" dirty="0">
              <a:solidFill>
                <a:srgbClr val="253439"/>
              </a:solidFill>
              <a:latin typeface="Glacial Indifference Bold"/>
              <a:ea typeface="Glacial Indifference Bold"/>
              <a:cs typeface="Glacial Indifference Bold"/>
              <a:sym typeface="Glacial Indifference Bold"/>
            </a:endParaRPr>
          </a:p>
        </p:txBody>
      </p:sp>
      <p:sp>
        <p:nvSpPr>
          <p:cNvPr id="5" name="TextBox 5"/>
          <p:cNvSpPr txBox="1"/>
          <p:nvPr/>
        </p:nvSpPr>
        <p:spPr>
          <a:xfrm>
            <a:off x="1132728" y="260465"/>
            <a:ext cx="7216494" cy="886653"/>
          </a:xfrm>
          <a:prstGeom prst="rect">
            <a:avLst/>
          </a:prstGeom>
        </p:spPr>
        <p:txBody>
          <a:bodyPr lIns="0" tIns="0" rIns="0" bIns="0" rtlCol="0" anchor="t">
            <a:spAutoFit/>
          </a:bodyPr>
          <a:lstStyle/>
          <a:p>
            <a:pPr algn="l">
              <a:lnSpc>
                <a:spcPts val="7260"/>
              </a:lnSpc>
            </a:pPr>
            <a:r>
              <a:rPr lang="id-ID" sz="4400" spc="211" dirty="0">
                <a:solidFill>
                  <a:srgbClr val="000000"/>
                </a:solidFill>
                <a:latin typeface="HK Grotesk"/>
                <a:ea typeface="HK Grotesk"/>
                <a:cs typeface="HK Grotesk"/>
                <a:sym typeface="HK Grotesk"/>
              </a:rPr>
              <a:t>STATE WISE</a:t>
            </a:r>
            <a:endParaRPr lang="en-US" sz="4400" spc="211" dirty="0">
              <a:solidFill>
                <a:srgbClr val="000000"/>
              </a:solidFill>
              <a:latin typeface="HK Grotesk"/>
              <a:ea typeface="HK Grotesk"/>
              <a:cs typeface="HK Grotesk"/>
              <a:sym typeface="HK Grotesk"/>
            </a:endParaRPr>
          </a:p>
        </p:txBody>
      </p:sp>
      <p:sp>
        <p:nvSpPr>
          <p:cNvPr id="6" name="AutoShape 6"/>
          <p:cNvSpPr/>
          <p:nvPr/>
        </p:nvSpPr>
        <p:spPr>
          <a:xfrm>
            <a:off x="609600" y="413053"/>
            <a:ext cx="0" cy="1225247"/>
          </a:xfrm>
          <a:prstGeom prst="line">
            <a:avLst/>
          </a:prstGeom>
          <a:ln w="133350" cap="flat">
            <a:solidFill>
              <a:schemeClr val="accent3">
                <a:lumMod val="50000"/>
              </a:schemeClr>
            </a:solidFill>
            <a:prstDash val="solid"/>
            <a:headEnd type="none" w="sm" len="sm"/>
            <a:tailEnd type="none" w="sm" len="sm"/>
          </a:ln>
        </p:spPr>
      </p:sp>
      <p:sp>
        <p:nvSpPr>
          <p:cNvPr id="7" name="Freeform 7"/>
          <p:cNvSpPr/>
          <p:nvPr/>
        </p:nvSpPr>
        <p:spPr>
          <a:xfrm rot="8344335">
            <a:off x="6095210" y="-2549780"/>
            <a:ext cx="11173984" cy="7393795"/>
          </a:xfrm>
          <a:custGeom>
            <a:avLst/>
            <a:gdLst/>
            <a:ahLst/>
            <a:cxnLst/>
            <a:rect l="l" t="t" r="r" b="b"/>
            <a:pathLst>
              <a:path w="11173984" h="7393795">
                <a:moveTo>
                  <a:pt x="0" y="0"/>
                </a:moveTo>
                <a:lnTo>
                  <a:pt x="11173984" y="0"/>
                </a:lnTo>
                <a:lnTo>
                  <a:pt x="11173984" y="7393795"/>
                </a:lnTo>
                <a:lnTo>
                  <a:pt x="0" y="73937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id-ID" dirty="0"/>
          </a:p>
        </p:txBody>
      </p:sp>
      <p:pic>
        <p:nvPicPr>
          <p:cNvPr id="3" name="Gambar 2">
            <a:extLst>
              <a:ext uri="{FF2B5EF4-FFF2-40B4-BE49-F238E27FC236}">
                <a16:creationId xmlns:a16="http://schemas.microsoft.com/office/drawing/2014/main" id="{A90ACF30-8786-17A0-3C21-61D268EAA9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240" y="2264637"/>
            <a:ext cx="9143399" cy="4343571"/>
          </a:xfrm>
          <a:prstGeom prst="rect">
            <a:avLst/>
          </a:prstGeom>
        </p:spPr>
      </p:pic>
      <p:pic>
        <p:nvPicPr>
          <p:cNvPr id="8" name="Gambar 7">
            <a:extLst>
              <a:ext uri="{FF2B5EF4-FFF2-40B4-BE49-F238E27FC236}">
                <a16:creationId xmlns:a16="http://schemas.microsoft.com/office/drawing/2014/main" id="{A6E088A8-A8FD-D395-C649-50AB07E2BA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7240" y="6716613"/>
            <a:ext cx="2988690" cy="3317117"/>
          </a:xfrm>
          <a:prstGeom prst="rect">
            <a:avLst/>
          </a:prstGeom>
        </p:spPr>
      </p:pic>
      <p:pic>
        <p:nvPicPr>
          <p:cNvPr id="9" name="Gambar 8">
            <a:extLst>
              <a:ext uri="{FF2B5EF4-FFF2-40B4-BE49-F238E27FC236}">
                <a16:creationId xmlns:a16="http://schemas.microsoft.com/office/drawing/2014/main" id="{B78BEBE9-8ECC-CBC8-718E-1889E46F358A}"/>
              </a:ext>
            </a:extLst>
          </p:cNvPr>
          <p:cNvPicPr>
            <a:picLocks noChangeAspect="1"/>
          </p:cNvPicPr>
          <p:nvPr/>
        </p:nvPicPr>
        <p:blipFill>
          <a:blip r:embed="rId6">
            <a:extLst>
              <a:ext uri="{28A0092B-C50C-407E-A947-70E740481C1C}">
                <a14:useLocalDpi xmlns:a14="http://schemas.microsoft.com/office/drawing/2010/main" val="0"/>
              </a:ext>
            </a:extLst>
          </a:blip>
          <a:srcRect l="7639" r="23205" b="30479"/>
          <a:stretch/>
        </p:blipFill>
        <p:spPr>
          <a:xfrm>
            <a:off x="6513935" y="6652511"/>
            <a:ext cx="2988690" cy="3374024"/>
          </a:xfrm>
          <a:prstGeom prst="rect">
            <a:avLst/>
          </a:prstGeom>
        </p:spPr>
      </p:pic>
      <p:pic>
        <p:nvPicPr>
          <p:cNvPr id="10" name="Gambar 9">
            <a:extLst>
              <a:ext uri="{FF2B5EF4-FFF2-40B4-BE49-F238E27FC236}">
                <a16:creationId xmlns:a16="http://schemas.microsoft.com/office/drawing/2014/main" id="{6625BEEA-BCC5-55C5-BA7D-6EADDF5757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26945" y="6716613"/>
            <a:ext cx="3655501" cy="3309921"/>
          </a:xfrm>
          <a:prstGeom prst="rect">
            <a:avLst/>
          </a:prstGeom>
        </p:spPr>
      </p:pic>
      <p:pic>
        <p:nvPicPr>
          <p:cNvPr id="12" name="Gambar 11">
            <a:extLst>
              <a:ext uri="{FF2B5EF4-FFF2-40B4-BE49-F238E27FC236}">
                <a16:creationId xmlns:a16="http://schemas.microsoft.com/office/drawing/2014/main" id="{E274B9CF-5B0C-7BE6-D3D3-005B8A489BB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75930" y="6716613"/>
            <a:ext cx="3362325" cy="3317118"/>
          </a:xfrm>
          <a:prstGeom prst="rect">
            <a:avLst/>
          </a:prstGeom>
        </p:spPr>
      </p:pic>
      <p:pic>
        <p:nvPicPr>
          <p:cNvPr id="14" name="Gambar 13">
            <a:extLst>
              <a:ext uri="{FF2B5EF4-FFF2-40B4-BE49-F238E27FC236}">
                <a16:creationId xmlns:a16="http://schemas.microsoft.com/office/drawing/2014/main" id="{E5306999-DD51-5FC9-4000-2F8D4498F1D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080125" y="6652511"/>
            <a:ext cx="5020635" cy="3309921"/>
          </a:xfrm>
          <a:prstGeom prst="rect">
            <a:avLst/>
          </a:prstGeom>
        </p:spPr>
      </p:pic>
      <p:sp>
        <p:nvSpPr>
          <p:cNvPr id="16" name="Rectangle 33">
            <a:extLst>
              <a:ext uri="{FF2B5EF4-FFF2-40B4-BE49-F238E27FC236}">
                <a16:creationId xmlns:a16="http://schemas.microsoft.com/office/drawing/2014/main" id="{B1CB9843-46D4-1EF6-639F-95787F73EB67}"/>
              </a:ext>
            </a:extLst>
          </p:cNvPr>
          <p:cNvSpPr/>
          <p:nvPr/>
        </p:nvSpPr>
        <p:spPr>
          <a:xfrm flipV="1">
            <a:off x="3215400" y="6969282"/>
            <a:ext cx="1678758" cy="33389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8" name="Rectangle 33">
            <a:extLst>
              <a:ext uri="{FF2B5EF4-FFF2-40B4-BE49-F238E27FC236}">
                <a16:creationId xmlns:a16="http://schemas.microsoft.com/office/drawing/2014/main" id="{CD1049B9-D868-BF01-CE4A-D9AE4D047EAD}"/>
              </a:ext>
            </a:extLst>
          </p:cNvPr>
          <p:cNvSpPr/>
          <p:nvPr/>
        </p:nvSpPr>
        <p:spPr>
          <a:xfrm>
            <a:off x="5149491" y="8286697"/>
            <a:ext cx="424048" cy="45555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Rectangle 33">
            <a:extLst>
              <a:ext uri="{FF2B5EF4-FFF2-40B4-BE49-F238E27FC236}">
                <a16:creationId xmlns:a16="http://schemas.microsoft.com/office/drawing/2014/main" id="{3DC8E5C1-6C1A-C6D0-9EA4-99862D6077F5}"/>
              </a:ext>
            </a:extLst>
          </p:cNvPr>
          <p:cNvSpPr/>
          <p:nvPr/>
        </p:nvSpPr>
        <p:spPr>
          <a:xfrm>
            <a:off x="3070394" y="5775600"/>
            <a:ext cx="1968770" cy="23238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Rectangle 33">
            <a:extLst>
              <a:ext uri="{FF2B5EF4-FFF2-40B4-BE49-F238E27FC236}">
                <a16:creationId xmlns:a16="http://schemas.microsoft.com/office/drawing/2014/main" id="{35F9B99B-6678-E7A0-6AFB-B3B8FB108B5C}"/>
              </a:ext>
            </a:extLst>
          </p:cNvPr>
          <p:cNvSpPr/>
          <p:nvPr/>
        </p:nvSpPr>
        <p:spPr>
          <a:xfrm>
            <a:off x="6504167" y="5775600"/>
            <a:ext cx="1968770" cy="23238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Rectangle 33">
            <a:extLst>
              <a:ext uri="{FF2B5EF4-FFF2-40B4-BE49-F238E27FC236}">
                <a16:creationId xmlns:a16="http://schemas.microsoft.com/office/drawing/2014/main" id="{84B9ED7F-F395-8EB7-9C8E-CF6255B7E55A}"/>
              </a:ext>
            </a:extLst>
          </p:cNvPr>
          <p:cNvSpPr/>
          <p:nvPr/>
        </p:nvSpPr>
        <p:spPr>
          <a:xfrm>
            <a:off x="9876259" y="8878230"/>
            <a:ext cx="3047159" cy="6271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2807605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6393090" y="7937499"/>
            <a:ext cx="9264248" cy="2102370"/>
          </a:xfrm>
          <a:prstGeom prst="rect">
            <a:avLst/>
          </a:prstGeom>
        </p:spPr>
        <p:txBody>
          <a:bodyPr wrap="square" lIns="0" tIns="0" rIns="0" bIns="0" rtlCol="0" anchor="t">
            <a:spAutoFit/>
          </a:bodyPr>
          <a:lstStyle/>
          <a:p>
            <a:pPr algn="just">
              <a:lnSpc>
                <a:spcPts val="4159"/>
              </a:lnSpc>
            </a:pPr>
            <a:r>
              <a:rPr lang="id-ID" sz="2400" dirty="0" err="1">
                <a:solidFill>
                  <a:srgbClr val="253439"/>
                </a:solidFill>
                <a:latin typeface="Aileron"/>
                <a:ea typeface="Aileron"/>
                <a:cs typeface="Aileron"/>
                <a:sym typeface="Aileron"/>
              </a:rPr>
              <a:t>Information</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like</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this</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will</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appear</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if</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the</a:t>
            </a:r>
            <a:r>
              <a:rPr lang="id-ID" sz="2400" dirty="0">
                <a:solidFill>
                  <a:srgbClr val="253439"/>
                </a:solidFill>
                <a:latin typeface="Aileron"/>
                <a:ea typeface="Aileron"/>
                <a:cs typeface="Aileron"/>
                <a:sym typeface="Aileron"/>
              </a:rPr>
              <a:t> Map </a:t>
            </a:r>
            <a:r>
              <a:rPr lang="id-ID" sz="2400" dirty="0" err="1">
                <a:solidFill>
                  <a:srgbClr val="253439"/>
                </a:solidFill>
                <a:latin typeface="Aileron"/>
                <a:ea typeface="Aileron"/>
                <a:cs typeface="Aileron"/>
                <a:sym typeface="Aileron"/>
              </a:rPr>
              <a:t>Chart</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is</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created</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directly</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from</a:t>
            </a:r>
            <a:r>
              <a:rPr lang="id-ID" sz="2400" dirty="0">
                <a:solidFill>
                  <a:srgbClr val="253439"/>
                </a:solidFill>
                <a:latin typeface="Aileron"/>
                <a:ea typeface="Aileron"/>
                <a:cs typeface="Aileron"/>
                <a:sym typeface="Aileron"/>
              </a:rPr>
              <a:t> </a:t>
            </a:r>
            <a:r>
              <a:rPr lang="id-ID" sz="2400" b="1" dirty="0" err="1">
                <a:solidFill>
                  <a:srgbClr val="253439"/>
                </a:solidFill>
                <a:latin typeface="Aileron"/>
                <a:ea typeface="Aileron"/>
                <a:cs typeface="Aileron"/>
                <a:sym typeface="Aileron"/>
              </a:rPr>
              <a:t>PivotTable</a:t>
            </a:r>
            <a:r>
              <a:rPr lang="id-ID" sz="2400" b="1" dirty="0">
                <a:solidFill>
                  <a:srgbClr val="253439"/>
                </a:solidFill>
                <a:latin typeface="Aileron"/>
                <a:ea typeface="Aileron"/>
                <a:cs typeface="Aileron"/>
                <a:sym typeface="Aileron"/>
              </a:rPr>
              <a:t> data</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because</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the</a:t>
            </a:r>
            <a:r>
              <a:rPr lang="id-ID" sz="2400" dirty="0">
                <a:solidFill>
                  <a:srgbClr val="253439"/>
                </a:solidFill>
                <a:latin typeface="Aileron"/>
                <a:ea typeface="Aileron"/>
                <a:cs typeface="Aileron"/>
                <a:sym typeface="Aileron"/>
              </a:rPr>
              <a:t> format </a:t>
            </a:r>
            <a:r>
              <a:rPr lang="id-ID" sz="2400" dirty="0" err="1">
                <a:solidFill>
                  <a:srgbClr val="253439"/>
                </a:solidFill>
                <a:latin typeface="Aileron"/>
                <a:ea typeface="Aileron"/>
                <a:cs typeface="Aileron"/>
                <a:sym typeface="Aileron"/>
              </a:rPr>
              <a:t>is</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dynamic</a:t>
            </a:r>
            <a:r>
              <a:rPr lang="id-ID" sz="2400" dirty="0">
                <a:solidFill>
                  <a:srgbClr val="253439"/>
                </a:solidFill>
                <a:latin typeface="Aileron"/>
                <a:ea typeface="Aileron"/>
                <a:cs typeface="Aileron"/>
                <a:sym typeface="Aileron"/>
              </a:rPr>
              <a:t>. You </a:t>
            </a:r>
            <a:r>
              <a:rPr lang="id-ID" sz="2400" dirty="0" err="1">
                <a:solidFill>
                  <a:srgbClr val="253439"/>
                </a:solidFill>
                <a:latin typeface="Aileron"/>
                <a:ea typeface="Aileron"/>
                <a:cs typeface="Aileron"/>
                <a:sym typeface="Aileron"/>
              </a:rPr>
              <a:t>must</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copy</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the</a:t>
            </a:r>
            <a:r>
              <a:rPr lang="id-ID" sz="2400" dirty="0">
                <a:solidFill>
                  <a:srgbClr val="253439"/>
                </a:solidFill>
                <a:latin typeface="Aileron"/>
                <a:ea typeface="Aileron"/>
                <a:cs typeface="Aileron"/>
                <a:sym typeface="Aileron"/>
              </a:rPr>
              <a:t> data </a:t>
            </a:r>
            <a:r>
              <a:rPr lang="id-ID" sz="2400" dirty="0" err="1">
                <a:solidFill>
                  <a:srgbClr val="253439"/>
                </a:solidFill>
                <a:latin typeface="Aileron"/>
                <a:ea typeface="Aileron"/>
                <a:cs typeface="Aileron"/>
                <a:sym typeface="Aileron"/>
              </a:rPr>
              <a:t>and</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paste</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it</a:t>
            </a:r>
            <a:r>
              <a:rPr lang="id-ID" sz="2400" dirty="0">
                <a:solidFill>
                  <a:srgbClr val="253439"/>
                </a:solidFill>
                <a:latin typeface="Aileron"/>
                <a:ea typeface="Aileron"/>
                <a:cs typeface="Aileron"/>
                <a:sym typeface="Aileron"/>
              </a:rPr>
              <a:t> as (</a:t>
            </a:r>
            <a:r>
              <a:rPr lang="id-ID" sz="2400" dirty="0" err="1">
                <a:solidFill>
                  <a:srgbClr val="253439"/>
                </a:solidFill>
                <a:latin typeface="Aileron"/>
                <a:ea typeface="Aileron"/>
                <a:cs typeface="Aileron"/>
                <a:sym typeface="Aileron"/>
              </a:rPr>
              <a:t>static</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values</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outside</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the</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PivotTable</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before</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creating</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the</a:t>
            </a:r>
            <a:r>
              <a:rPr lang="id-ID" sz="2400" dirty="0">
                <a:solidFill>
                  <a:srgbClr val="253439"/>
                </a:solidFill>
                <a:latin typeface="Aileron"/>
                <a:ea typeface="Aileron"/>
                <a:cs typeface="Aileron"/>
                <a:sym typeface="Aileron"/>
              </a:rPr>
              <a:t> </a:t>
            </a:r>
            <a:r>
              <a:rPr lang="id-ID" sz="2400" dirty="0" err="1">
                <a:solidFill>
                  <a:srgbClr val="253439"/>
                </a:solidFill>
                <a:latin typeface="Aileron"/>
                <a:ea typeface="Aileron"/>
                <a:cs typeface="Aileron"/>
                <a:sym typeface="Aileron"/>
              </a:rPr>
              <a:t>chart</a:t>
            </a:r>
            <a:r>
              <a:rPr lang="id-ID" sz="2400" dirty="0">
                <a:solidFill>
                  <a:srgbClr val="253439"/>
                </a:solidFill>
                <a:latin typeface="Aileron"/>
                <a:ea typeface="Aileron"/>
                <a:cs typeface="Aileron"/>
                <a:sym typeface="Aileron"/>
              </a:rPr>
              <a:t>..</a:t>
            </a:r>
            <a:endParaRPr lang="en-US" sz="2400" dirty="0">
              <a:solidFill>
                <a:srgbClr val="253439"/>
              </a:solidFill>
              <a:latin typeface="Aileron"/>
              <a:ea typeface="Aileron"/>
              <a:cs typeface="Aileron"/>
              <a:sym typeface="Aileron"/>
            </a:endParaRPr>
          </a:p>
        </p:txBody>
      </p:sp>
      <p:sp>
        <p:nvSpPr>
          <p:cNvPr id="4" name="TextBox 4"/>
          <p:cNvSpPr txBox="1"/>
          <p:nvPr/>
        </p:nvSpPr>
        <p:spPr>
          <a:xfrm>
            <a:off x="1132728" y="781650"/>
            <a:ext cx="9454479" cy="961802"/>
          </a:xfrm>
          <a:prstGeom prst="rect">
            <a:avLst/>
          </a:prstGeom>
        </p:spPr>
        <p:txBody>
          <a:bodyPr lIns="0" tIns="0" rIns="0" bIns="0" rtlCol="0" anchor="t">
            <a:spAutoFit/>
          </a:bodyPr>
          <a:lstStyle/>
          <a:p>
            <a:pPr algn="l">
              <a:lnSpc>
                <a:spcPts val="8162"/>
              </a:lnSpc>
            </a:pPr>
            <a:r>
              <a:rPr lang="en-US" sz="4400" b="1" dirty="0">
                <a:solidFill>
                  <a:srgbClr val="253439"/>
                </a:solidFill>
                <a:latin typeface="Glacial Indifference Bold"/>
                <a:ea typeface="Glacial Indifference Bold"/>
                <a:cs typeface="Glacial Indifference Bold"/>
                <a:sym typeface="Glacial Indifference Bold"/>
              </a:rPr>
              <a:t>&amp; MOVE IT TO DASHBOARD</a:t>
            </a:r>
          </a:p>
        </p:txBody>
      </p:sp>
      <p:sp>
        <p:nvSpPr>
          <p:cNvPr id="5" name="TextBox 5"/>
          <p:cNvSpPr txBox="1"/>
          <p:nvPr/>
        </p:nvSpPr>
        <p:spPr>
          <a:xfrm>
            <a:off x="1132728" y="260465"/>
            <a:ext cx="7216494" cy="886653"/>
          </a:xfrm>
          <a:prstGeom prst="rect">
            <a:avLst/>
          </a:prstGeom>
        </p:spPr>
        <p:txBody>
          <a:bodyPr lIns="0" tIns="0" rIns="0" bIns="0" rtlCol="0" anchor="t">
            <a:spAutoFit/>
          </a:bodyPr>
          <a:lstStyle/>
          <a:p>
            <a:pPr algn="l">
              <a:lnSpc>
                <a:spcPts val="7260"/>
              </a:lnSpc>
            </a:pPr>
            <a:r>
              <a:rPr lang="en-US" sz="4400" spc="211" dirty="0">
                <a:solidFill>
                  <a:srgbClr val="000000"/>
                </a:solidFill>
                <a:latin typeface="HK Grotesk"/>
                <a:ea typeface="HK Grotesk"/>
                <a:cs typeface="HK Grotesk"/>
                <a:sym typeface="HK Grotesk"/>
              </a:rPr>
              <a:t>FILLED MAP CHART</a:t>
            </a:r>
          </a:p>
        </p:txBody>
      </p:sp>
      <p:sp>
        <p:nvSpPr>
          <p:cNvPr id="6" name="AutoShape 6"/>
          <p:cNvSpPr/>
          <p:nvPr/>
        </p:nvSpPr>
        <p:spPr>
          <a:xfrm>
            <a:off x="609600" y="413053"/>
            <a:ext cx="0" cy="1225247"/>
          </a:xfrm>
          <a:prstGeom prst="line">
            <a:avLst/>
          </a:prstGeom>
          <a:ln w="133350" cap="flat">
            <a:solidFill>
              <a:schemeClr val="accent3">
                <a:lumMod val="50000"/>
              </a:schemeClr>
            </a:solidFill>
            <a:prstDash val="solid"/>
            <a:headEnd type="none" w="sm" len="sm"/>
            <a:tailEnd type="none" w="sm" len="sm"/>
          </a:ln>
        </p:spPr>
      </p:sp>
      <p:pic>
        <p:nvPicPr>
          <p:cNvPr id="15" name="Gambar 14">
            <a:extLst>
              <a:ext uri="{FF2B5EF4-FFF2-40B4-BE49-F238E27FC236}">
                <a16:creationId xmlns:a16="http://schemas.microsoft.com/office/drawing/2014/main" id="{BE2880C5-B120-0368-6F5E-45402344CA12}"/>
              </a:ext>
            </a:extLst>
          </p:cNvPr>
          <p:cNvPicPr>
            <a:picLocks noChangeAspect="1"/>
          </p:cNvPicPr>
          <p:nvPr/>
        </p:nvPicPr>
        <p:blipFill>
          <a:blip r:embed="rId2">
            <a:extLst>
              <a:ext uri="{28A0092B-C50C-407E-A947-70E740481C1C}">
                <a14:useLocalDpi xmlns:a14="http://schemas.microsoft.com/office/drawing/2010/main" val="0"/>
              </a:ext>
            </a:extLst>
          </a:blip>
          <a:srcRect l="49708" t="-1107" r="9225" b="53494"/>
          <a:stretch/>
        </p:blipFill>
        <p:spPr>
          <a:xfrm>
            <a:off x="1591849" y="2007513"/>
            <a:ext cx="3497003" cy="2888858"/>
          </a:xfrm>
          <a:prstGeom prst="rect">
            <a:avLst/>
          </a:prstGeom>
        </p:spPr>
      </p:pic>
      <p:pic>
        <p:nvPicPr>
          <p:cNvPr id="11" name="Gambar 10">
            <a:extLst>
              <a:ext uri="{FF2B5EF4-FFF2-40B4-BE49-F238E27FC236}">
                <a16:creationId xmlns:a16="http://schemas.microsoft.com/office/drawing/2014/main" id="{ACEB2D48-69F4-1729-084F-CF9DCBBD75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3090" y="5207118"/>
            <a:ext cx="7368288" cy="2730381"/>
          </a:xfrm>
          <a:prstGeom prst="rect">
            <a:avLst/>
          </a:prstGeom>
        </p:spPr>
      </p:pic>
      <p:pic>
        <p:nvPicPr>
          <p:cNvPr id="13" name="Gambar 12">
            <a:extLst>
              <a:ext uri="{FF2B5EF4-FFF2-40B4-BE49-F238E27FC236}">
                <a16:creationId xmlns:a16="http://schemas.microsoft.com/office/drawing/2014/main" id="{D792A455-E5BB-A927-0806-39CFE3A65FA8}"/>
              </a:ext>
            </a:extLst>
          </p:cNvPr>
          <p:cNvPicPr>
            <a:picLocks noChangeAspect="1"/>
          </p:cNvPicPr>
          <p:nvPr/>
        </p:nvPicPr>
        <p:blipFill>
          <a:blip r:embed="rId4">
            <a:extLst>
              <a:ext uri="{28A0092B-C50C-407E-A947-70E740481C1C}">
                <a14:useLocalDpi xmlns:a14="http://schemas.microsoft.com/office/drawing/2010/main" val="0"/>
              </a:ext>
            </a:extLst>
          </a:blip>
          <a:srcRect r="60175"/>
          <a:stretch/>
        </p:blipFill>
        <p:spPr>
          <a:xfrm>
            <a:off x="1156750" y="5143500"/>
            <a:ext cx="4768870" cy="4574424"/>
          </a:xfrm>
          <a:prstGeom prst="rect">
            <a:avLst/>
          </a:prstGeom>
        </p:spPr>
      </p:pic>
      <p:sp>
        <p:nvSpPr>
          <p:cNvPr id="7" name="Freeform 7"/>
          <p:cNvSpPr/>
          <p:nvPr/>
        </p:nvSpPr>
        <p:spPr>
          <a:xfrm rot="-10800000">
            <a:off x="9938780" y="-928058"/>
            <a:ext cx="11173984" cy="7393795"/>
          </a:xfrm>
          <a:custGeom>
            <a:avLst/>
            <a:gdLst/>
            <a:ahLst/>
            <a:cxnLst/>
            <a:rect l="l" t="t" r="r" b="b"/>
            <a:pathLst>
              <a:path w="11173984" h="7393795">
                <a:moveTo>
                  <a:pt x="0" y="0"/>
                </a:moveTo>
                <a:lnTo>
                  <a:pt x="11173984" y="0"/>
                </a:lnTo>
                <a:lnTo>
                  <a:pt x="11173984" y="7393795"/>
                </a:lnTo>
                <a:lnTo>
                  <a:pt x="0" y="739379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Rectangle 33">
            <a:extLst>
              <a:ext uri="{FF2B5EF4-FFF2-40B4-BE49-F238E27FC236}">
                <a16:creationId xmlns:a16="http://schemas.microsoft.com/office/drawing/2014/main" id="{0FA05E91-C5D7-B126-535C-66E6354432B9}"/>
              </a:ext>
            </a:extLst>
          </p:cNvPr>
          <p:cNvSpPr/>
          <p:nvPr/>
        </p:nvSpPr>
        <p:spPr>
          <a:xfrm>
            <a:off x="2348466" y="3314700"/>
            <a:ext cx="851934" cy="6399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Kotak Teks 13">
            <a:extLst>
              <a:ext uri="{FF2B5EF4-FFF2-40B4-BE49-F238E27FC236}">
                <a16:creationId xmlns:a16="http://schemas.microsoft.com/office/drawing/2014/main" id="{5487D938-1E59-D529-7F0E-349E94014558}"/>
              </a:ext>
            </a:extLst>
          </p:cNvPr>
          <p:cNvSpPr txBox="1"/>
          <p:nvPr/>
        </p:nvSpPr>
        <p:spPr>
          <a:xfrm>
            <a:off x="5099738" y="2007513"/>
            <a:ext cx="9264248" cy="2246769"/>
          </a:xfrm>
          <a:prstGeom prst="rect">
            <a:avLst/>
          </a:prstGeom>
          <a:noFill/>
        </p:spPr>
        <p:txBody>
          <a:bodyPr wrap="square">
            <a:spAutoFit/>
          </a:bodyPr>
          <a:lstStyle/>
          <a:p>
            <a:r>
              <a:rPr lang="id-ID" sz="2800" dirty="0" err="1"/>
              <a:t>Select</a:t>
            </a:r>
            <a:r>
              <a:rPr lang="id-ID" sz="2800" dirty="0"/>
              <a:t> </a:t>
            </a:r>
            <a:r>
              <a:rPr lang="id-ID" sz="2800" dirty="0" err="1"/>
              <a:t>the</a:t>
            </a:r>
            <a:r>
              <a:rPr lang="id-ID" sz="2800" dirty="0"/>
              <a:t> </a:t>
            </a:r>
            <a:r>
              <a:rPr lang="id-ID" sz="2800" dirty="0" err="1"/>
              <a:t>pasted</a:t>
            </a:r>
            <a:r>
              <a:rPr lang="id-ID" sz="2800" dirty="0"/>
              <a:t> data, </a:t>
            </a:r>
            <a:r>
              <a:rPr lang="id-ID" sz="2800" dirty="0" err="1"/>
              <a:t>go</a:t>
            </a:r>
            <a:r>
              <a:rPr lang="id-ID" sz="2800" dirty="0"/>
              <a:t> </a:t>
            </a:r>
            <a:r>
              <a:rPr lang="id-ID" sz="2800" dirty="0" err="1"/>
              <a:t>to</a:t>
            </a:r>
            <a:r>
              <a:rPr lang="id-ID" sz="2800" dirty="0"/>
              <a:t> </a:t>
            </a:r>
            <a:r>
              <a:rPr lang="id-ID" sz="2800" dirty="0" err="1"/>
              <a:t>the</a:t>
            </a:r>
            <a:r>
              <a:rPr lang="id-ID" sz="2800" dirty="0"/>
              <a:t> </a:t>
            </a:r>
            <a:r>
              <a:rPr lang="id-ID" sz="2800" b="1" dirty="0"/>
              <a:t>Insert tab</a:t>
            </a:r>
            <a:r>
              <a:rPr lang="id-ID" sz="2800" dirty="0"/>
              <a:t>, </a:t>
            </a:r>
            <a:r>
              <a:rPr lang="id-ID" sz="2800" dirty="0" err="1"/>
              <a:t>and</a:t>
            </a:r>
            <a:r>
              <a:rPr lang="id-ID" sz="2800" dirty="0"/>
              <a:t> </a:t>
            </a:r>
            <a:r>
              <a:rPr lang="id-ID" sz="2800" dirty="0" err="1"/>
              <a:t>choose</a:t>
            </a:r>
            <a:r>
              <a:rPr lang="id-ID" sz="2800" dirty="0"/>
              <a:t> </a:t>
            </a:r>
            <a:r>
              <a:rPr lang="id-ID" sz="2800" b="1" dirty="0" err="1"/>
              <a:t>Filled</a:t>
            </a:r>
            <a:r>
              <a:rPr lang="id-ID" sz="2800" b="1" dirty="0"/>
              <a:t> Map </a:t>
            </a:r>
            <a:r>
              <a:rPr lang="id-ID" sz="2800" b="1" dirty="0" err="1"/>
              <a:t>Chart</a:t>
            </a:r>
            <a:r>
              <a:rPr lang="id-ID" sz="2800" dirty="0"/>
              <a:t> </a:t>
            </a:r>
            <a:r>
              <a:rPr lang="id-ID" sz="2800" dirty="0" err="1"/>
              <a:t>from</a:t>
            </a:r>
            <a:r>
              <a:rPr lang="id-ID" sz="2800" dirty="0"/>
              <a:t> </a:t>
            </a:r>
            <a:r>
              <a:rPr lang="id-ID" sz="2800" dirty="0" err="1"/>
              <a:t>the</a:t>
            </a:r>
            <a:r>
              <a:rPr lang="id-ID" sz="2800" dirty="0"/>
              <a:t> </a:t>
            </a:r>
            <a:r>
              <a:rPr lang="id-ID" sz="2800" dirty="0" err="1"/>
              <a:t>Charts</a:t>
            </a:r>
            <a:r>
              <a:rPr lang="id-ID" sz="2800" dirty="0"/>
              <a:t> </a:t>
            </a:r>
            <a:r>
              <a:rPr lang="id-ID" sz="2800" dirty="0" err="1"/>
              <a:t>group</a:t>
            </a:r>
            <a:r>
              <a:rPr lang="id-ID" sz="2800" dirty="0"/>
              <a:t>. Once </a:t>
            </a:r>
            <a:r>
              <a:rPr lang="id-ID" sz="2800" dirty="0" err="1"/>
              <a:t>the</a:t>
            </a:r>
            <a:r>
              <a:rPr lang="id-ID" sz="2800" dirty="0"/>
              <a:t> </a:t>
            </a:r>
            <a:r>
              <a:rPr lang="id-ID" sz="2800" dirty="0" err="1"/>
              <a:t>chart</a:t>
            </a:r>
            <a:r>
              <a:rPr lang="id-ID" sz="2800" dirty="0"/>
              <a:t> </a:t>
            </a:r>
            <a:r>
              <a:rPr lang="id-ID" sz="2800" dirty="0" err="1"/>
              <a:t>is</a:t>
            </a:r>
            <a:r>
              <a:rPr lang="id-ID" sz="2800" dirty="0"/>
              <a:t> </a:t>
            </a:r>
            <a:r>
              <a:rPr lang="id-ID" sz="2800" dirty="0" err="1"/>
              <a:t>created</a:t>
            </a:r>
            <a:r>
              <a:rPr lang="id-ID" sz="2800" dirty="0"/>
              <a:t>, </a:t>
            </a:r>
            <a:r>
              <a:rPr lang="id-ID" sz="2800" dirty="0" err="1"/>
              <a:t>move</a:t>
            </a:r>
            <a:r>
              <a:rPr lang="id-ID" sz="2800" dirty="0"/>
              <a:t> </a:t>
            </a:r>
            <a:r>
              <a:rPr lang="id-ID" sz="2800" dirty="0" err="1"/>
              <a:t>it</a:t>
            </a:r>
            <a:r>
              <a:rPr lang="id-ID" sz="2800" dirty="0"/>
              <a:t> </a:t>
            </a:r>
            <a:r>
              <a:rPr lang="id-ID" sz="2800" dirty="0" err="1"/>
              <a:t>to</a:t>
            </a:r>
            <a:r>
              <a:rPr lang="id-ID" sz="2800" dirty="0"/>
              <a:t> </a:t>
            </a:r>
            <a:r>
              <a:rPr lang="id-ID" sz="2800" dirty="0" err="1"/>
              <a:t>your</a:t>
            </a:r>
            <a:r>
              <a:rPr lang="id-ID" sz="2800" dirty="0"/>
              <a:t> </a:t>
            </a:r>
            <a:r>
              <a:rPr lang="id-ID" sz="2800" dirty="0" err="1"/>
              <a:t>dashboard</a:t>
            </a:r>
            <a:r>
              <a:rPr lang="id-ID" sz="2800" dirty="0"/>
              <a:t> </a:t>
            </a:r>
            <a:r>
              <a:rPr lang="id-ID" sz="2800" dirty="0" err="1"/>
              <a:t>by</a:t>
            </a:r>
            <a:r>
              <a:rPr lang="id-ID" sz="2800" dirty="0"/>
              <a:t> </a:t>
            </a:r>
            <a:r>
              <a:rPr lang="id-ID" sz="2800" dirty="0" err="1"/>
              <a:t>cutting</a:t>
            </a:r>
            <a:r>
              <a:rPr lang="id-ID" sz="2800" dirty="0"/>
              <a:t> </a:t>
            </a:r>
            <a:r>
              <a:rPr lang="id-ID" sz="2800" dirty="0" err="1"/>
              <a:t>and</a:t>
            </a:r>
            <a:r>
              <a:rPr lang="id-ID" sz="2800" dirty="0"/>
              <a:t> </a:t>
            </a:r>
            <a:r>
              <a:rPr lang="id-ID" sz="2800" dirty="0" err="1"/>
              <a:t>pasting</a:t>
            </a:r>
            <a:r>
              <a:rPr lang="id-ID" sz="2800" dirty="0"/>
              <a:t> </a:t>
            </a:r>
            <a:r>
              <a:rPr lang="id-ID" sz="2800" dirty="0" err="1"/>
              <a:t>it</a:t>
            </a:r>
            <a:r>
              <a:rPr lang="id-ID" sz="2800" dirty="0"/>
              <a:t> </a:t>
            </a:r>
            <a:r>
              <a:rPr lang="id-ID" sz="2800" dirty="0" err="1"/>
              <a:t>into</a:t>
            </a:r>
            <a:r>
              <a:rPr lang="id-ID" sz="2800" dirty="0"/>
              <a:t> </a:t>
            </a:r>
            <a:r>
              <a:rPr lang="id-ID" sz="2800" dirty="0" err="1"/>
              <a:t>the</a:t>
            </a:r>
            <a:r>
              <a:rPr lang="id-ID" sz="2800" dirty="0"/>
              <a:t> </a:t>
            </a:r>
            <a:r>
              <a:rPr lang="id-ID" sz="2800" dirty="0" err="1"/>
              <a:t>desired</a:t>
            </a:r>
            <a:r>
              <a:rPr lang="id-ID" sz="2800" dirty="0"/>
              <a:t> </a:t>
            </a:r>
            <a:r>
              <a:rPr lang="id-ID" sz="2800" dirty="0" err="1"/>
              <a:t>location</a:t>
            </a:r>
            <a:r>
              <a:rPr lang="id-ID" sz="2800" dirty="0"/>
              <a:t>. </a:t>
            </a:r>
            <a:r>
              <a:rPr lang="id-ID" sz="2800" dirty="0" err="1"/>
              <a:t>This</a:t>
            </a:r>
            <a:r>
              <a:rPr lang="id-ID" sz="2800" dirty="0"/>
              <a:t> </a:t>
            </a:r>
            <a:r>
              <a:rPr lang="id-ID" sz="2800" dirty="0" err="1"/>
              <a:t>avoids</a:t>
            </a:r>
            <a:r>
              <a:rPr lang="id-ID" sz="2800" dirty="0"/>
              <a:t> </a:t>
            </a:r>
            <a:r>
              <a:rPr lang="id-ID" sz="2800" dirty="0" err="1"/>
              <a:t>the</a:t>
            </a:r>
            <a:r>
              <a:rPr lang="id-ID" sz="2800" dirty="0"/>
              <a:t> </a:t>
            </a:r>
            <a:r>
              <a:rPr lang="id-ID" sz="2800" dirty="0" err="1"/>
              <a:t>error</a:t>
            </a:r>
            <a:r>
              <a:rPr lang="id-ID" sz="2800" dirty="0"/>
              <a:t> </a:t>
            </a:r>
            <a:r>
              <a:rPr lang="id-ID" sz="2800" dirty="0" err="1"/>
              <a:t>message</a:t>
            </a:r>
            <a:r>
              <a:rPr lang="id-ID" sz="2800" dirty="0"/>
              <a:t> </a:t>
            </a:r>
            <a:r>
              <a:rPr lang="id-ID" sz="2800" dirty="0" err="1"/>
              <a:t>about</a:t>
            </a:r>
            <a:r>
              <a:rPr lang="id-ID" sz="2800" dirty="0"/>
              <a:t> </a:t>
            </a:r>
            <a:r>
              <a:rPr lang="id-ID" sz="2800" dirty="0" err="1"/>
              <a:t>incompatible</a:t>
            </a:r>
            <a:r>
              <a:rPr lang="id-ID" sz="2800" dirty="0"/>
              <a:t> data </a:t>
            </a:r>
            <a:r>
              <a:rPr lang="id-ID" sz="2800" dirty="0" err="1"/>
              <a:t>from</a:t>
            </a:r>
            <a:r>
              <a:rPr lang="id-ID" sz="2800" dirty="0"/>
              <a:t> </a:t>
            </a:r>
            <a:r>
              <a:rPr lang="id-ID" sz="2800" dirty="0" err="1"/>
              <a:t>PivotTables</a:t>
            </a:r>
            <a:r>
              <a:rPr lang="id-ID" sz="2800" dirty="0"/>
              <a:t>.</a:t>
            </a:r>
          </a:p>
        </p:txBody>
      </p:sp>
    </p:spTree>
    <p:extLst>
      <p:ext uri="{BB962C8B-B14F-4D97-AF65-F5344CB8AC3E}">
        <p14:creationId xmlns:p14="http://schemas.microsoft.com/office/powerpoint/2010/main" val="2430821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TextBox 3"/>
          <p:cNvSpPr txBox="1"/>
          <p:nvPr/>
        </p:nvSpPr>
        <p:spPr>
          <a:xfrm>
            <a:off x="11201401" y="2377937"/>
            <a:ext cx="7086599" cy="7453707"/>
          </a:xfrm>
          <a:prstGeom prst="rect">
            <a:avLst/>
          </a:prstGeom>
        </p:spPr>
        <p:txBody>
          <a:bodyPr wrap="square" lIns="0" tIns="0" rIns="0" bIns="0" rtlCol="0" anchor="t">
            <a:spAutoFit/>
          </a:bodyPr>
          <a:lstStyle/>
          <a:p>
            <a:pPr algn="l">
              <a:lnSpc>
                <a:spcPts val="3900"/>
              </a:lnSpc>
              <a:spcBef>
                <a:spcPct val="0"/>
              </a:spcBef>
            </a:pPr>
            <a:r>
              <a:rPr lang="en-US" sz="2600" dirty="0">
                <a:latin typeface="Aileron"/>
                <a:ea typeface="Aileron"/>
                <a:cs typeface="Aileron"/>
                <a:sym typeface="Aileron"/>
              </a:rPr>
              <a:t>The dashboard presented in this slide is the </a:t>
            </a:r>
            <a:r>
              <a:rPr lang="en-US" sz="2600" b="1" dirty="0">
                <a:latin typeface="Aileron"/>
                <a:ea typeface="Aileron"/>
                <a:cs typeface="Aileron"/>
                <a:sym typeface="Aileron"/>
              </a:rPr>
              <a:t>final result</a:t>
            </a:r>
            <a:r>
              <a:rPr lang="en-US" sz="2600" dirty="0">
                <a:latin typeface="Aileron"/>
                <a:ea typeface="Aileron"/>
                <a:cs typeface="Aileron"/>
                <a:sym typeface="Aileron"/>
              </a:rPr>
              <a:t> of the analysis conducted.</a:t>
            </a:r>
          </a:p>
          <a:p>
            <a:pPr algn="l">
              <a:lnSpc>
                <a:spcPts val="3900"/>
              </a:lnSpc>
              <a:spcBef>
                <a:spcPct val="0"/>
              </a:spcBef>
            </a:pPr>
            <a:r>
              <a:rPr lang="en-US" sz="2600" dirty="0">
                <a:latin typeface="Aileron"/>
                <a:ea typeface="Aileron"/>
                <a:cs typeface="Aileron"/>
                <a:sym typeface="Aileron"/>
              </a:rPr>
              <a:t>It compiles insights from multiple Pivot Tables and visualizations, such as:</a:t>
            </a:r>
          </a:p>
          <a:p>
            <a:pPr marL="457200" indent="-457200" algn="l">
              <a:lnSpc>
                <a:spcPts val="3900"/>
              </a:lnSpc>
              <a:spcBef>
                <a:spcPct val="0"/>
              </a:spcBef>
              <a:buFont typeface="Wingdings" panose="05000000000000000000" pitchFamily="2" charset="2"/>
              <a:buChar char="Ø"/>
            </a:pPr>
            <a:r>
              <a:rPr lang="en-US" sz="2600" b="1" dirty="0">
                <a:latin typeface="Aileron"/>
                <a:ea typeface="Aileron"/>
                <a:cs typeface="Aileron"/>
                <a:sym typeface="Aileron"/>
              </a:rPr>
              <a:t>Sales Trends Over Time </a:t>
            </a:r>
            <a:r>
              <a:rPr lang="en-US" sz="2600" dirty="0">
                <a:latin typeface="Aileron"/>
                <a:ea typeface="Aileron"/>
                <a:cs typeface="Aileron"/>
                <a:sym typeface="Aileron"/>
              </a:rPr>
              <a:t>(Line Chart with Timeline).</a:t>
            </a:r>
          </a:p>
          <a:p>
            <a:pPr marL="457200" indent="-457200" algn="l">
              <a:lnSpc>
                <a:spcPts val="3900"/>
              </a:lnSpc>
              <a:spcBef>
                <a:spcPct val="0"/>
              </a:spcBef>
              <a:buFont typeface="Wingdings" panose="05000000000000000000" pitchFamily="2" charset="2"/>
              <a:buChar char="Ø"/>
            </a:pPr>
            <a:r>
              <a:rPr lang="en-US" sz="2600" b="1" dirty="0">
                <a:latin typeface="Aileron"/>
                <a:ea typeface="Aileron"/>
                <a:cs typeface="Aileron"/>
                <a:sym typeface="Aileron"/>
              </a:rPr>
              <a:t>Sales by Category </a:t>
            </a:r>
            <a:r>
              <a:rPr lang="en-US" sz="2600" dirty="0">
                <a:latin typeface="Aileron"/>
                <a:ea typeface="Aileron"/>
                <a:cs typeface="Aileron"/>
                <a:sym typeface="Aileron"/>
              </a:rPr>
              <a:t>(Pie Chart).</a:t>
            </a:r>
          </a:p>
          <a:p>
            <a:pPr marL="457200" indent="-457200" algn="l">
              <a:lnSpc>
                <a:spcPts val="3900"/>
              </a:lnSpc>
              <a:spcBef>
                <a:spcPct val="0"/>
              </a:spcBef>
              <a:buFont typeface="Wingdings" panose="05000000000000000000" pitchFamily="2" charset="2"/>
              <a:buChar char="Ø"/>
            </a:pPr>
            <a:r>
              <a:rPr lang="en-US" sz="2600" b="1" dirty="0">
                <a:latin typeface="Aileron"/>
                <a:ea typeface="Aileron"/>
                <a:cs typeface="Aileron"/>
                <a:sym typeface="Aileron"/>
              </a:rPr>
              <a:t>Geographical Sales Distribution </a:t>
            </a:r>
            <a:r>
              <a:rPr lang="en-US" sz="2600" dirty="0">
                <a:latin typeface="Aileron"/>
                <a:ea typeface="Aileron"/>
                <a:cs typeface="Aileron"/>
                <a:sym typeface="Aileron"/>
              </a:rPr>
              <a:t>(Map Chart).</a:t>
            </a:r>
          </a:p>
          <a:p>
            <a:pPr marL="457200" indent="-457200" algn="l">
              <a:lnSpc>
                <a:spcPts val="3900"/>
              </a:lnSpc>
              <a:spcBef>
                <a:spcPct val="0"/>
              </a:spcBef>
              <a:buFont typeface="Wingdings" panose="05000000000000000000" pitchFamily="2" charset="2"/>
              <a:buChar char="Ø"/>
            </a:pPr>
            <a:r>
              <a:rPr lang="en-US" sz="2600" b="1" dirty="0">
                <a:latin typeface="Aileron"/>
                <a:ea typeface="Aileron"/>
                <a:cs typeface="Aileron"/>
                <a:sym typeface="Aileron"/>
              </a:rPr>
              <a:t>Key Metrics: </a:t>
            </a:r>
            <a:r>
              <a:rPr lang="en-US" sz="2600" dirty="0">
                <a:latin typeface="Aileron"/>
                <a:ea typeface="Aileron"/>
                <a:cs typeface="Aileron"/>
                <a:sym typeface="Aileron"/>
              </a:rPr>
              <a:t>Sum, Average, Maximum, and Minimum Sales.</a:t>
            </a:r>
          </a:p>
          <a:p>
            <a:pPr algn="l">
              <a:lnSpc>
                <a:spcPts val="3900"/>
              </a:lnSpc>
              <a:spcBef>
                <a:spcPct val="0"/>
              </a:spcBef>
            </a:pPr>
            <a:r>
              <a:rPr lang="en-US" sz="2600" dirty="0">
                <a:latin typeface="Aileron"/>
                <a:ea typeface="Aileron"/>
                <a:cs typeface="Aileron"/>
                <a:sym typeface="Aileron"/>
              </a:rPr>
              <a:t>The process of creating Pivot Tables and Charts has already been thoroughly explained. By moving directly to the final overview, the audience can see the big picture of the analysis.</a:t>
            </a:r>
          </a:p>
        </p:txBody>
      </p:sp>
      <p:sp>
        <p:nvSpPr>
          <p:cNvPr id="4" name="TextBox 4"/>
          <p:cNvSpPr txBox="1"/>
          <p:nvPr/>
        </p:nvSpPr>
        <p:spPr>
          <a:xfrm>
            <a:off x="11513564" y="897461"/>
            <a:ext cx="6851940" cy="1171575"/>
          </a:xfrm>
          <a:prstGeom prst="rect">
            <a:avLst/>
          </a:prstGeom>
        </p:spPr>
        <p:txBody>
          <a:bodyPr lIns="0" tIns="0" rIns="0" bIns="0" rtlCol="0" anchor="t">
            <a:spAutoFit/>
          </a:bodyPr>
          <a:lstStyle/>
          <a:p>
            <a:pPr marL="0" lvl="0" indent="0" algn="l">
              <a:lnSpc>
                <a:spcPts val="9240"/>
              </a:lnSpc>
              <a:spcBef>
                <a:spcPct val="0"/>
              </a:spcBef>
            </a:pPr>
            <a:r>
              <a:rPr lang="en-US" sz="7700" b="1" spc="847" dirty="0">
                <a:solidFill>
                  <a:schemeClr val="tx1">
                    <a:lumMod val="85000"/>
                    <a:lumOff val="15000"/>
                  </a:schemeClr>
                </a:solidFill>
                <a:latin typeface="Glacial Indifference Bold"/>
                <a:ea typeface="Glacial Indifference Bold"/>
                <a:cs typeface="Glacial Indifference Bold"/>
                <a:sym typeface="Glacial Indifference Bold"/>
              </a:rPr>
              <a:t>OVERVIEW</a:t>
            </a:r>
          </a:p>
        </p:txBody>
      </p:sp>
      <p:sp>
        <p:nvSpPr>
          <p:cNvPr id="5" name="TextBox 5"/>
          <p:cNvSpPr txBox="1"/>
          <p:nvPr/>
        </p:nvSpPr>
        <p:spPr>
          <a:xfrm>
            <a:off x="9829800" y="111064"/>
            <a:ext cx="7543799" cy="1013547"/>
          </a:xfrm>
          <a:prstGeom prst="rect">
            <a:avLst/>
          </a:prstGeom>
        </p:spPr>
        <p:txBody>
          <a:bodyPr wrap="square" lIns="0" tIns="0" rIns="0" bIns="0" rtlCol="0" anchor="t">
            <a:spAutoFit/>
          </a:bodyPr>
          <a:lstStyle/>
          <a:p>
            <a:pPr marL="0" lvl="0" indent="0" algn="l">
              <a:lnSpc>
                <a:spcPts val="7920"/>
              </a:lnSpc>
              <a:spcBef>
                <a:spcPct val="0"/>
              </a:spcBef>
            </a:pPr>
            <a:r>
              <a:rPr lang="en-US" sz="6600" dirty="0">
                <a:solidFill>
                  <a:schemeClr val="tx1">
                    <a:lumMod val="65000"/>
                    <a:lumOff val="35000"/>
                  </a:schemeClr>
                </a:solidFill>
                <a:latin typeface="HK Grotesk"/>
                <a:ea typeface="HK Grotesk"/>
                <a:cs typeface="HK Grotesk"/>
                <a:sym typeface="HK Grotesk"/>
              </a:rPr>
              <a:t>FINAL DASHBOARD</a:t>
            </a:r>
          </a:p>
        </p:txBody>
      </p:sp>
      <p:sp>
        <p:nvSpPr>
          <p:cNvPr id="6" name="AutoShape 6"/>
          <p:cNvSpPr/>
          <p:nvPr/>
        </p:nvSpPr>
        <p:spPr>
          <a:xfrm>
            <a:off x="17605676" y="111064"/>
            <a:ext cx="0" cy="1908235"/>
          </a:xfrm>
          <a:prstGeom prst="line">
            <a:avLst/>
          </a:prstGeom>
          <a:ln w="133350" cap="flat">
            <a:solidFill>
              <a:schemeClr val="accent3">
                <a:lumMod val="50000"/>
              </a:schemeClr>
            </a:solidFill>
            <a:prstDash val="solid"/>
            <a:headEnd type="none" w="sm" len="sm"/>
            <a:tailEnd type="none" w="sm" len="sm"/>
          </a:ln>
        </p:spPr>
      </p:sp>
      <p:sp>
        <p:nvSpPr>
          <p:cNvPr id="7" name="Freeform 7"/>
          <p:cNvSpPr/>
          <p:nvPr/>
        </p:nvSpPr>
        <p:spPr>
          <a:xfrm rot="7273542">
            <a:off x="-2525898" y="-1689661"/>
            <a:ext cx="10337804" cy="6840496"/>
          </a:xfrm>
          <a:custGeom>
            <a:avLst/>
            <a:gdLst/>
            <a:ahLst/>
            <a:cxnLst/>
            <a:rect l="l" t="t" r="r" b="b"/>
            <a:pathLst>
              <a:path w="10337804" h="6840496">
                <a:moveTo>
                  <a:pt x="0" y="0"/>
                </a:moveTo>
                <a:lnTo>
                  <a:pt x="10337804" y="0"/>
                </a:lnTo>
                <a:lnTo>
                  <a:pt x="10337804" y="6840496"/>
                </a:lnTo>
                <a:lnTo>
                  <a:pt x="0" y="68404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9" name="Picture 8">
            <a:extLst>
              <a:ext uri="{FF2B5EF4-FFF2-40B4-BE49-F238E27FC236}">
                <a16:creationId xmlns:a16="http://schemas.microsoft.com/office/drawing/2014/main" id="{389EA080-9108-4CDC-87DD-8A8261CE7B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1600" y="2394266"/>
            <a:ext cx="9345329" cy="7245034"/>
          </a:xfrm>
          <a:prstGeom prst="rect">
            <a:avLst/>
          </a:prstGeom>
          <a:ln w="28575">
            <a:solidFill>
              <a:schemeClr val="accent3">
                <a:lumMod val="50000"/>
              </a:schemeClr>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rot="5015114">
            <a:off x="9740863" y="2343404"/>
            <a:ext cx="15802157" cy="9423832"/>
          </a:xfrm>
          <a:custGeom>
            <a:avLst/>
            <a:gdLst/>
            <a:ahLst/>
            <a:cxnLst/>
            <a:rect l="l" t="t" r="r" b="b"/>
            <a:pathLst>
              <a:path w="15802157" h="9423832">
                <a:moveTo>
                  <a:pt x="0" y="0"/>
                </a:moveTo>
                <a:lnTo>
                  <a:pt x="15802157" y="0"/>
                </a:lnTo>
                <a:lnTo>
                  <a:pt x="15802157" y="9423832"/>
                </a:lnTo>
                <a:lnTo>
                  <a:pt x="0" y="9423832"/>
                </a:lnTo>
                <a:lnTo>
                  <a:pt x="0" y="0"/>
                </a:lnTo>
                <a:close/>
              </a:path>
            </a:pathLst>
          </a:custGeom>
          <a:blipFill>
            <a:blip r:embed="rId2">
              <a:extLst>
                <a:ext uri="{96DAC541-7B7A-43D3-8B79-37D633B846F1}">
                  <asvg:svgBlip xmlns:asvg="http://schemas.microsoft.com/office/drawing/2016/SVG/main" r:embed="rId3"/>
                </a:ext>
              </a:extLst>
            </a:blip>
            <a:stretch>
              <a:fillRect/>
            </a:stretch>
          </a:blipFill>
          <a:ln>
            <a:noFill/>
          </a:ln>
        </p:spPr>
      </p:sp>
      <p:grpSp>
        <p:nvGrpSpPr>
          <p:cNvPr id="3" name="Group 3"/>
          <p:cNvGrpSpPr/>
          <p:nvPr/>
        </p:nvGrpSpPr>
        <p:grpSpPr>
          <a:xfrm>
            <a:off x="1566398" y="1333975"/>
            <a:ext cx="15433919" cy="7619050"/>
            <a:chOff x="0" y="0"/>
            <a:chExt cx="4064900" cy="2006663"/>
          </a:xfrm>
        </p:grpSpPr>
        <p:sp>
          <p:nvSpPr>
            <p:cNvPr id="4" name="Freeform 4"/>
            <p:cNvSpPr/>
            <p:nvPr/>
          </p:nvSpPr>
          <p:spPr>
            <a:xfrm>
              <a:off x="0" y="0"/>
              <a:ext cx="4064900" cy="2006663"/>
            </a:xfrm>
            <a:custGeom>
              <a:avLst/>
              <a:gdLst/>
              <a:ahLst/>
              <a:cxnLst/>
              <a:rect l="l" t="t" r="r" b="b"/>
              <a:pathLst>
                <a:path w="4064900" h="2006663">
                  <a:moveTo>
                    <a:pt x="0" y="0"/>
                  </a:moveTo>
                  <a:lnTo>
                    <a:pt x="4064900" y="0"/>
                  </a:lnTo>
                  <a:lnTo>
                    <a:pt x="4064900" y="2006663"/>
                  </a:lnTo>
                  <a:lnTo>
                    <a:pt x="0" y="2006663"/>
                  </a:lnTo>
                  <a:close/>
                </a:path>
              </a:pathLst>
            </a:custGeom>
            <a:gradFill rotWithShape="1">
              <a:gsLst>
                <a:gs pos="0">
                  <a:srgbClr val="FDF7EF">
                    <a:alpha val="100000"/>
                  </a:srgbClr>
                </a:gs>
                <a:gs pos="100000">
                  <a:srgbClr val="FFFFFF">
                    <a:alpha val="100000"/>
                  </a:srgbClr>
                </a:gs>
              </a:gsLst>
              <a:lin ang="0"/>
            </a:gradFill>
            <a:ln w="38100" cap="sq">
              <a:solidFill>
                <a:schemeClr val="accent3">
                  <a:lumMod val="50000"/>
                </a:schemeClr>
              </a:solidFill>
              <a:prstDash val="solid"/>
              <a:miter/>
            </a:ln>
          </p:spPr>
        </p:sp>
        <p:sp>
          <p:nvSpPr>
            <p:cNvPr id="5" name="TextBox 5"/>
            <p:cNvSpPr txBox="1"/>
            <p:nvPr/>
          </p:nvSpPr>
          <p:spPr>
            <a:xfrm>
              <a:off x="0" y="9525"/>
              <a:ext cx="4064900" cy="1997138"/>
            </a:xfrm>
            <a:prstGeom prst="rect">
              <a:avLst/>
            </a:prstGeom>
            <a:ln>
              <a:solidFill>
                <a:schemeClr val="accent3">
                  <a:lumMod val="50000"/>
                </a:schemeClr>
              </a:solidFill>
            </a:ln>
          </p:spPr>
          <p:txBody>
            <a:bodyPr lIns="50800" tIns="50800" rIns="50800" bIns="50800" rtlCol="0" anchor="ctr"/>
            <a:lstStyle/>
            <a:p>
              <a:pPr algn="ctr">
                <a:lnSpc>
                  <a:spcPts val="1869"/>
                </a:lnSpc>
              </a:pPr>
              <a:endParaRPr/>
            </a:p>
          </p:txBody>
        </p:sp>
      </p:grpSp>
      <p:grpSp>
        <p:nvGrpSpPr>
          <p:cNvPr id="17" name="Group 16">
            <a:extLst>
              <a:ext uri="{FF2B5EF4-FFF2-40B4-BE49-F238E27FC236}">
                <a16:creationId xmlns:a16="http://schemas.microsoft.com/office/drawing/2014/main" id="{41D717D7-6DE9-4DD5-AC91-477355AFA6F3}"/>
              </a:ext>
            </a:extLst>
          </p:cNvPr>
          <p:cNvGrpSpPr/>
          <p:nvPr/>
        </p:nvGrpSpPr>
        <p:grpSpPr>
          <a:xfrm>
            <a:off x="7315200" y="3875223"/>
            <a:ext cx="8153400" cy="2572718"/>
            <a:chOff x="7010400" y="3848100"/>
            <a:chExt cx="6511015" cy="2286000"/>
          </a:xfrm>
        </p:grpSpPr>
        <p:sp>
          <p:nvSpPr>
            <p:cNvPr id="6" name="TextBox 6"/>
            <p:cNvSpPr txBox="1"/>
            <p:nvPr/>
          </p:nvSpPr>
          <p:spPr>
            <a:xfrm>
              <a:off x="7448090" y="5034440"/>
              <a:ext cx="6073325" cy="1099660"/>
            </a:xfrm>
            <a:prstGeom prst="rect">
              <a:avLst/>
            </a:prstGeom>
          </p:spPr>
          <p:txBody>
            <a:bodyPr lIns="0" tIns="0" rIns="0" bIns="0" rtlCol="0" anchor="t">
              <a:spAutoFit/>
            </a:bodyPr>
            <a:lstStyle/>
            <a:p>
              <a:pPr algn="just">
                <a:lnSpc>
                  <a:spcPts val="8470"/>
                </a:lnSpc>
              </a:pPr>
              <a:r>
                <a:rPr lang="en-US" sz="8000" b="1" dirty="0">
                  <a:solidFill>
                    <a:srgbClr val="253439"/>
                  </a:solidFill>
                  <a:latin typeface="Glacial Indifference Bold"/>
                  <a:ea typeface="Glacial Indifference Bold"/>
                  <a:cs typeface="Glacial Indifference Bold"/>
                  <a:sym typeface="Glacial Indifference Bold"/>
                </a:rPr>
                <a:t>YOU</a:t>
              </a:r>
            </a:p>
          </p:txBody>
        </p:sp>
        <p:sp>
          <p:nvSpPr>
            <p:cNvPr id="14" name="TextBox 14"/>
            <p:cNvSpPr txBox="1"/>
            <p:nvPr/>
          </p:nvSpPr>
          <p:spPr>
            <a:xfrm>
              <a:off x="7448090" y="3998783"/>
              <a:ext cx="4190997" cy="1009635"/>
            </a:xfrm>
            <a:prstGeom prst="rect">
              <a:avLst/>
            </a:prstGeom>
          </p:spPr>
          <p:txBody>
            <a:bodyPr wrap="square" lIns="0" tIns="0" rIns="0" bIns="0" rtlCol="0" anchor="t">
              <a:spAutoFit/>
            </a:bodyPr>
            <a:lstStyle/>
            <a:p>
              <a:pPr algn="l">
                <a:lnSpc>
                  <a:spcPts val="7260"/>
                </a:lnSpc>
              </a:pPr>
              <a:r>
                <a:rPr lang="en-US" sz="8000" spc="211" dirty="0">
                  <a:solidFill>
                    <a:srgbClr val="253439"/>
                  </a:solidFill>
                  <a:latin typeface="HK Grotesk Light"/>
                  <a:ea typeface="HK Grotesk Light"/>
                  <a:cs typeface="HK Grotesk Light"/>
                  <a:sym typeface="HK Grotesk Light"/>
                </a:rPr>
                <a:t>THANK</a:t>
              </a:r>
            </a:p>
          </p:txBody>
        </p:sp>
        <p:sp>
          <p:nvSpPr>
            <p:cNvPr id="15" name="AutoShape 15"/>
            <p:cNvSpPr/>
            <p:nvPr/>
          </p:nvSpPr>
          <p:spPr>
            <a:xfrm flipV="1">
              <a:off x="7010400" y="3848100"/>
              <a:ext cx="0" cy="2286000"/>
            </a:xfrm>
            <a:prstGeom prst="line">
              <a:avLst/>
            </a:prstGeom>
            <a:ln w="133350" cap="flat">
              <a:solidFill>
                <a:schemeClr val="accent3">
                  <a:lumMod val="50000"/>
                </a:schemeClr>
              </a:solidFill>
              <a:prstDash val="solid"/>
              <a:headEnd type="none" w="sm" len="sm"/>
              <a:tailEnd type="none" w="sm" len="sm"/>
            </a:ln>
          </p:spPr>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7EF">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6448441" y="3608926"/>
            <a:ext cx="0" cy="1576081"/>
          </a:xfrm>
          <a:prstGeom prst="line">
            <a:avLst/>
          </a:prstGeom>
          <a:ln w="133350" cap="flat">
            <a:solidFill>
              <a:schemeClr val="accent3">
                <a:lumMod val="50000"/>
              </a:schemeClr>
            </a:solidFill>
            <a:prstDash val="solid"/>
            <a:headEnd type="none" w="sm" len="sm"/>
            <a:tailEnd type="none" w="sm" len="sm"/>
          </a:ln>
        </p:spPr>
      </p:sp>
      <p:sp>
        <p:nvSpPr>
          <p:cNvPr id="3" name="Freeform 3"/>
          <p:cNvSpPr/>
          <p:nvPr/>
        </p:nvSpPr>
        <p:spPr>
          <a:xfrm rot="-4397829" flipV="1">
            <a:off x="-4687605" y="-1450524"/>
            <a:ext cx="16435483" cy="9801524"/>
          </a:xfrm>
          <a:custGeom>
            <a:avLst/>
            <a:gdLst/>
            <a:ahLst/>
            <a:cxnLst/>
            <a:rect l="l" t="t" r="r" b="b"/>
            <a:pathLst>
              <a:path w="16435483" h="9801524">
                <a:moveTo>
                  <a:pt x="0" y="9801524"/>
                </a:moveTo>
                <a:lnTo>
                  <a:pt x="16435483" y="9801524"/>
                </a:lnTo>
                <a:lnTo>
                  <a:pt x="16435483" y="0"/>
                </a:lnTo>
                <a:lnTo>
                  <a:pt x="0" y="0"/>
                </a:lnTo>
                <a:lnTo>
                  <a:pt x="0" y="980152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364679" y="1028700"/>
            <a:ext cx="325035" cy="403543"/>
          </a:xfrm>
          <a:custGeom>
            <a:avLst/>
            <a:gdLst/>
            <a:ahLst/>
            <a:cxnLst/>
            <a:rect l="l" t="t" r="r" b="b"/>
            <a:pathLst>
              <a:path w="325035" h="403543">
                <a:moveTo>
                  <a:pt x="0" y="0"/>
                </a:moveTo>
                <a:lnTo>
                  <a:pt x="325036" y="0"/>
                </a:lnTo>
                <a:lnTo>
                  <a:pt x="325036" y="403543"/>
                </a:lnTo>
                <a:lnTo>
                  <a:pt x="0" y="403543"/>
                </a:lnTo>
                <a:lnTo>
                  <a:pt x="0" y="0"/>
                </a:lnTo>
                <a:close/>
              </a:path>
            </a:pathLst>
          </a:custGeom>
          <a:blipFill>
            <a:blip r:embed="rId4">
              <a:extLst>
                <a:ext uri="{96DAC541-7B7A-43D3-8B79-37D633B846F1}">
                  <asvg:svgBlip xmlns:asvg="http://schemas.microsoft.com/office/drawing/2016/SVG/main" r:embed="rId5"/>
                </a:ext>
              </a:extLst>
            </a:blip>
            <a:stretch>
              <a:fillRect/>
            </a:stretch>
          </a:blipFill>
          <a:ln>
            <a:noFill/>
          </a:ln>
        </p:spPr>
      </p:sp>
      <p:sp>
        <p:nvSpPr>
          <p:cNvPr id="5" name="TextBox 5"/>
          <p:cNvSpPr txBox="1"/>
          <p:nvPr/>
        </p:nvSpPr>
        <p:spPr>
          <a:xfrm>
            <a:off x="12692182" y="1071151"/>
            <a:ext cx="3406676" cy="333040"/>
          </a:xfrm>
          <a:prstGeom prst="rect">
            <a:avLst/>
          </a:prstGeom>
        </p:spPr>
        <p:txBody>
          <a:bodyPr lIns="0" tIns="0" rIns="0" bIns="0" rtlCol="0" anchor="t">
            <a:spAutoFit/>
          </a:bodyPr>
          <a:lstStyle/>
          <a:p>
            <a:pPr marL="0" lvl="0" indent="0" algn="r">
              <a:lnSpc>
                <a:spcPts val="2671"/>
              </a:lnSpc>
              <a:spcBef>
                <a:spcPct val="0"/>
              </a:spcBef>
            </a:pPr>
            <a:r>
              <a:rPr lang="id-ID" sz="1908" dirty="0">
                <a:solidFill>
                  <a:srgbClr val="253439"/>
                </a:solidFill>
                <a:latin typeface="HK Grotesk"/>
                <a:ea typeface="HK Grotesk"/>
                <a:cs typeface="HK Grotesk"/>
                <a:sym typeface="HK Grotesk"/>
              </a:rPr>
              <a:t>YANDI ADI SAPUTRA</a:t>
            </a:r>
            <a:endParaRPr lang="en-US" sz="1908" dirty="0">
              <a:solidFill>
                <a:srgbClr val="253439"/>
              </a:solidFill>
              <a:latin typeface="HK Grotesk"/>
              <a:ea typeface="HK Grotesk"/>
              <a:cs typeface="HK Grotesk"/>
              <a:sym typeface="HK Grotesk"/>
            </a:endParaRPr>
          </a:p>
        </p:txBody>
      </p:sp>
      <p:sp>
        <p:nvSpPr>
          <p:cNvPr id="6" name="Freeform 6"/>
          <p:cNvSpPr/>
          <p:nvPr/>
        </p:nvSpPr>
        <p:spPr>
          <a:xfrm>
            <a:off x="16106250" y="5746981"/>
            <a:ext cx="583465" cy="583465"/>
          </a:xfrm>
          <a:custGeom>
            <a:avLst/>
            <a:gdLst/>
            <a:ahLst/>
            <a:cxnLst/>
            <a:rect l="l" t="t" r="r" b="b"/>
            <a:pathLst>
              <a:path w="583465" h="583465">
                <a:moveTo>
                  <a:pt x="0" y="0"/>
                </a:moveTo>
                <a:lnTo>
                  <a:pt x="583465" y="0"/>
                </a:lnTo>
                <a:lnTo>
                  <a:pt x="583465" y="583465"/>
                </a:lnTo>
                <a:lnTo>
                  <a:pt x="0" y="58346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6106250" y="7413325"/>
            <a:ext cx="583465" cy="583465"/>
          </a:xfrm>
          <a:custGeom>
            <a:avLst/>
            <a:gdLst/>
            <a:ahLst/>
            <a:cxnLst/>
            <a:rect l="l" t="t" r="r" b="b"/>
            <a:pathLst>
              <a:path w="583465" h="583465">
                <a:moveTo>
                  <a:pt x="0" y="0"/>
                </a:moveTo>
                <a:lnTo>
                  <a:pt x="583465" y="0"/>
                </a:lnTo>
                <a:lnTo>
                  <a:pt x="583465" y="583465"/>
                </a:lnTo>
                <a:lnTo>
                  <a:pt x="0" y="58346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16279911" y="7511807"/>
            <a:ext cx="281662" cy="386500"/>
          </a:xfrm>
          <a:custGeom>
            <a:avLst/>
            <a:gdLst/>
            <a:ahLst/>
            <a:cxnLst/>
            <a:rect l="l" t="t" r="r" b="b"/>
            <a:pathLst>
              <a:path w="281662" h="386500">
                <a:moveTo>
                  <a:pt x="0" y="0"/>
                </a:moveTo>
                <a:lnTo>
                  <a:pt x="281662" y="0"/>
                </a:lnTo>
                <a:lnTo>
                  <a:pt x="281662" y="386501"/>
                </a:lnTo>
                <a:lnTo>
                  <a:pt x="0" y="38650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6106250" y="6563567"/>
            <a:ext cx="583465" cy="583465"/>
          </a:xfrm>
          <a:custGeom>
            <a:avLst/>
            <a:gdLst/>
            <a:ahLst/>
            <a:cxnLst/>
            <a:rect l="l" t="t" r="r" b="b"/>
            <a:pathLst>
              <a:path w="583465" h="583465">
                <a:moveTo>
                  <a:pt x="0" y="0"/>
                </a:moveTo>
                <a:lnTo>
                  <a:pt x="583465" y="0"/>
                </a:lnTo>
                <a:lnTo>
                  <a:pt x="583465" y="583465"/>
                </a:lnTo>
                <a:lnTo>
                  <a:pt x="0" y="58346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6232806" y="6728264"/>
            <a:ext cx="330353" cy="254072"/>
          </a:xfrm>
          <a:custGeom>
            <a:avLst/>
            <a:gdLst/>
            <a:ahLst/>
            <a:cxnLst/>
            <a:rect l="l" t="t" r="r" b="b"/>
            <a:pathLst>
              <a:path w="330353" h="254072">
                <a:moveTo>
                  <a:pt x="0" y="0"/>
                </a:moveTo>
                <a:lnTo>
                  <a:pt x="330353" y="0"/>
                </a:lnTo>
                <a:lnTo>
                  <a:pt x="330353" y="254072"/>
                </a:lnTo>
                <a:lnTo>
                  <a:pt x="0" y="25407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Freeform 12"/>
          <p:cNvSpPr/>
          <p:nvPr/>
        </p:nvSpPr>
        <p:spPr>
          <a:xfrm>
            <a:off x="16106250" y="8263083"/>
            <a:ext cx="534657" cy="534657"/>
          </a:xfrm>
          <a:custGeom>
            <a:avLst/>
            <a:gdLst/>
            <a:ahLst/>
            <a:cxnLst/>
            <a:rect l="l" t="t" r="r" b="b"/>
            <a:pathLst>
              <a:path w="534657" h="534657">
                <a:moveTo>
                  <a:pt x="0" y="0"/>
                </a:moveTo>
                <a:lnTo>
                  <a:pt x="534656" y="0"/>
                </a:lnTo>
                <a:lnTo>
                  <a:pt x="534656" y="534656"/>
                </a:lnTo>
                <a:lnTo>
                  <a:pt x="0" y="53465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16252884" y="8350445"/>
            <a:ext cx="241389" cy="370654"/>
          </a:xfrm>
          <a:custGeom>
            <a:avLst/>
            <a:gdLst/>
            <a:ahLst/>
            <a:cxnLst/>
            <a:rect l="l" t="t" r="r" b="b"/>
            <a:pathLst>
              <a:path w="241389" h="370654">
                <a:moveTo>
                  <a:pt x="0" y="0"/>
                </a:moveTo>
                <a:lnTo>
                  <a:pt x="241388" y="0"/>
                </a:lnTo>
                <a:lnTo>
                  <a:pt x="241388" y="370654"/>
                </a:lnTo>
                <a:lnTo>
                  <a:pt x="0" y="37065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TextBox 14"/>
          <p:cNvSpPr txBox="1"/>
          <p:nvPr/>
        </p:nvSpPr>
        <p:spPr>
          <a:xfrm>
            <a:off x="7204395" y="3653144"/>
            <a:ext cx="8995754" cy="1490356"/>
          </a:xfrm>
          <a:prstGeom prst="rect">
            <a:avLst/>
          </a:prstGeom>
        </p:spPr>
        <p:txBody>
          <a:bodyPr lIns="0" tIns="0" rIns="0" bIns="0" rtlCol="0" anchor="t">
            <a:spAutoFit/>
          </a:bodyPr>
          <a:lstStyle/>
          <a:p>
            <a:pPr algn="r">
              <a:lnSpc>
                <a:spcPts val="11446"/>
              </a:lnSpc>
            </a:pPr>
            <a:r>
              <a:rPr lang="en-US" sz="10406" b="1" spc="416">
                <a:solidFill>
                  <a:srgbClr val="253439"/>
                </a:solidFill>
                <a:latin typeface="Aileron Bold"/>
                <a:ea typeface="Aileron Bold"/>
                <a:cs typeface="Aileron Bold"/>
                <a:sym typeface="Aileron Bold"/>
              </a:rPr>
              <a:t>CONTACT</a:t>
            </a:r>
          </a:p>
        </p:txBody>
      </p:sp>
      <p:sp>
        <p:nvSpPr>
          <p:cNvPr id="15" name="TextBox 15"/>
          <p:cNvSpPr txBox="1"/>
          <p:nvPr/>
        </p:nvSpPr>
        <p:spPr>
          <a:xfrm>
            <a:off x="10585973" y="5845930"/>
            <a:ext cx="5300334" cy="282129"/>
          </a:xfrm>
          <a:prstGeom prst="rect">
            <a:avLst/>
          </a:prstGeom>
          <a:noFill/>
        </p:spPr>
        <p:txBody>
          <a:bodyPr lIns="0" tIns="0" rIns="0" bIns="0" rtlCol="0" anchor="t">
            <a:spAutoFit/>
          </a:bodyPr>
          <a:lstStyle/>
          <a:p>
            <a:pPr algn="r">
              <a:lnSpc>
                <a:spcPts val="2200"/>
              </a:lnSpc>
            </a:pPr>
            <a:r>
              <a:rPr lang="id-ID" sz="2000" dirty="0">
                <a:solidFill>
                  <a:schemeClr val="tx2">
                    <a:lumMod val="60000"/>
                    <a:lumOff val="40000"/>
                  </a:schemeClr>
                </a:solidFill>
                <a:latin typeface="Glacial Indifference"/>
                <a:ea typeface="Glacial Indifference"/>
                <a:cs typeface="Glacial Indifference"/>
                <a:sym typeface="Glacial Indifference"/>
                <a:hlinkClick r:id="rId14">
                  <a:extLst>
                    <a:ext uri="{A12FA001-AC4F-418D-AE19-62706E023703}">
                      <ahyp:hlinkClr xmlns:ahyp="http://schemas.microsoft.com/office/drawing/2018/hyperlinkcolor" val="tx"/>
                    </a:ext>
                  </a:extLst>
                </a:hlinkClick>
              </a:rPr>
              <a:t>Yandi Adi Saputra </a:t>
            </a:r>
            <a:endParaRPr lang="en-US" sz="2000" dirty="0">
              <a:solidFill>
                <a:schemeClr val="tx2">
                  <a:lumMod val="60000"/>
                  <a:lumOff val="40000"/>
                </a:schemeClr>
              </a:solidFill>
              <a:latin typeface="Glacial Indifference"/>
              <a:ea typeface="Glacial Indifference"/>
              <a:cs typeface="Glacial Indifference"/>
              <a:sym typeface="Glacial Indifference"/>
            </a:endParaRPr>
          </a:p>
        </p:txBody>
      </p:sp>
      <p:sp>
        <p:nvSpPr>
          <p:cNvPr id="16" name="TextBox 16"/>
          <p:cNvSpPr txBox="1"/>
          <p:nvPr/>
        </p:nvSpPr>
        <p:spPr>
          <a:xfrm>
            <a:off x="12130290" y="6660537"/>
            <a:ext cx="3761862" cy="314189"/>
          </a:xfrm>
          <a:prstGeom prst="rect">
            <a:avLst/>
          </a:prstGeom>
          <a:noFill/>
        </p:spPr>
        <p:txBody>
          <a:bodyPr lIns="0" tIns="0" rIns="0" bIns="0" rtlCol="0" anchor="t">
            <a:spAutoFit/>
          </a:bodyPr>
          <a:lstStyle/>
          <a:p>
            <a:pPr algn="r">
              <a:lnSpc>
                <a:spcPts val="2600"/>
              </a:lnSpc>
            </a:pPr>
            <a:r>
              <a:rPr lang="id-ID" sz="2000" dirty="0">
                <a:solidFill>
                  <a:schemeClr val="tx2">
                    <a:lumMod val="60000"/>
                    <a:lumOff val="40000"/>
                  </a:schemeClr>
                </a:solidFill>
                <a:latin typeface="Glacial Indifference"/>
                <a:ea typeface="Glacial Indifference"/>
                <a:cs typeface="Glacial Indifference"/>
                <a:sym typeface="Glacial Indifference"/>
                <a:hlinkClick r:id="rId15">
                  <a:extLst>
                    <a:ext uri="{A12FA001-AC4F-418D-AE19-62706E023703}">
                      <ahyp:hlinkClr xmlns:ahyp="http://schemas.microsoft.com/office/drawing/2018/hyperlinkcolor" val="tx"/>
                    </a:ext>
                  </a:extLst>
                </a:hlinkClick>
              </a:rPr>
              <a:t>yandiadisaputra11@gmail</a:t>
            </a:r>
            <a:r>
              <a:rPr lang="en-US" sz="2000" dirty="0">
                <a:solidFill>
                  <a:schemeClr val="tx2">
                    <a:lumMod val="60000"/>
                    <a:lumOff val="40000"/>
                  </a:schemeClr>
                </a:solidFill>
                <a:latin typeface="Glacial Indifference"/>
                <a:ea typeface="Glacial Indifference"/>
                <a:cs typeface="Glacial Indifference"/>
                <a:sym typeface="Glacial Indifference"/>
                <a:hlinkClick r:id="rId15">
                  <a:extLst>
                    <a:ext uri="{A12FA001-AC4F-418D-AE19-62706E023703}">
                      <ahyp:hlinkClr xmlns:ahyp="http://schemas.microsoft.com/office/drawing/2018/hyperlinkcolor" val="tx"/>
                    </a:ext>
                  </a:extLst>
                </a:hlinkClick>
              </a:rPr>
              <a:t>.com</a:t>
            </a:r>
            <a:endParaRPr lang="en-US" sz="2000" dirty="0">
              <a:solidFill>
                <a:schemeClr val="tx2">
                  <a:lumMod val="60000"/>
                  <a:lumOff val="40000"/>
                </a:schemeClr>
              </a:solidFill>
              <a:latin typeface="Glacial Indifference"/>
              <a:ea typeface="Glacial Indifference"/>
              <a:cs typeface="Glacial Indifference"/>
              <a:sym typeface="Glacial Indifference"/>
            </a:endParaRPr>
          </a:p>
        </p:txBody>
      </p:sp>
      <p:sp>
        <p:nvSpPr>
          <p:cNvPr id="17" name="TextBox 17"/>
          <p:cNvSpPr txBox="1"/>
          <p:nvPr/>
        </p:nvSpPr>
        <p:spPr>
          <a:xfrm>
            <a:off x="12935177" y="7515785"/>
            <a:ext cx="2951129" cy="314189"/>
          </a:xfrm>
          <a:prstGeom prst="rect">
            <a:avLst/>
          </a:prstGeom>
        </p:spPr>
        <p:txBody>
          <a:bodyPr lIns="0" tIns="0" rIns="0" bIns="0" rtlCol="0" anchor="t">
            <a:spAutoFit/>
          </a:bodyPr>
          <a:lstStyle/>
          <a:p>
            <a:pPr algn="r">
              <a:lnSpc>
                <a:spcPts val="2600"/>
              </a:lnSpc>
            </a:pPr>
            <a:r>
              <a:rPr lang="en-US" sz="2000" dirty="0">
                <a:solidFill>
                  <a:srgbClr val="253439"/>
                </a:solidFill>
                <a:latin typeface="Glacial Indifference"/>
                <a:ea typeface="Glacial Indifference"/>
                <a:cs typeface="Glacial Indifference"/>
                <a:sym typeface="Glacial Indifference"/>
              </a:rPr>
              <a:t>+62851-8288-0966</a:t>
            </a:r>
          </a:p>
        </p:txBody>
      </p:sp>
      <p:sp>
        <p:nvSpPr>
          <p:cNvPr id="18" name="TextBox 18"/>
          <p:cNvSpPr txBox="1"/>
          <p:nvPr/>
        </p:nvSpPr>
        <p:spPr>
          <a:xfrm>
            <a:off x="10585973" y="8285934"/>
            <a:ext cx="5306180" cy="314189"/>
          </a:xfrm>
          <a:prstGeom prst="rect">
            <a:avLst/>
          </a:prstGeom>
        </p:spPr>
        <p:txBody>
          <a:bodyPr lIns="0" tIns="0" rIns="0" bIns="0" rtlCol="0" anchor="t">
            <a:spAutoFit/>
          </a:bodyPr>
          <a:lstStyle/>
          <a:p>
            <a:pPr algn="r">
              <a:lnSpc>
                <a:spcPts val="2600"/>
              </a:lnSpc>
            </a:pPr>
            <a:r>
              <a:rPr lang="en-US" sz="2000" dirty="0">
                <a:solidFill>
                  <a:srgbClr val="253439"/>
                </a:solidFill>
                <a:latin typeface="Glacial Indifference"/>
                <a:ea typeface="Glacial Indifference"/>
                <a:cs typeface="Glacial Indifference"/>
                <a:sym typeface="Glacial Indifference"/>
              </a:rPr>
              <a:t>Pedes, </a:t>
            </a:r>
            <a:r>
              <a:rPr lang="en-US" sz="2000" dirty="0" err="1">
                <a:solidFill>
                  <a:srgbClr val="253439"/>
                </a:solidFill>
                <a:latin typeface="Glacial Indifference"/>
                <a:ea typeface="Glacial Indifference"/>
                <a:cs typeface="Glacial Indifference"/>
                <a:sym typeface="Glacial Indifference"/>
              </a:rPr>
              <a:t>Karawang</a:t>
            </a:r>
            <a:r>
              <a:rPr lang="en-US" sz="2000" dirty="0">
                <a:solidFill>
                  <a:srgbClr val="253439"/>
                </a:solidFill>
                <a:latin typeface="Glacial Indifference"/>
                <a:ea typeface="Glacial Indifference"/>
                <a:cs typeface="Glacial Indifference"/>
                <a:sym typeface="Glacial Indifference"/>
              </a:rPr>
              <a:t>, </a:t>
            </a:r>
            <a:r>
              <a:rPr lang="en-US" sz="2000" dirty="0" err="1">
                <a:solidFill>
                  <a:srgbClr val="253439"/>
                </a:solidFill>
                <a:latin typeface="Glacial Indifference"/>
                <a:ea typeface="Glacial Indifference"/>
                <a:cs typeface="Glacial Indifference"/>
                <a:sym typeface="Glacial Indifference"/>
              </a:rPr>
              <a:t>Jawa</a:t>
            </a:r>
            <a:r>
              <a:rPr lang="en-US" sz="2000" dirty="0">
                <a:solidFill>
                  <a:srgbClr val="253439"/>
                </a:solidFill>
                <a:latin typeface="Glacial Indifference"/>
                <a:ea typeface="Glacial Indifference"/>
                <a:cs typeface="Glacial Indifference"/>
                <a:sym typeface="Glacial Indifference"/>
              </a:rPr>
              <a:t> Barat</a:t>
            </a:r>
          </a:p>
        </p:txBody>
      </p:sp>
      <p:pic>
        <p:nvPicPr>
          <p:cNvPr id="20" name="Picture 19">
            <a:extLst>
              <a:ext uri="{FF2B5EF4-FFF2-40B4-BE49-F238E27FC236}">
                <a16:creationId xmlns:a16="http://schemas.microsoft.com/office/drawing/2014/main" id="{785A7EDC-1C8F-4CDD-A7CE-14DCCE119F88}"/>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6082798" y="5745704"/>
            <a:ext cx="630368" cy="630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1489</TotalTime>
  <Words>1521</Words>
  <Application>Microsoft Office PowerPoint</Application>
  <PresentationFormat>Custom</PresentationFormat>
  <Paragraphs>130</Paragraphs>
  <Slides>18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Glacial Indifference</vt:lpstr>
      <vt:lpstr>Arial</vt:lpstr>
      <vt:lpstr>Aileron Bold</vt:lpstr>
      <vt:lpstr>HK Grotesk</vt:lpstr>
      <vt:lpstr>Calibri</vt:lpstr>
      <vt:lpstr>Glacial Indifference Bold</vt:lpstr>
      <vt:lpstr>Wingdings</vt:lpstr>
      <vt:lpstr>HK Grotesk Light</vt:lpstr>
      <vt:lpstr>Aileron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Excel</dc:title>
  <dc:creator>yandi adi saputra</dc:creator>
  <cp:lastModifiedBy>yandi adi saputra</cp:lastModifiedBy>
  <cp:revision>54</cp:revision>
  <dcterms:created xsi:type="dcterms:W3CDTF">2006-08-16T00:00:00Z</dcterms:created>
  <dcterms:modified xsi:type="dcterms:W3CDTF">2025-01-13T03:30:04Z</dcterms:modified>
  <dc:identifier>DAGb4xbEnMQ</dc:identifier>
</cp:coreProperties>
</file>